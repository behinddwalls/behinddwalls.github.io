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5143500" cx="9144000"/>
  <p:notesSz cx="6858000" cy="9144000"/>
  <p:embeddedFontLst>
    <p:embeddedFont>
      <p:font typeface="Barlow ExtraLight"/>
      <p:regular r:id="rId72"/>
      <p:bold r:id="rId73"/>
      <p:italic r:id="rId74"/>
      <p:boldItalic r:id="rId75"/>
    </p:embeddedFont>
    <p:embeddedFont>
      <p:font typeface="Hepta Slab Medium"/>
      <p:regular r:id="rId76"/>
      <p:bold r:id="rId77"/>
    </p:embeddedFont>
    <p:embeddedFont>
      <p:font typeface="Inter"/>
      <p:bold r:id="rId78"/>
      <p:boldItalic r:id="rId79"/>
    </p:embeddedFont>
    <p:embeddedFont>
      <p:font typeface="Barlow SemiBold"/>
      <p:regular r:id="rId80"/>
      <p:bold r:id="rId81"/>
      <p:italic r:id="rId82"/>
      <p:boldItalic r:id="rId83"/>
    </p:embeddedFont>
    <p:embeddedFont>
      <p:font typeface="Barlow"/>
      <p:regular r:id="rId84"/>
      <p:bold r:id="rId85"/>
      <p:italic r:id="rId86"/>
      <p:boldItalic r:id="rId87"/>
    </p:embeddedFont>
    <p:embeddedFont>
      <p:font typeface="Inter SemiBold"/>
      <p:regular r:id="rId88"/>
      <p:bold r:id="rId89"/>
      <p:italic r:id="rId90"/>
      <p:boldItalic r:id="rId91"/>
    </p:embeddedFont>
    <p:embeddedFont>
      <p:font typeface="Hepta Slab Light"/>
      <p:regular r:id="rId92"/>
      <p:bold r:id="rId93"/>
    </p:embeddedFont>
    <p:embeddedFont>
      <p:font typeface="Hepta Slab"/>
      <p:regular r:id="rId94"/>
      <p:bold r:id="rId95"/>
    </p:embeddedFont>
    <p:embeddedFont>
      <p:font typeface="Inter ExtraBold"/>
      <p:bold r:id="rId96"/>
      <p:boldItalic r:id="rId97"/>
    </p:embeddedFont>
    <p:embeddedFont>
      <p:font typeface="Barlow Medium"/>
      <p:regular r:id="rId98"/>
      <p:bold r:id="rId99"/>
      <p:italic r:id="rId100"/>
      <p:boldItalic r:id="rId101"/>
    </p:embeddedFont>
    <p:embeddedFont>
      <p:font typeface="Barlow Light"/>
      <p:regular r:id="rId102"/>
      <p:bold r:id="rId103"/>
      <p:italic r:id="rId104"/>
      <p:boldItalic r:id="rId105"/>
    </p:embeddedFont>
    <p:embeddedFont>
      <p:font typeface="Inter Medium"/>
      <p:regular r:id="rId106"/>
      <p:bold r:id="rId107"/>
      <p:italic r:id="rId108"/>
      <p:boldItalic r:id="rId109"/>
    </p:embeddedFont>
    <p:embeddedFont>
      <p:font typeface="Open Sans"/>
      <p:regular r:id="rId110"/>
      <p:bold r:id="rId111"/>
      <p:italic r:id="rId112"/>
      <p:boldItalic r:id="rId1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InterMedium-bold.fntdata"/><Relationship Id="rId106" Type="http://schemas.openxmlformats.org/officeDocument/2006/relationships/font" Target="fonts/InterMedium-regular.fntdata"/><Relationship Id="rId105" Type="http://schemas.openxmlformats.org/officeDocument/2006/relationships/font" Target="fonts/BarlowLight-boldItalic.fntdata"/><Relationship Id="rId104" Type="http://schemas.openxmlformats.org/officeDocument/2006/relationships/font" Target="fonts/BarlowLight-italic.fntdata"/><Relationship Id="rId109" Type="http://schemas.openxmlformats.org/officeDocument/2006/relationships/font" Target="fonts/InterMedium-boldItalic.fntdata"/><Relationship Id="rId108" Type="http://schemas.openxmlformats.org/officeDocument/2006/relationships/font" Target="fonts/InterMedium-italic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BarlowLight-bold.fntdata"/><Relationship Id="rId102" Type="http://schemas.openxmlformats.org/officeDocument/2006/relationships/font" Target="fonts/BarlowLight-regular.fntdata"/><Relationship Id="rId101" Type="http://schemas.openxmlformats.org/officeDocument/2006/relationships/font" Target="fonts/BarlowMedium-boldItalic.fntdata"/><Relationship Id="rId100" Type="http://schemas.openxmlformats.org/officeDocument/2006/relationships/font" Target="fonts/BarlowMedium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HeptaSlab-bold.fntdata"/><Relationship Id="rId94" Type="http://schemas.openxmlformats.org/officeDocument/2006/relationships/font" Target="fonts/HeptaSlab-regular.fntdata"/><Relationship Id="rId97" Type="http://schemas.openxmlformats.org/officeDocument/2006/relationships/font" Target="fonts/InterExtraBold-boldItalic.fntdata"/><Relationship Id="rId96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99" Type="http://schemas.openxmlformats.org/officeDocument/2006/relationships/font" Target="fonts/BarlowMedium-bold.fntdata"/><Relationship Id="rId10" Type="http://schemas.openxmlformats.org/officeDocument/2006/relationships/slide" Target="slides/slide5.xml"/><Relationship Id="rId98" Type="http://schemas.openxmlformats.org/officeDocument/2006/relationships/font" Target="fonts/BarlowMedium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InterSemiBold-boldItalic.fntdata"/><Relationship Id="rId90" Type="http://schemas.openxmlformats.org/officeDocument/2006/relationships/font" Target="fonts/InterSemiBold-italic.fntdata"/><Relationship Id="rId93" Type="http://schemas.openxmlformats.org/officeDocument/2006/relationships/font" Target="fonts/HeptaSlabLight-bold.fntdata"/><Relationship Id="rId92" Type="http://schemas.openxmlformats.org/officeDocument/2006/relationships/font" Target="fonts/HeptaSlabLight-regular.fntdata"/><Relationship Id="rId15" Type="http://schemas.openxmlformats.org/officeDocument/2006/relationships/slide" Target="slides/slide10.xml"/><Relationship Id="rId110" Type="http://schemas.openxmlformats.org/officeDocument/2006/relationships/font" Target="fonts/OpenSans-regular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13" Type="http://schemas.openxmlformats.org/officeDocument/2006/relationships/font" Target="fonts/OpenSans-boldItalic.fntdata"/><Relationship Id="rId112" Type="http://schemas.openxmlformats.org/officeDocument/2006/relationships/font" Target="fonts/OpenSans-italic.fntdata"/><Relationship Id="rId111" Type="http://schemas.openxmlformats.org/officeDocument/2006/relationships/font" Target="fonts/OpenSans-bold.fntdata"/><Relationship Id="rId84" Type="http://schemas.openxmlformats.org/officeDocument/2006/relationships/font" Target="fonts/Barlow-regular.fntdata"/><Relationship Id="rId83" Type="http://schemas.openxmlformats.org/officeDocument/2006/relationships/font" Target="fonts/BarlowSemiBold-boldItalic.fntdata"/><Relationship Id="rId86" Type="http://schemas.openxmlformats.org/officeDocument/2006/relationships/font" Target="fonts/Barlow-italic.fntdata"/><Relationship Id="rId85" Type="http://schemas.openxmlformats.org/officeDocument/2006/relationships/font" Target="fonts/Barlow-bold.fntdata"/><Relationship Id="rId88" Type="http://schemas.openxmlformats.org/officeDocument/2006/relationships/font" Target="fonts/InterSemiBold-regular.fntdata"/><Relationship Id="rId87" Type="http://schemas.openxmlformats.org/officeDocument/2006/relationships/font" Target="fonts/Barlow-boldItalic.fntdata"/><Relationship Id="rId89" Type="http://schemas.openxmlformats.org/officeDocument/2006/relationships/font" Target="fonts/InterSemiBold-bold.fntdata"/><Relationship Id="rId80" Type="http://schemas.openxmlformats.org/officeDocument/2006/relationships/font" Target="fonts/BarlowSemiBold-regular.fntdata"/><Relationship Id="rId82" Type="http://schemas.openxmlformats.org/officeDocument/2006/relationships/font" Target="fonts/BarlowSemiBold-italic.fntdata"/><Relationship Id="rId81" Type="http://schemas.openxmlformats.org/officeDocument/2006/relationships/font" Target="fonts/Barlow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BarlowExtraLight-bold.fntdata"/><Relationship Id="rId72" Type="http://schemas.openxmlformats.org/officeDocument/2006/relationships/font" Target="fonts/BarlowExtraLight-regular.fntdata"/><Relationship Id="rId75" Type="http://schemas.openxmlformats.org/officeDocument/2006/relationships/font" Target="fonts/BarlowExtraLight-boldItalic.fntdata"/><Relationship Id="rId74" Type="http://schemas.openxmlformats.org/officeDocument/2006/relationships/font" Target="fonts/BarlowExtraLight-italic.fntdata"/><Relationship Id="rId77" Type="http://schemas.openxmlformats.org/officeDocument/2006/relationships/font" Target="fonts/HeptaSlabMedium-bold.fntdata"/><Relationship Id="rId76" Type="http://schemas.openxmlformats.org/officeDocument/2006/relationships/font" Target="fonts/HeptaSlabMedium-regular.fntdata"/><Relationship Id="rId79" Type="http://schemas.openxmlformats.org/officeDocument/2006/relationships/font" Target="fonts/Inter-boldItalic.fntdata"/><Relationship Id="rId78" Type="http://schemas.openxmlformats.org/officeDocument/2006/relationships/font" Target="fonts/Inter-bold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6de2da22a851c2c7_0_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7cb0363901c5c0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7cb0363901c5c0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28eb7713e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28eb7713e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this talk,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go over </a:t>
            </a:r>
            <a:r>
              <a:rPr lang="en"/>
              <a:t>problem</a:t>
            </a:r>
            <a:r>
              <a:rPr lang="en"/>
              <a:t>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the approach,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 into the core concepts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the system architecture, evolution of the system and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then we discuss limitations and future plans for the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lets get started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1490ee5a1_0_6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1490ee5a1_0_6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talk about Monorepos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many of you are familiar with Monorepo concept?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of you have worked with Monorepos?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c52514b3d_1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c52514b3d_1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2 ways to organize your code, 1) single repo aka monorepo, 2) 100s/1000s of repos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companies who practice Monorepos like Google, Meta, Uber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there are other companies who pratcice polyrepo like Amazon, Netflix, LinkedIn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tradeoffs,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Monorepo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Atomic cross-service changes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Easy large-scale refactoring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Single version of dependencies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reuse libs/utilities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Requires heavy tooling (Source control (VCS) like git, Build systems like Bazel, Buck.)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Builds can be slow unless optimized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Harder to enforce access control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Polyrepo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Free to choose any build system/lang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Simpler tooling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Faster builds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Clear ownership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Fine </a:t>
            </a:r>
            <a:r>
              <a:rPr lang="en">
                <a:solidFill>
                  <a:schemeClr val="dk1"/>
                </a:solidFill>
              </a:rPr>
              <a:t>grained</a:t>
            </a:r>
            <a:r>
              <a:rPr lang="en">
                <a:solidFill>
                  <a:schemeClr val="dk1"/>
                </a:solidFill>
              </a:rPr>
              <a:t> permissions on read and write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Dependency conflicts ( i had my own fair share of those when i was at Amazon)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cross-service changes can be difficult like lib upgrades (who all rember log4j injection?)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Code duplication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Inconsistent standards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409e892de77_1_2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409e892de77_1_2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Uber, we primarily practice monorepos and we have 6 lang based monorepos where more than 5k+ people contribute, generating 36K+ commit a week, spanning across 27k+ PR and total codebase container over 400M lines of code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28eb7713e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28eb7713e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lets understand the problem, Builds that are successful during PR, may or may not be successful when merged on mainline.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lets understand this with an example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c52514b3d_1_2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c52514b3d_1_2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28eb7713e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c28eb7713e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Callout: Land is synonymous with merge, we will those term interchangeably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8fc9039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d8fc9039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Callout: Land is synonymous with merge, we will those term interchangeably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How many of you here have experienced the broken mainline in a small team/repository set-up?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ec2f6331e_1_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28eb7713e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c28eb7713e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28eb7713e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c28eb7713e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SubmitQueue is a merge queue which predicts future state for a request against mainline in relation to other changes, builds those states, and then merges them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1386e88ed_1_177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1386e88ed_1_16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d1386e88ed_1_16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we’re about to discuss happens inside the speculate → build → decide loop.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1386e88ed_1_188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28eb7713e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c28eb7713e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28eb7713e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c28eb7713e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d8fc9039d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d8fc9039d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c28eb7713e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c28eb7713e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d8fc9039d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d8fc9039d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d8fc9039d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d8fc9039d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d8fc9039d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d8fc9039d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d6cba02daa_24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d6cba02daa_24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d1490ee5a1_0_10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28eb7713e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c28eb7713e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d8fc9039d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d8fc9039d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d1386e88ed_1_212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d1386e88ed_1_87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Build Target? -&gt; </a:t>
            </a:r>
            <a:r>
              <a:rPr lang="en"/>
              <a:t>A build target is unit of code, along with its dependencies required to build and test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bca7cc3d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bca7cc3d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bca7cc3dc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bca7cc3dc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 over to Manjari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h6de2da22a851c2c7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h6de2da22a851c2c7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bca7cc3dc3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bca7cc3dc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help us with this prioritization - we construct an annotated version of the speculation trees we looked at earlier.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values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Success</a:t>
            </a:r>
            <a:r>
              <a:rPr lang="en"/>
              <a:t>, Failure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Property</a:t>
            </a:r>
            <a:r>
              <a:rPr lang="en"/>
              <a:t> of a change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Depends</a:t>
            </a:r>
            <a:r>
              <a:rPr lang="en"/>
              <a:t> on individual characteristics of a change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Quantifies</a:t>
            </a:r>
            <a:r>
              <a:rPr lang="en"/>
              <a:t> how likely a change is to succeed or fail to merge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- the annotation we add to the speculation tree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Property</a:t>
            </a:r>
            <a:r>
              <a:rPr lang="en"/>
              <a:t> of a build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Depends </a:t>
            </a:r>
            <a:r>
              <a:rPr lang="en"/>
              <a:t>on</a:t>
            </a:r>
            <a:r>
              <a:rPr lang="en"/>
              <a:t> using the success and failure scores of the speculated changes in a build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Quantifies</a:t>
            </a:r>
            <a:r>
              <a:rPr lang="en"/>
              <a:t> how important it is that we speculate on THIS future - a measure of how likely THIS future is going to be the reality.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values are in the range [0,1]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this in mind lets build the annotated speculation tree for the example we saw earlier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the assumption all changes conflict with each other.</a:t>
            </a:r>
            <a:br>
              <a:rPr lang="en"/>
            </a:br>
            <a:br>
              <a:rPr lang="en"/>
            </a:br>
            <a:r>
              <a:rPr lang="en"/>
              <a:t>Root has no assumptions - Importance is 1.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bca7cc3dc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3bca7cc3dc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is determined by the success/failure scores of changes in the assumption of a build. More specifically the product of success/failure scores in the assumption path of that build.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I(B2) is … I(B12) is …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e61838bb4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e61838bb4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bca7cc3dc3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3bca7cc3dc3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e61838bb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e61838bb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e61838bb4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e61838bb4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e61838bb4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e61838bb4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d8fc9039d6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3d8fc9039d6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Let’s add some numbers and score the last level to help us understand how these values get used in prioritization and scheduling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bca7cc3dc3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3bca7cc3dc3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bca7cc3dc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3bca7cc3dc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importance </a:t>
            </a:r>
            <a:r>
              <a:rPr lang="en"/>
              <a:t>scores</a:t>
            </a:r>
            <a:r>
              <a:rPr lang="en"/>
              <a:t> - now let’s look at how we use them.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d710469c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3d710469c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bca7cc3dc3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3bca7cc3dc3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d710469c3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3d710469c3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d710469c3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3d710469c3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d710469c3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d710469c3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3bca7cc3dc3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3bca7cc3dc3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d710469c3d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d710469c3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d710469c3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3d710469c3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3d710469c3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3d710469c3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3d6cba02daa_24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3d6cba02daa_2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3d8fc9039d6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3d8fc9039d6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3d6cba02daa_24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3d6cba02daa_24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3d710469c3d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7" name="Google Shape;1767;g3d710469c3d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3d1490ee5a1_0_59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optimization is geared towards increasing throughput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philosophy - Allow changes that build faster to merge out of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key observation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Smaller changes touch smaller build targets and </a:t>
            </a:r>
            <a:r>
              <a:rPr lang="en"/>
              <a:t>typically</a:t>
            </a:r>
            <a:r>
              <a:rPr lang="en"/>
              <a:t> have faster builds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Coversely - larger changes touch more build targets and typically have slower builds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optimization provides a way to depart from strict FIFO … while keeping safety </a:t>
            </a:r>
            <a:r>
              <a:rPr lang="en"/>
              <a:t>protocols</a:t>
            </a:r>
            <a:r>
              <a:rPr lang="en"/>
              <a:t> in place.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3bca7cc3dc3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3bca7cc3dc3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time predictions for changes are at the heart of this optimization.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some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how?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possible if all possible futures of a change agree.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3bca7cc3dc3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3bca7cc3dc3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Caveat: More change - depth grows - all nodes in a level must agree - diminishing returns as depth increases.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Handover to Preetam - architecture, past and future of SQ at Uber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3d1386e88ed_1_16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3d1386e88ed_1_16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3fbbc3afe62_0_10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409e892de77_1_24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fbbc3afe62_0_7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409e892de77_1_20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3fbbc3afe62_0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3fbbc3afe62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409e892de77_1_38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3bca7cc3dc3_0_2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3bca7cc3dc3_0_2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 - Black">
  <p:cSld name="TITLE_1_1_2_1_3_1_2_1_1_1_1_1_1_1_1_1">
    <p:bg>
      <p:bgPr>
        <a:solidFill>
          <a:srgbClr val="000000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24">
          <p15:clr>
            <a:srgbClr val="00FFFF"/>
          </p15:clr>
        </p15:guide>
        <p15:guide id="2" pos="599">
          <p15:clr>
            <a:srgbClr val="999999"/>
          </p15:clr>
        </p15:guide>
        <p15:guide id="3" pos="672">
          <p15:clr>
            <a:srgbClr val="999999"/>
          </p15:clr>
        </p15:guide>
        <p15:guide id="4" pos="1049">
          <p15:clr>
            <a:srgbClr val="999999"/>
          </p15:clr>
        </p15:guide>
        <p15:guide id="5" pos="1123">
          <p15:clr>
            <a:srgbClr val="999999"/>
          </p15:clr>
        </p15:guide>
        <p15:guide id="6" pos="1496">
          <p15:clr>
            <a:srgbClr val="999999"/>
          </p15:clr>
        </p15:guide>
        <p15:guide id="7" pos="1571">
          <p15:clr>
            <a:srgbClr val="999999"/>
          </p15:clr>
        </p15:guide>
        <p15:guide id="8" pos="1947">
          <p15:clr>
            <a:srgbClr val="999999"/>
          </p15:clr>
        </p15:guide>
        <p15:guide id="9" pos="2018">
          <p15:clr>
            <a:srgbClr val="999999"/>
          </p15:clr>
        </p15:guide>
        <p15:guide id="10" pos="2395">
          <p15:clr>
            <a:srgbClr val="999999"/>
          </p15:clr>
        </p15:guide>
        <p15:guide id="11" pos="2471">
          <p15:clr>
            <a:srgbClr val="999999"/>
          </p15:clr>
        </p15:guide>
        <p15:guide id="12" pos="3742">
          <p15:clr>
            <a:srgbClr val="999999"/>
          </p15:clr>
        </p15:guide>
        <p15:guide id="13" pos="3819">
          <p15:clr>
            <a:srgbClr val="999999"/>
          </p15:clr>
        </p15:guide>
        <p15:guide id="14" pos="4189">
          <p15:clr>
            <a:srgbClr val="999999"/>
          </p15:clr>
        </p15:guide>
        <p15:guide id="15" pos="4264">
          <p15:clr>
            <a:srgbClr val="999999"/>
          </p15:clr>
        </p15:guide>
        <p15:guide id="16" pos="5088">
          <p15:clr>
            <a:srgbClr val="999999"/>
          </p15:clr>
        </p15:guide>
        <p15:guide id="17" pos="5166">
          <p15:clr>
            <a:srgbClr val="999999"/>
          </p15:clr>
        </p15:guide>
        <p15:guide id="18" pos="5537">
          <p15:clr>
            <a:srgbClr val="00FFFF"/>
          </p15:clr>
        </p15:guide>
        <p15:guide id="19" orient="horz" pos="227">
          <p15:clr>
            <a:srgbClr val="00FFFF"/>
          </p15:clr>
        </p15:guide>
        <p15:guide id="20" orient="horz" pos="3013">
          <p15:clr>
            <a:srgbClr val="00FFFF"/>
          </p15:clr>
        </p15:guide>
        <p15:guide id="21" orient="horz" pos="1620">
          <p15:clr>
            <a:srgbClr val="FA7B17"/>
          </p15:clr>
        </p15:guide>
        <p15:guide id="22" pos="2846">
          <p15:clr>
            <a:srgbClr val="999999"/>
          </p15:clr>
        </p15:guide>
        <p15:guide id="23" pos="2919">
          <p15:clr>
            <a:srgbClr val="999999"/>
          </p15:clr>
        </p15:guide>
        <p15:guide id="24" pos="3296">
          <p15:clr>
            <a:srgbClr val="999999"/>
          </p15:clr>
        </p15:guide>
        <p15:guide id="25" pos="3369">
          <p15:clr>
            <a:srgbClr val="999999"/>
          </p15:clr>
        </p15:guide>
        <p15:guide id="26" pos="4715">
          <p15:clr>
            <a:srgbClr val="999999"/>
          </p15:clr>
        </p15:guide>
        <p15:guide id="27" pos="4644">
          <p15:clr>
            <a:srgbClr val="999999"/>
          </p15:clr>
        </p15:guide>
        <p15:guide id="28" orient="horz" pos="1090">
          <p15:clr>
            <a:srgbClr val="0E1FC1"/>
          </p15:clr>
        </p15:guide>
        <p15:guide id="29" orient="horz" pos="1349">
          <p15:clr>
            <a:srgbClr val="0E1FC1"/>
          </p15:clr>
        </p15:guide>
        <p15:guide id="30" orient="horz" pos="1466">
          <p15:clr>
            <a:srgbClr val="0E1FC1"/>
          </p15:clr>
        </p15:guide>
        <p15:guide id="31" orient="horz" pos="1724">
          <p15:clr>
            <a:srgbClr val="0E1FC1"/>
          </p15:clr>
        </p15:guide>
        <p15:guide id="32" orient="horz" pos="1842">
          <p15:clr>
            <a:srgbClr val="0E1FC1"/>
          </p15:clr>
        </p15:guide>
        <p15:guide id="33" orient="horz" pos="2099">
          <p15:clr>
            <a:srgbClr val="0E1FC1"/>
          </p15:clr>
        </p15:guide>
        <p15:guide id="34" pos="2880">
          <p15:clr>
            <a:srgbClr val="FA7B17"/>
          </p15:clr>
        </p15:guide>
        <p15:guide id="35" orient="horz" pos="345">
          <p15:clr>
            <a:srgbClr val="0E1FC1"/>
          </p15:clr>
        </p15:guide>
        <p15:guide id="36" orient="horz" pos="443">
          <p15:clr>
            <a:srgbClr val="0E1FC1"/>
          </p15:clr>
        </p15:guide>
        <p15:guide id="37" orient="horz" pos="518">
          <p15:clr>
            <a:srgbClr val="0E1FC1"/>
          </p15:clr>
        </p15:guide>
        <p15:guide id="38" orient="horz" pos="617">
          <p15:clr>
            <a:srgbClr val="0E1FC1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20.jpg"/><Relationship Id="rId5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7.png"/><Relationship Id="rId4" Type="http://schemas.openxmlformats.org/officeDocument/2006/relationships/image" Target="../media/image47.png"/><Relationship Id="rId5" Type="http://schemas.openxmlformats.org/officeDocument/2006/relationships/image" Target="../media/image17.png"/><Relationship Id="rId6" Type="http://schemas.openxmlformats.org/officeDocument/2006/relationships/image" Target="../media/image45.png"/><Relationship Id="rId7" Type="http://schemas.openxmlformats.org/officeDocument/2006/relationships/image" Target="../media/image2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5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0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.png"/><Relationship Id="rId4" Type="http://schemas.openxmlformats.org/officeDocument/2006/relationships/image" Target="../media/image44.png"/><Relationship Id="rId5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" y="1323975"/>
            <a:ext cx="962100" cy="2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0" y="3429000"/>
            <a:ext cx="962100" cy="2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9"/>
          <p:cNvSpPr txBox="1"/>
          <p:nvPr/>
        </p:nvSpPr>
        <p:spPr>
          <a:xfrm>
            <a:off x="571500" y="142875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Merging at Scale</a:t>
            </a:r>
            <a:endParaRPr sz="5400">
              <a:solidFill>
                <a:srgbClr val="FFFFFF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33" name="Google Shape;333;p49"/>
          <p:cNvSpPr txBox="1"/>
          <p:nvPr/>
        </p:nvSpPr>
        <p:spPr>
          <a:xfrm>
            <a:off x="571500" y="2571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From </a:t>
            </a:r>
            <a:r>
              <a:rPr b="0" lang="en" sz="2400">
                <a:solidFill>
                  <a:srgbClr val="FF4D4D"/>
                </a:solidFill>
                <a:latin typeface="Hepta Slab"/>
                <a:ea typeface="Hepta Slab"/>
                <a:cs typeface="Hepta Slab"/>
                <a:sym typeface="Hepta Slab"/>
              </a:rPr>
              <a:t>Broken</a:t>
            </a:r>
            <a:r>
              <a:rPr b="0" lang="en" sz="2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 Builds to </a:t>
            </a:r>
            <a:r>
              <a:rPr b="0" lang="en" sz="2400">
                <a:solidFill>
                  <a:srgbClr val="00FF85"/>
                </a:solidFill>
                <a:latin typeface="Hepta Slab"/>
                <a:ea typeface="Hepta Slab"/>
                <a:cs typeface="Hepta Slab"/>
                <a:sym typeface="Hepta Slab"/>
              </a:rPr>
              <a:t>Green</a:t>
            </a:r>
            <a:r>
              <a:rPr b="0" lang="en" sz="2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 Mainline</a:t>
            </a:r>
            <a:endParaRPr b="0" sz="2400">
              <a:solidFill>
                <a:srgbClr val="FFFFFF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34" name="Google Shape;334;p49"/>
          <p:cNvSpPr/>
          <p:nvPr/>
        </p:nvSpPr>
        <p:spPr>
          <a:xfrm>
            <a:off x="4095750" y="3341175"/>
            <a:ext cx="952500" cy="19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9"/>
          <p:cNvSpPr txBox="1"/>
          <p:nvPr/>
        </p:nvSpPr>
        <p:spPr>
          <a:xfrm>
            <a:off x="571500" y="3739801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CCCCCC"/>
                </a:solidFill>
                <a:latin typeface="Hepta Slab"/>
                <a:ea typeface="Hepta Slab"/>
                <a:cs typeface="Hepta Slab"/>
                <a:sym typeface="Hepta Slab"/>
              </a:rPr>
              <a:t>Preetam Dwivedi</a:t>
            </a:r>
            <a:endParaRPr b="0" sz="1600">
              <a:solidFill>
                <a:srgbClr val="CCCCCC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CCCCCC"/>
                </a:solidFill>
                <a:latin typeface="Hepta Slab"/>
                <a:ea typeface="Hepta Slab"/>
                <a:cs typeface="Hepta Slab"/>
                <a:sym typeface="Hepta Slab"/>
              </a:rPr>
              <a:t>Manjari Akella</a:t>
            </a:r>
            <a:endParaRPr b="0" sz="1600">
              <a:solidFill>
                <a:srgbClr val="CCCCCC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pic>
        <p:nvPicPr>
          <p:cNvPr id="336" name="Google Shape;33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2600" y="11862"/>
            <a:ext cx="2138798" cy="128310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/>
          <p:nvPr/>
        </p:nvSpPr>
        <p:spPr>
          <a:xfrm>
            <a:off x="4095750" y="1152250"/>
            <a:ext cx="952500" cy="19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About Us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43" name="Google Shape;343;p50"/>
          <p:cNvSpPr txBox="1"/>
          <p:nvPr/>
        </p:nvSpPr>
        <p:spPr>
          <a:xfrm>
            <a:off x="2386232" y="2960262"/>
            <a:ext cx="214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Preetam Dwivedi</a:t>
            </a:r>
            <a:r>
              <a:rPr b="1" i="0" lang="en" sz="13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b="0" i="0" lang="en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Staff Engineer, 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Developer Platform,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Uber</a:t>
            </a:r>
            <a:endParaRPr b="0" i="0" sz="1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4" name="Google Shape;344;p50" title="profile-pic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462" y="1348054"/>
            <a:ext cx="1493374" cy="149337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0"/>
          <p:cNvSpPr txBox="1"/>
          <p:nvPr/>
        </p:nvSpPr>
        <p:spPr>
          <a:xfrm>
            <a:off x="4609782" y="2938062"/>
            <a:ext cx="214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Manjari Akella</a:t>
            </a:r>
            <a:br>
              <a:rPr b="0" i="0" lang="en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Sr. Engineer,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Developer Platform,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Uber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6" name="Google Shape;346;p50" title="higher_res_pi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550" y="1348050"/>
            <a:ext cx="1569574" cy="157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/>
        </p:nvSpPr>
        <p:spPr>
          <a:xfrm>
            <a:off x="551850" y="979375"/>
            <a:ext cx="51528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Problem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Approach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Core Concepts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Architecture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Evolution &amp; </a:t>
            </a: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Results 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Limitations &amp; Future Plan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53" name="Google Shape;35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Outline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2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Monorepos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60" name="Google Shape;360;p52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One Codebase, Many Tradeoffs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61" name="Google Shape;36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One or Many?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68" name="Google Shape;368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762" y="16687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387" y="16687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012" y="16687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762" y="229738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387" y="229738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012" y="229738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2863" y="1643975"/>
            <a:ext cx="1855525" cy="18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762" y="29260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387" y="29260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012" y="2926038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3"/>
          <p:cNvSpPr txBox="1"/>
          <p:nvPr/>
        </p:nvSpPr>
        <p:spPr>
          <a:xfrm>
            <a:off x="3945450" y="2381250"/>
            <a:ext cx="86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OR</a:t>
            </a:r>
            <a:endParaRPr sz="119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79" name="Google Shape;379;p53"/>
          <p:cNvSpPr txBox="1"/>
          <p:nvPr/>
        </p:nvSpPr>
        <p:spPr>
          <a:xfrm>
            <a:off x="1567625" y="37950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Monor</a:t>
            </a: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epo</a:t>
            </a:r>
            <a:endParaRPr b="1" sz="24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80" name="Google Shape;380;p53"/>
          <p:cNvSpPr txBox="1"/>
          <p:nvPr/>
        </p:nvSpPr>
        <p:spPr>
          <a:xfrm>
            <a:off x="5172725" y="37950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Poly </a:t>
            </a: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Repo</a:t>
            </a:r>
            <a:endParaRPr b="1" sz="24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4"/>
          <p:cNvSpPr txBox="1"/>
          <p:nvPr/>
        </p:nvSpPr>
        <p:spPr>
          <a:xfrm>
            <a:off x="551850" y="116775"/>
            <a:ext cx="765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Monorepos at Uber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87" name="Google Shape;387;p54"/>
          <p:cNvSpPr/>
          <p:nvPr/>
        </p:nvSpPr>
        <p:spPr>
          <a:xfrm>
            <a:off x="428625" y="857250"/>
            <a:ext cx="2667000" cy="3952800"/>
          </a:xfrm>
          <a:prstGeom prst="roundRect">
            <a:avLst>
              <a:gd fmla="val 5000" name="adj"/>
            </a:avLst>
          </a:prstGeom>
          <a:solidFill>
            <a:srgbClr val="09090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4"/>
          <p:cNvSpPr/>
          <p:nvPr/>
        </p:nvSpPr>
        <p:spPr>
          <a:xfrm>
            <a:off x="3286125" y="857250"/>
            <a:ext cx="5429400" cy="3952800"/>
          </a:xfrm>
          <a:prstGeom prst="roundRect">
            <a:avLst>
              <a:gd fmla="val 3373" name="adj"/>
            </a:avLst>
          </a:prstGeom>
          <a:solidFill>
            <a:srgbClr val="09090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4"/>
          <p:cNvSpPr txBox="1"/>
          <p:nvPr/>
        </p:nvSpPr>
        <p:spPr>
          <a:xfrm>
            <a:off x="619125" y="10287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DEVELOPMENT SCALE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54"/>
          <p:cNvSpPr txBox="1"/>
          <p:nvPr/>
        </p:nvSpPr>
        <p:spPr>
          <a:xfrm>
            <a:off x="619125" y="133350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5K+ </a:t>
            </a:r>
            <a:r>
              <a:rPr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Contributors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1" name="Google Shape;391;p54"/>
          <p:cNvSpPr txBox="1"/>
          <p:nvPr/>
        </p:nvSpPr>
        <p:spPr>
          <a:xfrm>
            <a:off x="619125" y="211455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36K+ </a:t>
            </a:r>
            <a:r>
              <a:rPr b="0"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Commits / Wk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2" name="Google Shape;392;p54"/>
          <p:cNvSpPr txBox="1"/>
          <p:nvPr/>
        </p:nvSpPr>
        <p:spPr>
          <a:xfrm>
            <a:off x="619125" y="289560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27K </a:t>
            </a:r>
            <a:r>
              <a:rPr b="0" i="0"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PRs / Wk</a:t>
            </a:r>
            <a:endParaRPr b="0" i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3" name="Google Shape;393;p54"/>
          <p:cNvSpPr txBox="1"/>
          <p:nvPr/>
        </p:nvSpPr>
        <p:spPr>
          <a:xfrm>
            <a:off x="619125" y="367665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440M+ </a:t>
            </a:r>
            <a:r>
              <a:rPr b="0"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Lines of Code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Google Shape;394;p54"/>
          <p:cNvSpPr txBox="1"/>
          <p:nvPr/>
        </p:nvSpPr>
        <p:spPr>
          <a:xfrm>
            <a:off x="3476625" y="1028700"/>
            <a:ext cx="504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MONOREPO STATS BY LANGUAGE</a:t>
            </a:r>
            <a:endParaRPr b="1" sz="900">
              <a:solidFill>
                <a:srgbClr val="34D3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54"/>
          <p:cNvSpPr txBox="1"/>
          <p:nvPr/>
        </p:nvSpPr>
        <p:spPr>
          <a:xfrm>
            <a:off x="3476625" y="133350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35 GB</a:t>
            </a:r>
            <a:endParaRPr b="1" i="0" sz="100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227M+ LOC</a:t>
            </a:r>
            <a:endParaRPr b="1" i="0" sz="95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22K commits/wk</a:t>
            </a:r>
            <a:endParaRPr b="1" i="0" sz="90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54"/>
          <p:cNvSpPr txBox="1"/>
          <p:nvPr/>
        </p:nvSpPr>
        <p:spPr>
          <a:xfrm>
            <a:off x="5200650" y="133350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Web</a:t>
            </a:r>
            <a:endParaRPr b="1" i="0" sz="100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18 GB</a:t>
            </a:r>
            <a:endParaRPr b="1" i="0" sz="100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81M LOC</a:t>
            </a:r>
            <a:endParaRPr b="1" i="0" sz="95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4K commits/wk</a:t>
            </a:r>
            <a:endParaRPr b="1" i="0" sz="90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54"/>
          <p:cNvSpPr txBox="1"/>
          <p:nvPr/>
        </p:nvSpPr>
        <p:spPr>
          <a:xfrm>
            <a:off x="6924675" y="133350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17 GB</a:t>
            </a:r>
            <a:endParaRPr b="1" i="0" sz="100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57M+ LOC</a:t>
            </a:r>
            <a:endParaRPr b="1" i="0" sz="95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3.4K commits/wk</a:t>
            </a:r>
            <a:endParaRPr b="1" i="0" sz="90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54"/>
          <p:cNvSpPr txBox="1"/>
          <p:nvPr/>
        </p:nvSpPr>
        <p:spPr>
          <a:xfrm>
            <a:off x="3476625" y="287655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 b="1" i="0" sz="100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11 GB</a:t>
            </a:r>
            <a:endParaRPr b="1" i="0" sz="100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40M LOC</a:t>
            </a:r>
            <a:endParaRPr b="1" i="0" sz="95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3.2K commits/wk</a:t>
            </a:r>
            <a:endParaRPr b="1" i="0" sz="90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54"/>
          <p:cNvSpPr txBox="1"/>
          <p:nvPr/>
        </p:nvSpPr>
        <p:spPr>
          <a:xfrm>
            <a:off x="5200650" y="287655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C4899"/>
                </a:solidFill>
                <a:latin typeface="Inter"/>
                <a:ea typeface="Inter"/>
                <a:cs typeface="Inter"/>
                <a:sym typeface="Inter"/>
              </a:rPr>
              <a:t>iOS</a:t>
            </a:r>
            <a:endParaRPr b="1" sz="1000">
              <a:solidFill>
                <a:srgbClr val="EC489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 GB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20M LOC</a:t>
            </a:r>
            <a:endParaRPr b="0" sz="950">
              <a:solidFill>
                <a:srgbClr val="E4E4E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1.2K commits/wk</a:t>
            </a:r>
            <a:endParaRPr b="0" sz="900">
              <a:solidFill>
                <a:srgbClr val="7171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54"/>
          <p:cNvSpPr txBox="1"/>
          <p:nvPr/>
        </p:nvSpPr>
        <p:spPr>
          <a:xfrm>
            <a:off x="6924675" y="287655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Android</a:t>
            </a:r>
            <a:endParaRPr b="1" sz="100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 GB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16M LOC</a:t>
            </a:r>
            <a:endParaRPr b="0" sz="950">
              <a:solidFill>
                <a:srgbClr val="E4E4E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1.8K commits/wk</a:t>
            </a:r>
            <a:endParaRPr b="0" sz="900">
              <a:solidFill>
                <a:srgbClr val="7171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1" name="Google Shape;401;p54"/>
          <p:cNvPicPr preferRelativeResize="0"/>
          <p:nvPr/>
        </p:nvPicPr>
        <p:blipFill rotWithShape="1">
          <a:blip r:embed="rId4">
            <a:alphaModFix/>
          </a:blip>
          <a:srcRect b="517" l="0" r="0" t="0"/>
          <a:stretch/>
        </p:blipFill>
        <p:spPr>
          <a:xfrm>
            <a:off x="3629025" y="1457325"/>
            <a:ext cx="419100" cy="3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050" y="1609725"/>
            <a:ext cx="209700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77075" y="1428750"/>
            <a:ext cx="438300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29025" y="3152775"/>
            <a:ext cx="209700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Problem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Statement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410" name="Google Shape;410;p55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Green PRs don’t guarantee a green mainline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411" name="Google Shape;41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Green Builds on Pull Requests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418" name="Google Shape;418;p56"/>
          <p:cNvCxnSpPr/>
          <p:nvPr/>
        </p:nvCxnSpPr>
        <p:spPr>
          <a:xfrm flipH="1" rot="10800000">
            <a:off x="1515505" y="1093175"/>
            <a:ext cx="18300" cy="364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19" name="Google Shape;419;p56"/>
          <p:cNvSpPr txBox="1"/>
          <p:nvPr/>
        </p:nvSpPr>
        <p:spPr>
          <a:xfrm>
            <a:off x="1557880" y="990650"/>
            <a:ext cx="9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mainline (trunk)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0" name="Google Shape;420;p56"/>
          <p:cNvSpPr/>
          <p:nvPr/>
        </p:nvSpPr>
        <p:spPr>
          <a:xfrm>
            <a:off x="1435105" y="4206650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1" name="Google Shape;421;p56"/>
          <p:cNvSpPr/>
          <p:nvPr/>
        </p:nvSpPr>
        <p:spPr>
          <a:xfrm>
            <a:off x="2433830" y="26489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2" name="Google Shape;422;p56"/>
          <p:cNvSpPr/>
          <p:nvPr/>
        </p:nvSpPr>
        <p:spPr>
          <a:xfrm>
            <a:off x="1932130" y="341232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23" name="Google Shape;423;p56"/>
          <p:cNvCxnSpPr>
            <a:stCxn id="420" idx="6"/>
            <a:endCxn id="421" idx="4"/>
          </p:cNvCxnSpPr>
          <p:nvPr/>
        </p:nvCxnSpPr>
        <p:spPr>
          <a:xfrm flipH="1" rot="10800000">
            <a:off x="1614205" y="2809250"/>
            <a:ext cx="909300" cy="14775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56"/>
          <p:cNvCxnSpPr>
            <a:stCxn id="420" idx="6"/>
            <a:endCxn id="422" idx="4"/>
          </p:cNvCxnSpPr>
          <p:nvPr/>
        </p:nvCxnSpPr>
        <p:spPr>
          <a:xfrm flipH="1" rot="10800000">
            <a:off x="1614205" y="3572450"/>
            <a:ext cx="407400" cy="7143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5" name="Google Shape;425;p56"/>
          <p:cNvSpPr txBox="1"/>
          <p:nvPr/>
        </p:nvSpPr>
        <p:spPr>
          <a:xfrm>
            <a:off x="1189780" y="407746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6" name="Google Shape;426;p56"/>
          <p:cNvSpPr txBox="1"/>
          <p:nvPr/>
        </p:nvSpPr>
        <p:spPr>
          <a:xfrm>
            <a:off x="2190730" y="251979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7" name="Google Shape;427;p56"/>
          <p:cNvSpPr txBox="1"/>
          <p:nvPr/>
        </p:nvSpPr>
        <p:spPr>
          <a:xfrm>
            <a:off x="1699805" y="3270674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8" name="Google Shape;428;p56"/>
          <p:cNvSpPr txBox="1"/>
          <p:nvPr/>
        </p:nvSpPr>
        <p:spPr>
          <a:xfrm>
            <a:off x="4207480" y="3764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PR1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29" name="Google Shape;429;p56"/>
          <p:cNvCxnSpPr>
            <a:stCxn id="422" idx="6"/>
            <a:endCxn id="428" idx="1"/>
          </p:cNvCxnSpPr>
          <p:nvPr/>
        </p:nvCxnSpPr>
        <p:spPr>
          <a:xfrm>
            <a:off x="2111230" y="3492425"/>
            <a:ext cx="2096100" cy="4725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0" name="Google Shape;430;p56"/>
          <p:cNvSpPr txBox="1"/>
          <p:nvPr/>
        </p:nvSpPr>
        <p:spPr>
          <a:xfrm>
            <a:off x="4207480" y="29243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PR2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31" name="Google Shape;431;p56"/>
          <p:cNvCxnSpPr>
            <a:stCxn id="421" idx="6"/>
            <a:endCxn id="430" idx="1"/>
          </p:cNvCxnSpPr>
          <p:nvPr/>
        </p:nvCxnSpPr>
        <p:spPr>
          <a:xfrm>
            <a:off x="2612930" y="2729075"/>
            <a:ext cx="1594500" cy="3954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32" name="Google Shape;43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218" y="3713132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6"/>
          <p:cNvSpPr txBox="1"/>
          <p:nvPr/>
        </p:nvSpPr>
        <p:spPr>
          <a:xfrm>
            <a:off x="4701218" y="4047050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1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pic>
        <p:nvPicPr>
          <p:cNvPr id="434" name="Google Shape;43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647" y="2877067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6"/>
          <p:cNvSpPr txBox="1"/>
          <p:nvPr/>
        </p:nvSpPr>
        <p:spPr>
          <a:xfrm>
            <a:off x="4699647" y="3217904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2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sp>
        <p:nvSpPr>
          <p:cNvPr id="436" name="Google Shape;436;p56"/>
          <p:cNvSpPr/>
          <p:nvPr/>
        </p:nvSpPr>
        <p:spPr>
          <a:xfrm>
            <a:off x="5506775" y="1524000"/>
            <a:ext cx="3048000" cy="2095500"/>
          </a:xfrm>
          <a:prstGeom prst="roundRect">
            <a:avLst>
              <a:gd fmla="val 5454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6"/>
          <p:cNvSpPr txBox="1"/>
          <p:nvPr/>
        </p:nvSpPr>
        <p:spPr>
          <a:xfrm>
            <a:off x="5744900" y="179717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CAF5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endParaRPr sz="2400">
              <a:solidFill>
                <a:srgbClr val="4CAF5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438" name="Google Shape;438;p56"/>
          <p:cNvSpPr txBox="1"/>
          <p:nvPr/>
        </p:nvSpPr>
        <p:spPr>
          <a:xfrm>
            <a:off x="6221150" y="1762125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Isolated Success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6"/>
          <p:cNvSpPr txBox="1"/>
          <p:nvPr/>
        </p:nvSpPr>
        <p:spPr>
          <a:xfrm>
            <a:off x="5744900" y="2286000"/>
            <a:ext cx="257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PRs are tested against </a:t>
            </a:r>
            <a:r>
              <a:rPr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base</a:t>
            </a: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2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CI confirms </a:t>
            </a:r>
            <a:r>
              <a:rPr b="1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and </a:t>
            </a:r>
            <a:r>
              <a:rPr b="1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are valid</a:t>
            </a:r>
            <a:endParaRPr b="0" sz="12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Both authors see green builds</a:t>
            </a:r>
            <a:endParaRPr b="0" sz="12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7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Broken Builds on Mainline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446" name="Google Shape;446;p57"/>
          <p:cNvCxnSpPr/>
          <p:nvPr/>
        </p:nvCxnSpPr>
        <p:spPr>
          <a:xfrm flipH="1" rot="10800000">
            <a:off x="1515505" y="1093175"/>
            <a:ext cx="18300" cy="364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47" name="Google Shape;447;p57"/>
          <p:cNvSpPr txBox="1"/>
          <p:nvPr/>
        </p:nvSpPr>
        <p:spPr>
          <a:xfrm>
            <a:off x="1557880" y="990650"/>
            <a:ext cx="9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mainline (trunk)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48" name="Google Shape;448;p57"/>
          <p:cNvSpPr/>
          <p:nvPr/>
        </p:nvSpPr>
        <p:spPr>
          <a:xfrm>
            <a:off x="1435105" y="4206650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49" name="Google Shape;449;p57"/>
          <p:cNvSpPr/>
          <p:nvPr/>
        </p:nvSpPr>
        <p:spPr>
          <a:xfrm>
            <a:off x="2433830" y="26489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0" name="Google Shape;450;p57"/>
          <p:cNvSpPr/>
          <p:nvPr/>
        </p:nvSpPr>
        <p:spPr>
          <a:xfrm>
            <a:off x="1932130" y="341232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51" name="Google Shape;451;p57"/>
          <p:cNvCxnSpPr>
            <a:stCxn id="448" idx="6"/>
            <a:endCxn id="449" idx="4"/>
          </p:cNvCxnSpPr>
          <p:nvPr/>
        </p:nvCxnSpPr>
        <p:spPr>
          <a:xfrm flipH="1" rot="10800000">
            <a:off x="1614205" y="2809250"/>
            <a:ext cx="909300" cy="14775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7"/>
          <p:cNvCxnSpPr>
            <a:stCxn id="448" idx="6"/>
            <a:endCxn id="450" idx="4"/>
          </p:cNvCxnSpPr>
          <p:nvPr/>
        </p:nvCxnSpPr>
        <p:spPr>
          <a:xfrm flipH="1" rot="10800000">
            <a:off x="1614205" y="3572450"/>
            <a:ext cx="407400" cy="7143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3" name="Google Shape;453;p57"/>
          <p:cNvSpPr txBox="1"/>
          <p:nvPr/>
        </p:nvSpPr>
        <p:spPr>
          <a:xfrm>
            <a:off x="1189780" y="407746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4" name="Google Shape;454;p57"/>
          <p:cNvSpPr txBox="1"/>
          <p:nvPr/>
        </p:nvSpPr>
        <p:spPr>
          <a:xfrm>
            <a:off x="2190730" y="251979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5" name="Google Shape;455;p57"/>
          <p:cNvSpPr txBox="1"/>
          <p:nvPr/>
        </p:nvSpPr>
        <p:spPr>
          <a:xfrm>
            <a:off x="1699805" y="3270674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6" name="Google Shape;456;p57"/>
          <p:cNvSpPr/>
          <p:nvPr/>
        </p:nvSpPr>
        <p:spPr>
          <a:xfrm>
            <a:off x="1435105" y="27698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57" name="Google Shape;457;p57"/>
          <p:cNvCxnSpPr>
            <a:stCxn id="450" idx="0"/>
            <a:endCxn id="456" idx="6"/>
          </p:cNvCxnSpPr>
          <p:nvPr/>
        </p:nvCxnSpPr>
        <p:spPr>
          <a:xfrm flipH="1" rot="5400000">
            <a:off x="1536880" y="2927525"/>
            <a:ext cx="562200" cy="4074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57"/>
          <p:cNvSpPr txBox="1"/>
          <p:nvPr/>
        </p:nvSpPr>
        <p:spPr>
          <a:xfrm>
            <a:off x="1117705" y="2649879"/>
            <a:ext cx="3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b’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9" name="Google Shape;459;p57"/>
          <p:cNvSpPr txBox="1"/>
          <p:nvPr/>
        </p:nvSpPr>
        <p:spPr>
          <a:xfrm>
            <a:off x="4207480" y="3764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PR1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60" name="Google Shape;460;p57"/>
          <p:cNvCxnSpPr>
            <a:stCxn id="450" idx="6"/>
            <a:endCxn id="459" idx="1"/>
          </p:cNvCxnSpPr>
          <p:nvPr/>
        </p:nvCxnSpPr>
        <p:spPr>
          <a:xfrm>
            <a:off x="2111230" y="3492425"/>
            <a:ext cx="2096100" cy="4725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61" name="Google Shape;461;p57"/>
          <p:cNvSpPr txBox="1"/>
          <p:nvPr/>
        </p:nvSpPr>
        <p:spPr>
          <a:xfrm>
            <a:off x="4207480" y="29243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PR2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62" name="Google Shape;462;p57"/>
          <p:cNvCxnSpPr>
            <a:stCxn id="449" idx="6"/>
            <a:endCxn id="461" idx="1"/>
          </p:cNvCxnSpPr>
          <p:nvPr/>
        </p:nvCxnSpPr>
        <p:spPr>
          <a:xfrm>
            <a:off x="2612930" y="2729075"/>
            <a:ext cx="1594500" cy="3954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63" name="Google Shape;46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218" y="3713132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7"/>
          <p:cNvSpPr txBox="1"/>
          <p:nvPr/>
        </p:nvSpPr>
        <p:spPr>
          <a:xfrm>
            <a:off x="4701218" y="4047050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1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pic>
        <p:nvPicPr>
          <p:cNvPr id="465" name="Google Shape;46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647" y="2877067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7"/>
          <p:cNvSpPr txBox="1"/>
          <p:nvPr/>
        </p:nvSpPr>
        <p:spPr>
          <a:xfrm>
            <a:off x="4699647" y="3217904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2 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sp>
        <p:nvSpPr>
          <p:cNvPr id="467" name="Google Shape;467;p57"/>
          <p:cNvSpPr txBox="1"/>
          <p:nvPr/>
        </p:nvSpPr>
        <p:spPr>
          <a:xfrm>
            <a:off x="1691021" y="2902763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merge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Broken Builds on Mainline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474" name="Google Shape;474;p58"/>
          <p:cNvCxnSpPr/>
          <p:nvPr/>
        </p:nvCxnSpPr>
        <p:spPr>
          <a:xfrm flipH="1" rot="10800000">
            <a:off x="1515505" y="1093175"/>
            <a:ext cx="18300" cy="364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75" name="Google Shape;475;p58"/>
          <p:cNvSpPr txBox="1"/>
          <p:nvPr/>
        </p:nvSpPr>
        <p:spPr>
          <a:xfrm>
            <a:off x="1557880" y="990650"/>
            <a:ext cx="9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mainline (trunk)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76" name="Google Shape;476;p58"/>
          <p:cNvSpPr/>
          <p:nvPr/>
        </p:nvSpPr>
        <p:spPr>
          <a:xfrm>
            <a:off x="1435105" y="4206650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77" name="Google Shape;477;p58"/>
          <p:cNvSpPr/>
          <p:nvPr/>
        </p:nvSpPr>
        <p:spPr>
          <a:xfrm>
            <a:off x="2433830" y="26489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78" name="Google Shape;478;p58"/>
          <p:cNvSpPr/>
          <p:nvPr/>
        </p:nvSpPr>
        <p:spPr>
          <a:xfrm>
            <a:off x="1932130" y="341232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79" name="Google Shape;479;p58"/>
          <p:cNvCxnSpPr>
            <a:stCxn id="476" idx="6"/>
            <a:endCxn id="477" idx="4"/>
          </p:cNvCxnSpPr>
          <p:nvPr/>
        </p:nvCxnSpPr>
        <p:spPr>
          <a:xfrm flipH="1" rot="10800000">
            <a:off x="1614205" y="2809250"/>
            <a:ext cx="909300" cy="14775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58"/>
          <p:cNvCxnSpPr>
            <a:stCxn id="476" idx="6"/>
            <a:endCxn id="478" idx="4"/>
          </p:cNvCxnSpPr>
          <p:nvPr/>
        </p:nvCxnSpPr>
        <p:spPr>
          <a:xfrm flipH="1" rot="10800000">
            <a:off x="1614205" y="3572450"/>
            <a:ext cx="407400" cy="7143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1" name="Google Shape;481;p58"/>
          <p:cNvSpPr txBox="1"/>
          <p:nvPr/>
        </p:nvSpPr>
        <p:spPr>
          <a:xfrm>
            <a:off x="1189780" y="407746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2" name="Google Shape;482;p58"/>
          <p:cNvSpPr txBox="1"/>
          <p:nvPr/>
        </p:nvSpPr>
        <p:spPr>
          <a:xfrm>
            <a:off x="2190730" y="251979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3" name="Google Shape;483;p58"/>
          <p:cNvSpPr txBox="1"/>
          <p:nvPr/>
        </p:nvSpPr>
        <p:spPr>
          <a:xfrm>
            <a:off x="1699805" y="3270674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4" name="Google Shape;484;p58"/>
          <p:cNvSpPr/>
          <p:nvPr/>
        </p:nvSpPr>
        <p:spPr>
          <a:xfrm>
            <a:off x="1435105" y="27698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85" name="Google Shape;485;p58"/>
          <p:cNvCxnSpPr>
            <a:stCxn id="478" idx="0"/>
            <a:endCxn id="484" idx="6"/>
          </p:cNvCxnSpPr>
          <p:nvPr/>
        </p:nvCxnSpPr>
        <p:spPr>
          <a:xfrm flipH="1" rot="5400000">
            <a:off x="1536880" y="2927525"/>
            <a:ext cx="562200" cy="4074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6" name="Google Shape;486;p58"/>
          <p:cNvSpPr/>
          <p:nvPr/>
        </p:nvSpPr>
        <p:spPr>
          <a:xfrm>
            <a:off x="1435105" y="1706163"/>
            <a:ext cx="179100" cy="160200"/>
          </a:xfrm>
          <a:prstGeom prst="ellipse">
            <a:avLst/>
          </a:prstGeom>
          <a:solidFill>
            <a:srgbClr val="E11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87" name="Google Shape;487;p58"/>
          <p:cNvCxnSpPr>
            <a:stCxn id="477" idx="0"/>
            <a:endCxn id="486" idx="6"/>
          </p:cNvCxnSpPr>
          <p:nvPr/>
        </p:nvCxnSpPr>
        <p:spPr>
          <a:xfrm flipH="1" rot="5400000">
            <a:off x="1637330" y="1762925"/>
            <a:ext cx="862800" cy="9093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8" name="Google Shape;488;p58"/>
          <p:cNvSpPr txBox="1"/>
          <p:nvPr/>
        </p:nvSpPr>
        <p:spPr>
          <a:xfrm>
            <a:off x="1117705" y="2649879"/>
            <a:ext cx="3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b’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9" name="Google Shape;489;p58"/>
          <p:cNvSpPr txBox="1"/>
          <p:nvPr/>
        </p:nvSpPr>
        <p:spPr>
          <a:xfrm>
            <a:off x="1117830" y="1586179"/>
            <a:ext cx="3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c’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90" name="Google Shape;490;p58"/>
          <p:cNvSpPr txBox="1"/>
          <p:nvPr/>
        </p:nvSpPr>
        <p:spPr>
          <a:xfrm>
            <a:off x="4207480" y="3764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PR1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91" name="Google Shape;491;p58"/>
          <p:cNvCxnSpPr>
            <a:stCxn id="478" idx="6"/>
            <a:endCxn id="490" idx="1"/>
          </p:cNvCxnSpPr>
          <p:nvPr/>
        </p:nvCxnSpPr>
        <p:spPr>
          <a:xfrm>
            <a:off x="2111230" y="3492425"/>
            <a:ext cx="2096100" cy="4725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92" name="Google Shape;492;p58"/>
          <p:cNvSpPr txBox="1"/>
          <p:nvPr/>
        </p:nvSpPr>
        <p:spPr>
          <a:xfrm>
            <a:off x="4207480" y="29243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PR2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93" name="Google Shape;493;p58"/>
          <p:cNvCxnSpPr>
            <a:stCxn id="477" idx="6"/>
            <a:endCxn id="492" idx="1"/>
          </p:cNvCxnSpPr>
          <p:nvPr/>
        </p:nvCxnSpPr>
        <p:spPr>
          <a:xfrm>
            <a:off x="2612930" y="2729075"/>
            <a:ext cx="1594500" cy="3954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94" name="Google Shape;49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218" y="3713132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8"/>
          <p:cNvSpPr txBox="1"/>
          <p:nvPr/>
        </p:nvSpPr>
        <p:spPr>
          <a:xfrm>
            <a:off x="4701218" y="4047050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1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pic>
        <p:nvPicPr>
          <p:cNvPr id="496" name="Google Shape;49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647" y="2877067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8"/>
          <p:cNvSpPr txBox="1"/>
          <p:nvPr/>
        </p:nvSpPr>
        <p:spPr>
          <a:xfrm>
            <a:off x="4699647" y="3217904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2 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grpSp>
        <p:nvGrpSpPr>
          <p:cNvPr id="498" name="Google Shape;498;p58"/>
          <p:cNvGrpSpPr/>
          <p:nvPr/>
        </p:nvGrpSpPr>
        <p:grpSpPr>
          <a:xfrm>
            <a:off x="5706125" y="1619175"/>
            <a:ext cx="2667150" cy="1905150"/>
            <a:chOff x="5715000" y="2095500"/>
            <a:chExt cx="2667150" cy="1905150"/>
          </a:xfrm>
        </p:grpSpPr>
        <p:sp>
          <p:nvSpPr>
            <p:cNvPr id="499" name="Google Shape;499;p58"/>
            <p:cNvSpPr txBox="1"/>
            <p:nvPr/>
          </p:nvSpPr>
          <p:spPr>
            <a:xfrm>
              <a:off x="6191250" y="20955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Integration Failure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8"/>
            <p:cNvSpPr txBox="1"/>
            <p:nvPr/>
          </p:nvSpPr>
          <p:spPr>
            <a:xfrm>
              <a:off x="5715000" y="257175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State Drift: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PR2 (</a:t>
              </a:r>
              <a:r>
                <a:rPr b="1" lang="en" sz="1110">
                  <a:solidFill>
                    <a:srgbClr val="BCBCBC"/>
                  </a:solidFill>
                </a:rPr>
                <a:t>c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) was tested against </a:t>
              </a:r>
              <a:r>
                <a:rPr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base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110">
                  <a:solidFill>
                    <a:srgbClr val="BCBCBC"/>
                  </a:solidFill>
                </a:rPr>
                <a:t>a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, but merged after PR1 (</a:t>
              </a:r>
              <a:r>
                <a:rPr b="1" lang="en" sz="1110">
                  <a:solidFill>
                    <a:srgbClr val="BCBCBC"/>
                  </a:solidFill>
                </a:rPr>
                <a:t>b'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111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False Confidence: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PR2 passed all tests in isolation.</a:t>
              </a:r>
              <a:endParaRPr b="0" sz="111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Result: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Mainline is now broken for every other engineer.</a:t>
              </a:r>
              <a:endParaRPr b="0" sz="111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58"/>
          <p:cNvSpPr txBox="1"/>
          <p:nvPr/>
        </p:nvSpPr>
        <p:spPr>
          <a:xfrm>
            <a:off x="5706125" y="165422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error_outline</a:t>
            </a:r>
            <a:endParaRPr sz="2400">
              <a:solidFill>
                <a:srgbClr val="FF413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02" name="Google Shape;502;p58"/>
          <p:cNvSpPr txBox="1"/>
          <p:nvPr/>
        </p:nvSpPr>
        <p:spPr>
          <a:xfrm>
            <a:off x="1735851" y="1730613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merge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03" name="Google Shape;503;p58"/>
          <p:cNvSpPr txBox="1"/>
          <p:nvPr/>
        </p:nvSpPr>
        <p:spPr>
          <a:xfrm>
            <a:off x="1691021" y="2901350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merge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"/>
          <p:cNvSpPr txBox="1"/>
          <p:nvPr/>
        </p:nvSpPr>
        <p:spPr>
          <a:xfrm>
            <a:off x="571500" y="9048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At scale, small problems don’t stay small</a:t>
            </a:r>
            <a:endParaRPr sz="16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08" name="Google Shape;50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685" y="4752975"/>
            <a:ext cx="405000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Imagine Thousands of Engineers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10" name="Google Shape;51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59"/>
          <p:cNvGrpSpPr/>
          <p:nvPr/>
        </p:nvGrpSpPr>
        <p:grpSpPr>
          <a:xfrm>
            <a:off x="476250" y="1714500"/>
            <a:ext cx="8191500" cy="1905000"/>
            <a:chOff x="476250" y="1714500"/>
            <a:chExt cx="8191500" cy="1905000"/>
          </a:xfrm>
        </p:grpSpPr>
        <p:sp>
          <p:nvSpPr>
            <p:cNvPr id="512" name="Google Shape;512;p59"/>
            <p:cNvSpPr/>
            <p:nvPr/>
          </p:nvSpPr>
          <p:spPr>
            <a:xfrm>
              <a:off x="476250" y="1714500"/>
              <a:ext cx="2667000" cy="1905000"/>
            </a:xfrm>
            <a:prstGeom prst="roundRect">
              <a:avLst>
                <a:gd fmla="val 4000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59"/>
            <p:cNvSpPr txBox="1"/>
            <p:nvPr/>
          </p:nvSpPr>
          <p:spPr>
            <a:xfrm>
              <a:off x="666750" y="195173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FF41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block</a:t>
              </a:r>
              <a:endParaRPr sz="296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4" name="Google Shape;514;p59"/>
            <p:cNvSpPr txBox="1"/>
            <p:nvPr/>
          </p:nvSpPr>
          <p:spPr>
            <a:xfrm>
              <a:off x="666750" y="2476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Blast Radius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A single broken merge doesn't just fail; it blocks thousands of engineers.</a:t>
              </a:r>
              <a:endParaRPr b="0" sz="110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9"/>
            <p:cNvSpPr/>
            <p:nvPr/>
          </p:nvSpPr>
          <p:spPr>
            <a:xfrm>
              <a:off x="3238500" y="1714500"/>
              <a:ext cx="2667000" cy="1905000"/>
            </a:xfrm>
            <a:prstGeom prst="roundRect">
              <a:avLst>
                <a:gd fmla="val 4000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59"/>
            <p:cNvSpPr txBox="1"/>
            <p:nvPr/>
          </p:nvSpPr>
          <p:spPr>
            <a:xfrm>
              <a:off x="3429000" y="195173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FF41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receipt_long</a:t>
              </a:r>
              <a:endParaRPr sz="296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7" name="Google Shape;517;p59"/>
            <p:cNvSpPr txBox="1"/>
            <p:nvPr/>
          </p:nvSpPr>
          <p:spPr>
            <a:xfrm>
              <a:off x="3429000" y="2476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Org-Wide </a:t>
              </a: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Burden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Debugging becomes a shared, collective burden across the entire organization.</a:t>
              </a:r>
              <a:endParaRPr b="0" sz="110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9"/>
            <p:cNvSpPr/>
            <p:nvPr/>
          </p:nvSpPr>
          <p:spPr>
            <a:xfrm>
              <a:off x="6000750" y="1714500"/>
              <a:ext cx="2667000" cy="1905000"/>
            </a:xfrm>
            <a:prstGeom prst="roundRect">
              <a:avLst>
                <a:gd fmla="val 4000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9"/>
            <p:cNvSpPr txBox="1"/>
            <p:nvPr/>
          </p:nvSpPr>
          <p:spPr>
            <a:xfrm>
              <a:off x="6191250" y="195173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FF41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96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0" name="Google Shape;520;p59"/>
            <p:cNvSpPr txBox="1"/>
            <p:nvPr/>
          </p:nvSpPr>
          <p:spPr>
            <a:xfrm>
              <a:off x="6191250" y="2476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Productivity</a:t>
              </a: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Loss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Productivity stalls as integration friction outweighs individual progress.</a:t>
              </a:r>
              <a:endParaRPr b="0" sz="110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1" name="Google Shape;521;p59"/>
          <p:cNvSpPr/>
          <p:nvPr/>
        </p:nvSpPr>
        <p:spPr>
          <a:xfrm>
            <a:off x="2233800" y="4174450"/>
            <a:ext cx="4286100" cy="45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do we keep mainline green at scale?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0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SubmitQueue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27" name="Google Shape;527;p60"/>
          <p:cNvSpPr txBox="1"/>
          <p:nvPr/>
        </p:nvSpPr>
        <p:spPr>
          <a:xfrm>
            <a:off x="1243500" y="2716575"/>
            <a:ext cx="66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Think of this as an intelligent merge queue that ensures mainline stays green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28" name="Google Shape;52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SubmitQueue: Uber’s Merge Queue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34" name="Google Shape;534;p61"/>
          <p:cNvSpPr txBox="1"/>
          <p:nvPr/>
        </p:nvSpPr>
        <p:spPr>
          <a:xfrm>
            <a:off x="551850" y="1124875"/>
            <a:ext cx="7788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er Move"/>
              <a:buChar char="●"/>
            </a:pPr>
            <a:r>
              <a:rPr lang="en" sz="2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 speculative merge queue that validates future mainline states before merging</a:t>
            </a:r>
            <a:endParaRPr sz="2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er Move"/>
              <a:buChar char="●"/>
            </a:pPr>
            <a:r>
              <a:rPr lang="en" sz="2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Ensures a consistently green mainline without sacrificing velocity</a:t>
            </a:r>
            <a:endParaRPr sz="2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35" name="Google Shape;53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61"/>
          <p:cNvSpPr/>
          <p:nvPr/>
        </p:nvSpPr>
        <p:spPr>
          <a:xfrm>
            <a:off x="1041300" y="3210275"/>
            <a:ext cx="7061400" cy="819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This isn’t just a queue — it’s a system that predicts the future of your mainline before changes merge.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990725"/>
            <a:ext cx="72009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1" name="Google Shape;541;p62"/>
          <p:cNvGrpSpPr/>
          <p:nvPr/>
        </p:nvGrpSpPr>
        <p:grpSpPr>
          <a:xfrm>
            <a:off x="571500" y="1524000"/>
            <a:ext cx="1524000" cy="2286000"/>
            <a:chOff x="571500" y="1524000"/>
            <a:chExt cx="1524000" cy="2286000"/>
          </a:xfrm>
        </p:grpSpPr>
        <p:sp>
          <p:nvSpPr>
            <p:cNvPr id="542" name="Google Shape;542;p62"/>
            <p:cNvSpPr/>
            <p:nvPr/>
          </p:nvSpPr>
          <p:spPr>
            <a:xfrm>
              <a:off x="571500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2"/>
            <p:cNvSpPr/>
            <p:nvPr/>
          </p:nvSpPr>
          <p:spPr>
            <a:xfrm>
              <a:off x="571500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05A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2"/>
            <p:cNvSpPr txBox="1"/>
            <p:nvPr/>
          </p:nvSpPr>
          <p:spPr>
            <a:xfrm>
              <a:off x="714375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Validate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45" name="Google Shape;545;p62"/>
            <p:cNvSpPr txBox="1"/>
            <p:nvPr/>
          </p:nvSpPr>
          <p:spPr>
            <a:xfrm>
              <a:off x="714375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Duplicate Requests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Git Merge Conflicts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46" name="Google Shape;546;p62"/>
          <p:cNvGrpSpPr/>
          <p:nvPr/>
        </p:nvGrpSpPr>
        <p:grpSpPr>
          <a:xfrm>
            <a:off x="2238375" y="1524000"/>
            <a:ext cx="1524000" cy="2286000"/>
            <a:chOff x="2238375" y="1524000"/>
            <a:chExt cx="1524000" cy="2286000"/>
          </a:xfrm>
        </p:grpSpPr>
        <p:sp>
          <p:nvSpPr>
            <p:cNvPr id="547" name="Google Shape;547;p62"/>
            <p:cNvSpPr/>
            <p:nvPr/>
          </p:nvSpPr>
          <p:spPr>
            <a:xfrm>
              <a:off x="2238375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2"/>
            <p:cNvSpPr/>
            <p:nvPr/>
          </p:nvSpPr>
          <p:spPr>
            <a:xfrm>
              <a:off x="2238375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276E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2"/>
            <p:cNvSpPr txBox="1"/>
            <p:nvPr/>
          </p:nvSpPr>
          <p:spPr>
            <a:xfrm>
              <a:off x="2381250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Speculate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50" name="Google Shape;550;p62"/>
            <p:cNvSpPr txBox="1"/>
            <p:nvPr/>
          </p:nvSpPr>
          <p:spPr>
            <a:xfrm>
              <a:off x="2381250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Predict Futures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Speculation Tree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51" name="Google Shape;551;p62"/>
          <p:cNvGrpSpPr/>
          <p:nvPr/>
        </p:nvGrpSpPr>
        <p:grpSpPr>
          <a:xfrm>
            <a:off x="3905250" y="1524000"/>
            <a:ext cx="1524000" cy="2286000"/>
            <a:chOff x="3905250" y="1524000"/>
            <a:chExt cx="1524000" cy="2286000"/>
          </a:xfrm>
        </p:grpSpPr>
        <p:sp>
          <p:nvSpPr>
            <p:cNvPr id="552" name="Google Shape;552;p62"/>
            <p:cNvSpPr/>
            <p:nvPr/>
          </p:nvSpPr>
          <p:spPr>
            <a:xfrm>
              <a:off x="3905250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2"/>
            <p:cNvSpPr/>
            <p:nvPr/>
          </p:nvSpPr>
          <p:spPr>
            <a:xfrm>
              <a:off x="3905250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FFC0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2"/>
            <p:cNvSpPr txBox="1"/>
            <p:nvPr/>
          </p:nvSpPr>
          <p:spPr>
            <a:xfrm>
              <a:off x="4048125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Build &amp; Test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55" name="Google Shape;555;p62"/>
            <p:cNvSpPr txBox="1"/>
            <p:nvPr/>
          </p:nvSpPr>
          <p:spPr>
            <a:xfrm>
              <a:off x="4048125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Test Futures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Parallel Testing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56" name="Google Shape;556;p62"/>
          <p:cNvGrpSpPr/>
          <p:nvPr/>
        </p:nvGrpSpPr>
        <p:grpSpPr>
          <a:xfrm>
            <a:off x="5572125" y="1524000"/>
            <a:ext cx="1524000" cy="2286000"/>
            <a:chOff x="5572125" y="1524000"/>
            <a:chExt cx="1524000" cy="2286000"/>
          </a:xfrm>
        </p:grpSpPr>
        <p:sp>
          <p:nvSpPr>
            <p:cNvPr id="557" name="Google Shape;557;p62"/>
            <p:cNvSpPr/>
            <p:nvPr/>
          </p:nvSpPr>
          <p:spPr>
            <a:xfrm>
              <a:off x="5572125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2"/>
            <p:cNvSpPr/>
            <p:nvPr/>
          </p:nvSpPr>
          <p:spPr>
            <a:xfrm>
              <a:off x="5572125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E11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2"/>
            <p:cNvSpPr txBox="1"/>
            <p:nvPr/>
          </p:nvSpPr>
          <p:spPr>
            <a:xfrm>
              <a:off x="5714925" y="2619525"/>
              <a:ext cx="1238400" cy="6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Result Validation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Decision Logic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60" name="Google Shape;560;p62"/>
          <p:cNvGrpSpPr/>
          <p:nvPr/>
        </p:nvGrpSpPr>
        <p:grpSpPr>
          <a:xfrm>
            <a:off x="7239000" y="1524000"/>
            <a:ext cx="1524000" cy="2286000"/>
            <a:chOff x="7239000" y="1524000"/>
            <a:chExt cx="1524000" cy="2286000"/>
          </a:xfrm>
        </p:grpSpPr>
        <p:sp>
          <p:nvSpPr>
            <p:cNvPr id="561" name="Google Shape;561;p62"/>
            <p:cNvSpPr/>
            <p:nvPr/>
          </p:nvSpPr>
          <p:spPr>
            <a:xfrm>
              <a:off x="7239000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2"/>
            <p:cNvSpPr/>
            <p:nvPr/>
          </p:nvSpPr>
          <p:spPr>
            <a:xfrm>
              <a:off x="7239000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735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2"/>
            <p:cNvSpPr txBox="1"/>
            <p:nvPr/>
          </p:nvSpPr>
          <p:spPr>
            <a:xfrm>
              <a:off x="7381875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Merge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64" name="Google Shape;564;p62"/>
            <p:cNvSpPr txBox="1"/>
            <p:nvPr/>
          </p:nvSpPr>
          <p:spPr>
            <a:xfrm>
              <a:off x="7381875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Final Commit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User Notification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cxnSp>
        <p:nvCxnSpPr>
          <p:cNvPr id="565" name="Google Shape;565;p62"/>
          <p:cNvCxnSpPr>
            <a:stCxn id="557" idx="2"/>
            <a:endCxn id="547" idx="2"/>
          </p:cNvCxnSpPr>
          <p:nvPr/>
        </p:nvCxnSpPr>
        <p:spPr>
          <a:xfrm rot="5400000">
            <a:off x="4667025" y="2143500"/>
            <a:ext cx="600" cy="3333600"/>
          </a:xfrm>
          <a:prstGeom prst="curvedConnector3">
            <a:avLst>
              <a:gd fmla="val 78170833" name="adj1"/>
            </a:avLst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66" name="Google Shape;566;p62"/>
          <p:cNvSpPr txBox="1"/>
          <p:nvPr/>
        </p:nvSpPr>
        <p:spPr>
          <a:xfrm>
            <a:off x="4243511" y="3977209"/>
            <a:ext cx="8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speculate</a:t>
            </a:r>
            <a:endParaRPr sz="12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67" name="Google Shape;567;p62"/>
          <p:cNvSpPr txBox="1"/>
          <p:nvPr/>
        </p:nvSpPr>
        <p:spPr>
          <a:xfrm>
            <a:off x="551850" y="116775"/>
            <a:ext cx="765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Request Journey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68" name="Google Shape;568;p62"/>
          <p:cNvSpPr txBox="1"/>
          <p:nvPr/>
        </p:nvSpPr>
        <p:spPr>
          <a:xfrm>
            <a:off x="571500" y="880175"/>
            <a:ext cx="813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Every request is tested against future mainline states before it lands (aka merges)</a:t>
            </a:r>
            <a:endParaRPr sz="16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69" name="Google Shape;569;p62"/>
          <p:cNvSpPr txBox="1"/>
          <p:nvPr/>
        </p:nvSpPr>
        <p:spPr>
          <a:xfrm>
            <a:off x="5714925" y="2158988"/>
            <a:ext cx="12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Decide</a:t>
            </a:r>
            <a:endParaRPr b="1" sz="14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70" name="Google Shape;57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3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The Messy Middle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76" name="Google Shape;576;p63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Core concepts behind large-scale merging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77" name="Google Shape;57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4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Predicting and validating future states before they happen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82" name="Google Shape;582;p6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83" name="Google Shape;583;p64"/>
          <p:cNvSpPr/>
          <p:nvPr/>
        </p:nvSpPr>
        <p:spPr>
          <a:xfrm>
            <a:off x="2714400" y="4389775"/>
            <a:ext cx="3715200" cy="45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How 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this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 works: An Example</a:t>
            </a:r>
            <a:endParaRPr b="1" sz="1500"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84" name="Google Shape;58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5" name="Google Shape;585;p64"/>
          <p:cNvGrpSpPr/>
          <p:nvPr/>
        </p:nvGrpSpPr>
        <p:grpSpPr>
          <a:xfrm>
            <a:off x="2238375" y="1524000"/>
            <a:ext cx="1524000" cy="2286000"/>
            <a:chOff x="2238375" y="1524000"/>
            <a:chExt cx="1524000" cy="2286000"/>
          </a:xfrm>
        </p:grpSpPr>
        <p:sp>
          <p:nvSpPr>
            <p:cNvPr id="586" name="Google Shape;586;p64"/>
            <p:cNvSpPr/>
            <p:nvPr/>
          </p:nvSpPr>
          <p:spPr>
            <a:xfrm>
              <a:off x="2238375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4"/>
            <p:cNvSpPr/>
            <p:nvPr/>
          </p:nvSpPr>
          <p:spPr>
            <a:xfrm>
              <a:off x="2238375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276E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4"/>
            <p:cNvSpPr txBox="1"/>
            <p:nvPr/>
          </p:nvSpPr>
          <p:spPr>
            <a:xfrm>
              <a:off x="2381250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Speculate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89" name="Google Shape;589;p64"/>
            <p:cNvSpPr txBox="1"/>
            <p:nvPr/>
          </p:nvSpPr>
          <p:spPr>
            <a:xfrm>
              <a:off x="2381250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Predict Futures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Speculation Tree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90" name="Google Shape;590;p64"/>
          <p:cNvGrpSpPr/>
          <p:nvPr/>
        </p:nvGrpSpPr>
        <p:grpSpPr>
          <a:xfrm>
            <a:off x="3905250" y="1524000"/>
            <a:ext cx="1524000" cy="2286000"/>
            <a:chOff x="3905250" y="1524000"/>
            <a:chExt cx="1524000" cy="2286000"/>
          </a:xfrm>
        </p:grpSpPr>
        <p:sp>
          <p:nvSpPr>
            <p:cNvPr id="591" name="Google Shape;591;p64"/>
            <p:cNvSpPr/>
            <p:nvPr/>
          </p:nvSpPr>
          <p:spPr>
            <a:xfrm>
              <a:off x="3905250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4"/>
            <p:cNvSpPr/>
            <p:nvPr/>
          </p:nvSpPr>
          <p:spPr>
            <a:xfrm>
              <a:off x="3905250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FFC0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4"/>
            <p:cNvSpPr txBox="1"/>
            <p:nvPr/>
          </p:nvSpPr>
          <p:spPr>
            <a:xfrm>
              <a:off x="4048125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Build &amp; Test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94" name="Google Shape;594;p64"/>
            <p:cNvSpPr txBox="1"/>
            <p:nvPr/>
          </p:nvSpPr>
          <p:spPr>
            <a:xfrm>
              <a:off x="4048125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Test Futures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Parallel Testing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95" name="Google Shape;595;p64"/>
          <p:cNvGrpSpPr/>
          <p:nvPr/>
        </p:nvGrpSpPr>
        <p:grpSpPr>
          <a:xfrm>
            <a:off x="5572125" y="1524000"/>
            <a:ext cx="1524000" cy="2286000"/>
            <a:chOff x="5572125" y="1524000"/>
            <a:chExt cx="1524000" cy="2286000"/>
          </a:xfrm>
        </p:grpSpPr>
        <p:sp>
          <p:nvSpPr>
            <p:cNvPr id="596" name="Google Shape;596;p64"/>
            <p:cNvSpPr/>
            <p:nvPr/>
          </p:nvSpPr>
          <p:spPr>
            <a:xfrm>
              <a:off x="5572125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4"/>
            <p:cNvSpPr/>
            <p:nvPr/>
          </p:nvSpPr>
          <p:spPr>
            <a:xfrm>
              <a:off x="5572125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E11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4"/>
            <p:cNvSpPr txBox="1"/>
            <p:nvPr/>
          </p:nvSpPr>
          <p:spPr>
            <a:xfrm>
              <a:off x="5714925" y="2619525"/>
              <a:ext cx="1238400" cy="6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Result Validation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Decision Logic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cxnSp>
        <p:nvCxnSpPr>
          <p:cNvPr id="599" name="Google Shape;599;p64"/>
          <p:cNvCxnSpPr>
            <a:stCxn id="596" idx="2"/>
            <a:endCxn id="586" idx="2"/>
          </p:cNvCxnSpPr>
          <p:nvPr/>
        </p:nvCxnSpPr>
        <p:spPr>
          <a:xfrm rot="5400000">
            <a:off x="4667025" y="2143500"/>
            <a:ext cx="600" cy="3333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00" name="Google Shape;600;p64"/>
          <p:cNvSpPr txBox="1"/>
          <p:nvPr/>
        </p:nvSpPr>
        <p:spPr>
          <a:xfrm>
            <a:off x="4243511" y="3977209"/>
            <a:ext cx="8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speculate</a:t>
            </a:r>
            <a:endParaRPr sz="12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1" name="Google Shape;601;p64"/>
          <p:cNvSpPr txBox="1"/>
          <p:nvPr/>
        </p:nvSpPr>
        <p:spPr>
          <a:xfrm>
            <a:off x="5714925" y="2158988"/>
            <a:ext cx="12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Decide</a:t>
            </a:r>
            <a:endParaRPr b="1" sz="14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(C1)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07" name="Google Shape;60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5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09" name="Google Shape;609;p65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10" name="Google Shape;610;p65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1362750" y="2417175"/>
            <a:ext cx="6418500" cy="83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Assumption: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Each new change is assumed to depend on all earlier changes still in the queue.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17" name="Google Shape;61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6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19" name="Google Shape;619;p66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20" name="Google Shape;620;p66"/>
          <p:cNvCxnSpPr>
            <a:stCxn id="618" idx="3"/>
            <a:endCxn id="619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66"/>
          <p:cNvSpPr txBox="1"/>
          <p:nvPr/>
        </p:nvSpPr>
        <p:spPr>
          <a:xfrm>
            <a:off x="371850" y="2442975"/>
            <a:ext cx="224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22" name="Google Shape;622;p66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B1 fails -&gt;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23" name="Google Shape;623;p66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24" name="Google Shape;624;p66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25" name="Google Shape;625;p66"/>
          <p:cNvCxnSpPr>
            <a:stCxn id="623" idx="0"/>
            <a:endCxn id="624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7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31" name="Google Shape;63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67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33" name="Google Shape;633;p67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34" name="Google Shape;634;p67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35" name="Google Shape;635;p67"/>
          <p:cNvCxnSpPr>
            <a:stCxn id="632" idx="3"/>
            <a:endCxn id="633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67"/>
          <p:cNvCxnSpPr>
            <a:stCxn id="632" idx="5"/>
            <a:endCxn id="634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7" name="Google Shape;637;p67"/>
          <p:cNvSpPr txBox="1"/>
          <p:nvPr/>
        </p:nvSpPr>
        <p:spPr>
          <a:xfrm>
            <a:off x="6171825" y="2442975"/>
            <a:ext cx="272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C2 applied on mainline + C1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38" name="Google Shape;638;p67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B1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39" name="Google Shape;639;p67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B1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40" name="Google Shape;640;p67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41" name="Google Shape;641;p67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42" name="Google Shape;642;p67"/>
          <p:cNvCxnSpPr>
            <a:stCxn id="640" idx="0"/>
            <a:endCxn id="641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48" name="Google Shape;64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68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50" name="Google Shape;650;p68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51" name="Google Shape;651;p68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52" name="Google Shape;652;p68"/>
          <p:cNvCxnSpPr>
            <a:stCxn id="649" idx="3"/>
            <a:endCxn id="650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68"/>
          <p:cNvCxnSpPr>
            <a:stCxn id="649" idx="5"/>
            <a:endCxn id="651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4" name="Google Shape;654;p68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55" name="Google Shape;655;p68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56" name="Google Shape;656;p68"/>
          <p:cNvCxnSpPr>
            <a:stCxn id="657" idx="0"/>
            <a:endCxn id="658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59" name="Google Shape;659;p68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60" name="Google Shape;660;p68"/>
          <p:cNvCxnSpPr>
            <a:stCxn id="650" idx="3"/>
            <a:endCxn id="659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68"/>
          <p:cNvCxnSpPr>
            <a:stCxn id="658" idx="0"/>
            <a:endCxn id="662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63" name="Google Shape;663;p68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64" name="Google Shape;664;p68"/>
          <p:cNvCxnSpPr>
            <a:stCxn id="657" idx="3"/>
            <a:endCxn id="662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57" name="Google Shape;657;p68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58" name="Google Shape;658;p68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62" name="Google Shape;662;p68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65" name="Google Shape;665;p68"/>
          <p:cNvSpPr txBox="1"/>
          <p:nvPr/>
        </p:nvSpPr>
        <p:spPr>
          <a:xfrm>
            <a:off x="1537250" y="4494750"/>
            <a:ext cx="224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71" name="Google Shape;67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9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C1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73" name="Google Shape;673;p69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74" name="Google Shape;674;p69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75" name="Google Shape;675;p69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76" name="Google Shape;676;p69"/>
          <p:cNvCxnSpPr>
            <a:stCxn id="673" idx="3"/>
            <a:endCxn id="674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7" name="Google Shape;677;p69"/>
          <p:cNvCxnSpPr>
            <a:stCxn id="673" idx="5"/>
            <a:endCxn id="675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8" name="Google Shape;678;p69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79" name="Google Shape;679;p69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80" name="Google Shape;680;p69"/>
          <p:cNvCxnSpPr>
            <a:stCxn id="681" idx="0"/>
            <a:endCxn id="682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83" name="Google Shape;683;p69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84" name="Google Shape;684;p69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85" name="Google Shape;685;p69"/>
          <p:cNvCxnSpPr>
            <a:stCxn id="674" idx="3"/>
            <a:endCxn id="683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69"/>
          <p:cNvCxnSpPr>
            <a:stCxn id="674" idx="5"/>
            <a:endCxn id="684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69"/>
          <p:cNvCxnSpPr>
            <a:stCxn id="682" idx="0"/>
            <a:endCxn id="688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89" name="Google Shape;689;p69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90" name="Google Shape;690;p69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91" name="Google Shape;691;p69"/>
          <p:cNvCxnSpPr>
            <a:stCxn id="681" idx="3"/>
            <a:endCxn id="688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81" name="Google Shape;681;p69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82" name="Google Shape;682;p69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88" name="Google Shape;688;p69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92" name="Google Shape;692;p69"/>
          <p:cNvSpPr txBox="1"/>
          <p:nvPr/>
        </p:nvSpPr>
        <p:spPr>
          <a:xfrm>
            <a:off x="3802550" y="4527150"/>
            <a:ext cx="304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 + C2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98" name="Google Shape;69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0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C1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00" name="Google Shape;700;p70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01" name="Google Shape;701;p70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02" name="Google Shape;702;p70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03" name="Google Shape;703;p70"/>
          <p:cNvCxnSpPr>
            <a:stCxn id="700" idx="3"/>
            <a:endCxn id="701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70"/>
          <p:cNvCxnSpPr>
            <a:stCxn id="700" idx="5"/>
            <a:endCxn id="702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5" name="Google Shape;705;p70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06" name="Google Shape;706;p70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07" name="Google Shape;707;p70"/>
          <p:cNvCxnSpPr>
            <a:stCxn id="708" idx="0"/>
            <a:endCxn id="709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10" name="Google Shape;710;p70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11" name="Google Shape;711;p70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12" name="Google Shape;712;p70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13" name="Google Shape;713;p70"/>
          <p:cNvCxnSpPr>
            <a:stCxn id="701" idx="3"/>
            <a:endCxn id="710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4" name="Google Shape;714;p70"/>
          <p:cNvCxnSpPr>
            <a:stCxn id="701" idx="5"/>
            <a:endCxn id="711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5" name="Google Shape;715;p70"/>
          <p:cNvCxnSpPr>
            <a:stCxn id="702" idx="3"/>
            <a:endCxn id="712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6" name="Google Shape;716;p70"/>
          <p:cNvCxnSpPr>
            <a:stCxn id="709" idx="0"/>
            <a:endCxn id="717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18" name="Google Shape;718;p70"/>
          <p:cNvSpPr txBox="1"/>
          <p:nvPr/>
        </p:nvSpPr>
        <p:spPr>
          <a:xfrm>
            <a:off x="4475875" y="2993525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19" name="Google Shape;719;p70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20" name="Google Shape;720;p70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21" name="Google Shape;721;p70"/>
          <p:cNvCxnSpPr>
            <a:stCxn id="708" idx="3"/>
            <a:endCxn id="717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08" name="Google Shape;708;p70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09" name="Google Shape;709;p70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17" name="Google Shape;717;p70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22" name="Google Shape;722;p70"/>
          <p:cNvSpPr txBox="1"/>
          <p:nvPr/>
        </p:nvSpPr>
        <p:spPr>
          <a:xfrm>
            <a:off x="4681900" y="4538175"/>
            <a:ext cx="276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 + C1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728" name="Google Shape;72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71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30" name="Google Shape;730;p71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31" name="Google Shape;731;p71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32" name="Google Shape;732;p71"/>
          <p:cNvCxnSpPr>
            <a:stCxn id="729" idx="3"/>
            <a:endCxn id="730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71"/>
          <p:cNvCxnSpPr>
            <a:stCxn id="729" idx="5"/>
            <a:endCxn id="731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4" name="Google Shape;734;p71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35" name="Google Shape;735;p71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36" name="Google Shape;736;p71"/>
          <p:cNvCxnSpPr>
            <a:stCxn id="737" idx="0"/>
            <a:endCxn id="738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9" name="Google Shape;739;p71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0" name="Google Shape;740;p71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1" name="Google Shape;741;p71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2" name="Google Shape;742;p71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43" name="Google Shape;743;p71"/>
          <p:cNvCxnSpPr>
            <a:stCxn id="730" idx="3"/>
            <a:endCxn id="739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71"/>
          <p:cNvCxnSpPr>
            <a:stCxn id="730" idx="5"/>
            <a:endCxn id="740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71"/>
          <p:cNvCxnSpPr>
            <a:stCxn id="731" idx="3"/>
            <a:endCxn id="741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6" name="Google Shape;746;p71"/>
          <p:cNvCxnSpPr>
            <a:stCxn id="731" idx="5"/>
            <a:endCxn id="742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71"/>
          <p:cNvCxnSpPr>
            <a:stCxn id="738" idx="0"/>
            <a:endCxn id="748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49" name="Google Shape;749;p71"/>
          <p:cNvSpPr txBox="1"/>
          <p:nvPr/>
        </p:nvSpPr>
        <p:spPr>
          <a:xfrm>
            <a:off x="6112250" y="3162875"/>
            <a:ext cx="18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50" name="Google Shape;750;p71"/>
          <p:cNvSpPr txBox="1"/>
          <p:nvPr/>
        </p:nvSpPr>
        <p:spPr>
          <a:xfrm>
            <a:off x="4475875" y="2993525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51" name="Google Shape;751;p71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52" name="Google Shape;752;p71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53" name="Google Shape;753;p71"/>
          <p:cNvCxnSpPr>
            <a:stCxn id="737" idx="3"/>
            <a:endCxn id="748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7" name="Google Shape;737;p71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38" name="Google Shape;738;p71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8" name="Google Shape;748;p71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54" name="Google Shape;754;p71"/>
          <p:cNvSpPr txBox="1"/>
          <p:nvPr/>
        </p:nvSpPr>
        <p:spPr>
          <a:xfrm>
            <a:off x="5775375" y="4467050"/>
            <a:ext cx="31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 + C1 + C2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2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60" name="Google Shape;760;p72"/>
          <p:cNvCxnSpPr>
            <a:stCxn id="761" idx="0"/>
            <a:endCxn id="762" idx="2"/>
          </p:cNvCxnSpPr>
          <p:nvPr/>
        </p:nvCxnSpPr>
        <p:spPr>
          <a:xfrm>
            <a:off x="853050" y="1484888"/>
            <a:ext cx="184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3" name="Google Shape;763;p72"/>
          <p:cNvCxnSpPr>
            <a:stCxn id="762" idx="0"/>
            <a:endCxn id="764" idx="2"/>
          </p:cNvCxnSpPr>
          <p:nvPr/>
        </p:nvCxnSpPr>
        <p:spPr>
          <a:xfrm>
            <a:off x="3182250" y="1484888"/>
            <a:ext cx="3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5" name="Google Shape;765;p72"/>
          <p:cNvCxnSpPr>
            <a:stCxn id="761" idx="3"/>
            <a:endCxn id="764" idx="3"/>
          </p:cNvCxnSpPr>
          <p:nvPr/>
        </p:nvCxnSpPr>
        <p:spPr>
          <a:xfrm flipH="1" rot="-5400000">
            <a:off x="3635850" y="-1739362"/>
            <a:ext cx="600" cy="6055200"/>
          </a:xfrm>
          <a:prstGeom prst="curvedConnector3">
            <a:avLst>
              <a:gd fmla="val -396875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61" name="Google Shape;761;p72"/>
          <p:cNvSpPr/>
          <p:nvPr/>
        </p:nvSpPr>
        <p:spPr>
          <a:xfrm>
            <a:off x="364050" y="1287938"/>
            <a:ext cx="489000" cy="3939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0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0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62" name="Google Shape;762;p72"/>
          <p:cNvSpPr/>
          <p:nvPr/>
        </p:nvSpPr>
        <p:spPr>
          <a:xfrm>
            <a:off x="2693250" y="1287938"/>
            <a:ext cx="489000" cy="3939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05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05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64" name="Google Shape;764;p72"/>
          <p:cNvSpPr/>
          <p:nvPr/>
        </p:nvSpPr>
        <p:spPr>
          <a:xfrm>
            <a:off x="6419275" y="1287938"/>
            <a:ext cx="489000" cy="3939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05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05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66" name="Google Shape;766;p72"/>
          <p:cNvSpPr/>
          <p:nvPr/>
        </p:nvSpPr>
        <p:spPr>
          <a:xfrm>
            <a:off x="6405024" y="2051787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67" name="Google Shape;767;p72"/>
          <p:cNvSpPr/>
          <p:nvPr/>
        </p:nvSpPr>
        <p:spPr>
          <a:xfrm>
            <a:off x="5377983" y="2947074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68" name="Google Shape;768;p72"/>
          <p:cNvSpPr/>
          <p:nvPr/>
        </p:nvSpPr>
        <p:spPr>
          <a:xfrm>
            <a:off x="7415010" y="2947074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69" name="Google Shape;769;p72"/>
          <p:cNvCxnSpPr>
            <a:stCxn id="766" idx="3"/>
            <a:endCxn id="767" idx="7"/>
          </p:cNvCxnSpPr>
          <p:nvPr/>
        </p:nvCxnSpPr>
        <p:spPr>
          <a:xfrm flipH="1">
            <a:off x="5819610" y="2448433"/>
            <a:ext cx="661200" cy="5667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72"/>
          <p:cNvCxnSpPr>
            <a:stCxn id="766" idx="5"/>
            <a:endCxn id="768" idx="1"/>
          </p:cNvCxnSpPr>
          <p:nvPr/>
        </p:nvCxnSpPr>
        <p:spPr>
          <a:xfrm>
            <a:off x="6846738" y="2448433"/>
            <a:ext cx="644100" cy="566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1" name="Google Shape;771;p72"/>
          <p:cNvSpPr/>
          <p:nvPr/>
        </p:nvSpPr>
        <p:spPr>
          <a:xfrm>
            <a:off x="4578200" y="3932166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72" name="Google Shape;772;p72"/>
          <p:cNvSpPr/>
          <p:nvPr/>
        </p:nvSpPr>
        <p:spPr>
          <a:xfrm>
            <a:off x="6118421" y="3958532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73" name="Google Shape;773;p72"/>
          <p:cNvSpPr/>
          <p:nvPr/>
        </p:nvSpPr>
        <p:spPr>
          <a:xfrm>
            <a:off x="6743028" y="3958532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74" name="Google Shape;774;p72"/>
          <p:cNvSpPr/>
          <p:nvPr/>
        </p:nvSpPr>
        <p:spPr>
          <a:xfrm>
            <a:off x="8276689" y="3958532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75" name="Google Shape;775;p72"/>
          <p:cNvCxnSpPr>
            <a:stCxn id="767" idx="3"/>
            <a:endCxn id="771" idx="0"/>
          </p:cNvCxnSpPr>
          <p:nvPr/>
        </p:nvCxnSpPr>
        <p:spPr>
          <a:xfrm flipH="1">
            <a:off x="4836969" y="3343720"/>
            <a:ext cx="616800" cy="5883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72"/>
          <p:cNvCxnSpPr>
            <a:stCxn id="767" idx="5"/>
            <a:endCxn id="772" idx="0"/>
          </p:cNvCxnSpPr>
          <p:nvPr/>
        </p:nvCxnSpPr>
        <p:spPr>
          <a:xfrm>
            <a:off x="5819697" y="3343720"/>
            <a:ext cx="557400" cy="614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7" name="Google Shape;777;p72"/>
          <p:cNvCxnSpPr>
            <a:stCxn id="768" idx="3"/>
            <a:endCxn id="773" idx="0"/>
          </p:cNvCxnSpPr>
          <p:nvPr/>
        </p:nvCxnSpPr>
        <p:spPr>
          <a:xfrm flipH="1">
            <a:off x="7001796" y="3343720"/>
            <a:ext cx="489000" cy="6147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72"/>
          <p:cNvCxnSpPr>
            <a:stCxn id="768" idx="5"/>
            <a:endCxn id="774" idx="0"/>
          </p:cNvCxnSpPr>
          <p:nvPr/>
        </p:nvCxnSpPr>
        <p:spPr>
          <a:xfrm>
            <a:off x="7856724" y="3343720"/>
            <a:ext cx="678600" cy="614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72"/>
          <p:cNvSpPr/>
          <p:nvPr/>
        </p:nvSpPr>
        <p:spPr>
          <a:xfrm>
            <a:off x="2678999" y="2113837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80" name="Google Shape;780;p72"/>
          <p:cNvSpPr/>
          <p:nvPr/>
        </p:nvSpPr>
        <p:spPr>
          <a:xfrm>
            <a:off x="1651958" y="3009124"/>
            <a:ext cx="517500" cy="4647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81" name="Google Shape;781;p72"/>
          <p:cNvSpPr/>
          <p:nvPr/>
        </p:nvSpPr>
        <p:spPr>
          <a:xfrm>
            <a:off x="3688985" y="3009124"/>
            <a:ext cx="517500" cy="4647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82" name="Google Shape;782;p72"/>
          <p:cNvCxnSpPr>
            <a:stCxn id="779" idx="3"/>
            <a:endCxn id="780" idx="7"/>
          </p:cNvCxnSpPr>
          <p:nvPr/>
        </p:nvCxnSpPr>
        <p:spPr>
          <a:xfrm flipH="1">
            <a:off x="2093585" y="2510483"/>
            <a:ext cx="661200" cy="5667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72"/>
          <p:cNvCxnSpPr>
            <a:stCxn id="779" idx="5"/>
            <a:endCxn id="781" idx="1"/>
          </p:cNvCxnSpPr>
          <p:nvPr/>
        </p:nvCxnSpPr>
        <p:spPr>
          <a:xfrm>
            <a:off x="3120713" y="2510483"/>
            <a:ext cx="644100" cy="566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4" name="Google Shape;784;p72"/>
          <p:cNvSpPr/>
          <p:nvPr/>
        </p:nvSpPr>
        <p:spPr>
          <a:xfrm>
            <a:off x="349799" y="2113837"/>
            <a:ext cx="517500" cy="4647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85" name="Google Shape;785;p72"/>
          <p:cNvCxnSpPr>
            <a:stCxn id="761" idx="1"/>
            <a:endCxn id="784" idx="0"/>
          </p:cNvCxnSpPr>
          <p:nvPr/>
        </p:nvCxnSpPr>
        <p:spPr>
          <a:xfrm>
            <a:off x="608550" y="1681838"/>
            <a:ext cx="0" cy="4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86" name="Google Shape;786;p72"/>
          <p:cNvCxnSpPr>
            <a:stCxn id="762" idx="1"/>
            <a:endCxn id="779" idx="0"/>
          </p:cNvCxnSpPr>
          <p:nvPr/>
        </p:nvCxnSpPr>
        <p:spPr>
          <a:xfrm>
            <a:off x="2937750" y="1681838"/>
            <a:ext cx="0" cy="4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87" name="Google Shape;787;p72"/>
          <p:cNvCxnSpPr>
            <a:stCxn id="764" idx="1"/>
            <a:endCxn id="766" idx="0"/>
          </p:cNvCxnSpPr>
          <p:nvPr/>
        </p:nvCxnSpPr>
        <p:spPr>
          <a:xfrm>
            <a:off x="6663775" y="1681838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88" name="Google Shape;788;p72"/>
          <p:cNvSpPr/>
          <p:nvPr/>
        </p:nvSpPr>
        <p:spPr>
          <a:xfrm>
            <a:off x="551850" y="3905800"/>
            <a:ext cx="34149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baseline="30000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n-1 </a:t>
            </a:r>
            <a:r>
              <a:rPr baseline="30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builds where 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n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= number of changes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73"/>
          <p:cNvGrpSpPr/>
          <p:nvPr/>
        </p:nvGrpSpPr>
        <p:grpSpPr>
          <a:xfrm>
            <a:off x="571500" y="1524000"/>
            <a:ext cx="2476500" cy="1714500"/>
            <a:chOff x="0" y="0"/>
            <a:chExt cx="2476500" cy="1714500"/>
          </a:xfrm>
        </p:grpSpPr>
        <p:sp>
          <p:nvSpPr>
            <p:cNvPr id="793" name="Google Shape;793;p73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444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73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95" name="Google Shape;795;p73"/>
            <p:cNvSpPr txBox="1"/>
            <p:nvPr/>
          </p:nvSpPr>
          <p:spPr>
            <a:xfrm>
              <a:off x="190500" y="666750"/>
              <a:ext cx="209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Complexity Wall</a:t>
              </a:r>
              <a:endParaRPr b="1" sz="11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Testing every state requires </a:t>
              </a:r>
              <a:r>
                <a:rPr b="1" lang="en" sz="1530">
                  <a:solidFill>
                    <a:srgbClr val="F1C23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O(2ⁿ)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builds, making it </a:t>
              </a:r>
              <a:r>
                <a:rPr b="1" lang="en" sz="93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operationally infeasible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at Uber's scale.</a:t>
              </a:r>
              <a:endParaRPr b="0" sz="935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6" name="Google Shape;796;p73"/>
          <p:cNvGrpSpPr/>
          <p:nvPr/>
        </p:nvGrpSpPr>
        <p:grpSpPr>
          <a:xfrm>
            <a:off x="3333750" y="1524000"/>
            <a:ext cx="2476500" cy="1714500"/>
            <a:chOff x="0" y="0"/>
            <a:chExt cx="2476500" cy="1714500"/>
          </a:xfrm>
        </p:grpSpPr>
        <p:sp>
          <p:nvSpPr>
            <p:cNvPr id="797" name="Google Shape;797;p73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444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73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money_off</a:t>
              </a:r>
              <a:endParaRPr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99" name="Google Shape;799;p73"/>
            <p:cNvSpPr txBox="1"/>
            <p:nvPr/>
          </p:nvSpPr>
          <p:spPr>
            <a:xfrm>
              <a:off x="190500" y="666750"/>
              <a:ext cx="209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Resource Waste</a:t>
              </a:r>
              <a:endParaRPr b="1" sz="11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CI resources are limited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and expensive. Most speculative paths are discarded, wasting massive compute.</a:t>
              </a:r>
              <a:endParaRPr b="0" sz="935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0" name="Google Shape;800;p73"/>
          <p:cNvSpPr txBox="1"/>
          <p:nvPr/>
        </p:nvSpPr>
        <p:spPr>
          <a:xfrm>
            <a:off x="571500" y="940386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Speculative testing hits a wall as codebase complexity increases</a:t>
            </a:r>
            <a:endParaRPr sz="16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grpSp>
        <p:nvGrpSpPr>
          <p:cNvPr id="801" name="Google Shape;801;p73"/>
          <p:cNvGrpSpPr/>
          <p:nvPr/>
        </p:nvGrpSpPr>
        <p:grpSpPr>
          <a:xfrm>
            <a:off x="6096000" y="1524000"/>
            <a:ext cx="2476500" cy="1714500"/>
            <a:chOff x="0" y="0"/>
            <a:chExt cx="2476500" cy="1714500"/>
          </a:xfrm>
        </p:grpSpPr>
        <p:sp>
          <p:nvSpPr>
            <p:cNvPr id="802" name="Google Shape;802;p73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444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73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timer_off</a:t>
              </a:r>
              <a:endParaRPr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04" name="Google Shape;804;p73"/>
            <p:cNvSpPr txBox="1"/>
            <p:nvPr/>
          </p:nvSpPr>
          <p:spPr>
            <a:xfrm>
              <a:off x="190500" y="666750"/>
              <a:ext cx="209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Velocity Drag</a:t>
              </a:r>
              <a:endParaRPr b="1" sz="11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Current methods are </a:t>
              </a:r>
              <a:r>
                <a:rPr b="1" lang="en" sz="93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too slow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for large codebases with continuous, high-frequency changes.</a:t>
              </a:r>
              <a:endParaRPr b="0" sz="935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5" name="Google Shape;805;p7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Scale Challenge: Exponential Build Growth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06" name="Google Shape;806;p73"/>
          <p:cNvSpPr/>
          <p:nvPr/>
        </p:nvSpPr>
        <p:spPr>
          <a:xfrm>
            <a:off x="2860500" y="3855850"/>
            <a:ext cx="30327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How do we solve this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 problem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?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07" name="Google Shape;80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Optimization-1: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Pruning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13" name="Google Shape;81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4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15" name="Google Shape;815;p74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16" name="Google Shape;816;p74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17" name="Google Shape;817;p74"/>
          <p:cNvCxnSpPr>
            <a:stCxn id="814" idx="3"/>
            <a:endCxn id="815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8" name="Google Shape;818;p74"/>
          <p:cNvCxnSpPr>
            <a:stCxn id="814" idx="5"/>
            <a:endCxn id="816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9" name="Google Shape;819;p74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820" name="Google Shape;820;p74"/>
          <p:cNvCxnSpPr>
            <a:stCxn id="821" idx="0"/>
            <a:endCxn id="822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23" name="Google Shape;823;p74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24" name="Google Shape;824;p74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25" name="Google Shape;825;p74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26" name="Google Shape;826;p74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27" name="Google Shape;827;p74"/>
          <p:cNvCxnSpPr>
            <a:stCxn id="815" idx="3"/>
            <a:endCxn id="823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8" name="Google Shape;828;p74"/>
          <p:cNvCxnSpPr>
            <a:stCxn id="815" idx="5"/>
            <a:endCxn id="824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74"/>
          <p:cNvCxnSpPr>
            <a:stCxn id="816" idx="3"/>
            <a:endCxn id="825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74"/>
          <p:cNvCxnSpPr>
            <a:stCxn id="816" idx="5"/>
            <a:endCxn id="826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74"/>
          <p:cNvCxnSpPr>
            <a:stCxn id="822" idx="0"/>
            <a:endCxn id="832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33" name="Google Shape;833;p74"/>
          <p:cNvSpPr txBox="1"/>
          <p:nvPr/>
        </p:nvSpPr>
        <p:spPr>
          <a:xfrm>
            <a:off x="6112250" y="3162875"/>
            <a:ext cx="18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34" name="Google Shape;834;p74"/>
          <p:cNvSpPr txBox="1"/>
          <p:nvPr/>
        </p:nvSpPr>
        <p:spPr>
          <a:xfrm>
            <a:off x="4475875" y="2993525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35" name="Google Shape;835;p74"/>
          <p:cNvSpPr/>
          <p:nvPr/>
        </p:nvSpPr>
        <p:spPr>
          <a:xfrm rot="-5400000">
            <a:off x="2851656" y="3003525"/>
            <a:ext cx="147000" cy="3003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36" name="Google Shape;836;p74"/>
          <p:cNvSpPr txBox="1"/>
          <p:nvPr/>
        </p:nvSpPr>
        <p:spPr>
          <a:xfrm>
            <a:off x="2496150" y="45758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Pruned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37" name="Google Shape;837;p74"/>
          <p:cNvCxnSpPr>
            <a:stCxn id="821" idx="1"/>
            <a:endCxn id="832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21" name="Google Shape;821;p74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22" name="Google Shape;822;p74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32" name="Google Shape;832;p74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38" name="Google Shape;838;p74"/>
          <p:cNvSpPr txBox="1"/>
          <p:nvPr/>
        </p:nvSpPr>
        <p:spPr>
          <a:xfrm>
            <a:off x="3179850" y="1858688"/>
            <a:ext cx="102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39" name="Google Shape;839;p74"/>
          <p:cNvSpPr txBox="1"/>
          <p:nvPr/>
        </p:nvSpPr>
        <p:spPr>
          <a:xfrm>
            <a:off x="3087063" y="3145250"/>
            <a:ext cx="102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2,3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40" name="Google Shape;840;p74"/>
          <p:cNvSpPr txBox="1"/>
          <p:nvPr/>
        </p:nvSpPr>
        <p:spPr>
          <a:xfrm>
            <a:off x="1739613" y="3166525"/>
            <a:ext cx="102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41" name="Google Shape;841;p74"/>
          <p:cNvSpPr/>
          <p:nvPr/>
        </p:nvSpPr>
        <p:spPr>
          <a:xfrm>
            <a:off x="5262200" y="1088400"/>
            <a:ext cx="3587700" cy="699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Why continue to build when certain futures can no longer be true?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Optimization-1: Pruning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47" name="Google Shape;84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5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49" name="Google Shape;849;p75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50" name="Google Shape;850;p75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51" name="Google Shape;851;p75"/>
          <p:cNvCxnSpPr>
            <a:stCxn id="848" idx="3"/>
            <a:endCxn id="849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E11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75"/>
          <p:cNvCxnSpPr>
            <a:stCxn id="848" idx="5"/>
            <a:endCxn id="850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3" name="Google Shape;853;p75"/>
          <p:cNvSpPr txBox="1"/>
          <p:nvPr/>
        </p:nvSpPr>
        <p:spPr>
          <a:xfrm>
            <a:off x="4661500" y="1858675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854" name="Google Shape;854;p75"/>
          <p:cNvCxnSpPr>
            <a:stCxn id="855" idx="0"/>
            <a:endCxn id="856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7" name="Google Shape;857;p75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58" name="Google Shape;858;p75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59" name="Google Shape;859;p75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60" name="Google Shape;860;p75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61" name="Google Shape;861;p75"/>
          <p:cNvCxnSpPr>
            <a:stCxn id="849" idx="3"/>
            <a:endCxn id="857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E11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2" name="Google Shape;862;p75"/>
          <p:cNvCxnSpPr>
            <a:stCxn id="849" idx="5"/>
            <a:endCxn id="858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75"/>
          <p:cNvCxnSpPr>
            <a:stCxn id="850" idx="3"/>
            <a:endCxn id="859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4" name="Google Shape;864;p75"/>
          <p:cNvCxnSpPr>
            <a:stCxn id="850" idx="5"/>
            <a:endCxn id="860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5" name="Google Shape;865;p75"/>
          <p:cNvCxnSpPr>
            <a:stCxn id="856" idx="0"/>
            <a:endCxn id="866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67" name="Google Shape;867;p75"/>
          <p:cNvSpPr txBox="1"/>
          <p:nvPr/>
        </p:nvSpPr>
        <p:spPr>
          <a:xfrm>
            <a:off x="6066800" y="3041075"/>
            <a:ext cx="18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1,2,3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68" name="Google Shape;868;p75"/>
          <p:cNvSpPr txBox="1"/>
          <p:nvPr/>
        </p:nvSpPr>
        <p:spPr>
          <a:xfrm>
            <a:off x="4661500" y="3104050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1,3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69" name="Google Shape;869;p75"/>
          <p:cNvSpPr txBox="1"/>
          <p:nvPr/>
        </p:nvSpPr>
        <p:spPr>
          <a:xfrm>
            <a:off x="5590175" y="45758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Pruned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70" name="Google Shape;870;p75"/>
          <p:cNvCxnSpPr>
            <a:stCxn id="855" idx="1"/>
            <a:endCxn id="866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5" name="Google Shape;855;p75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56" name="Google Shape;856;p75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66" name="Google Shape;866;p75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71" name="Google Shape;871;p75"/>
          <p:cNvSpPr/>
          <p:nvPr/>
        </p:nvSpPr>
        <p:spPr>
          <a:xfrm rot="-5400000">
            <a:off x="5881244" y="3062025"/>
            <a:ext cx="147000" cy="2856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72" name="Google Shape;872;p75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73" name="Google Shape;873;p75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74" name="Google Shape;874;p75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6"/>
          <p:cNvSpPr txBox="1"/>
          <p:nvPr/>
        </p:nvSpPr>
        <p:spPr>
          <a:xfrm>
            <a:off x="571500" y="9048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Why assume every change depends on one another?</a:t>
            </a:r>
            <a:endParaRPr sz="16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79" name="Google Shape;87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14875"/>
            <a:ext cx="400200" cy="2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0" name="Google Shape;880;p76"/>
          <p:cNvGrpSpPr/>
          <p:nvPr/>
        </p:nvGrpSpPr>
        <p:grpSpPr>
          <a:xfrm>
            <a:off x="571500" y="1714500"/>
            <a:ext cx="8001000" cy="1333500"/>
            <a:chOff x="571500" y="1714500"/>
            <a:chExt cx="8001000" cy="1333500"/>
          </a:xfrm>
        </p:grpSpPr>
        <p:sp>
          <p:nvSpPr>
            <p:cNvPr id="881" name="Google Shape;881;p76"/>
            <p:cNvSpPr/>
            <p:nvPr/>
          </p:nvSpPr>
          <p:spPr>
            <a:xfrm>
              <a:off x="5715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76"/>
            <p:cNvSpPr txBox="1"/>
            <p:nvPr/>
          </p:nvSpPr>
          <p:spPr>
            <a:xfrm>
              <a:off x="7620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3" name="Google Shape;883;p76"/>
            <p:cNvSpPr txBox="1"/>
            <p:nvPr/>
          </p:nvSpPr>
          <p:spPr>
            <a:xfrm>
              <a:off x="7620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Change</a:t>
              </a: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 Identification</a:t>
              </a:r>
              <a:endParaRPr b="1" sz="1203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10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Isolate exactly which components are affected.</a:t>
              </a:r>
              <a:endParaRPr b="1" sz="1295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884" name="Google Shape;884;p76"/>
            <p:cNvSpPr/>
            <p:nvPr/>
          </p:nvSpPr>
          <p:spPr>
            <a:xfrm>
              <a:off x="333375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76"/>
            <p:cNvSpPr txBox="1"/>
            <p:nvPr/>
          </p:nvSpPr>
          <p:spPr>
            <a:xfrm>
              <a:off x="352425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6" name="Google Shape;886;p76"/>
            <p:cNvSpPr txBox="1"/>
            <p:nvPr/>
          </p:nvSpPr>
          <p:spPr>
            <a:xfrm>
              <a:off x="352425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Overlap Detection</a:t>
              </a:r>
              <a:endParaRPr b="1" sz="1203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10">
                  <a:solidFill>
                    <a:schemeClr val="dk1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Detect and manage simultaneous changes.</a:t>
              </a:r>
              <a:endParaRPr b="1" sz="1295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887" name="Google Shape;887;p76"/>
            <p:cNvSpPr/>
            <p:nvPr/>
          </p:nvSpPr>
          <p:spPr>
            <a:xfrm>
              <a:off x="60960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76"/>
            <p:cNvSpPr txBox="1"/>
            <p:nvPr/>
          </p:nvSpPr>
          <p:spPr>
            <a:xfrm>
              <a:off x="62865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auto_fix_high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9" name="Google Shape;889;p76"/>
            <p:cNvSpPr txBox="1"/>
            <p:nvPr/>
          </p:nvSpPr>
          <p:spPr>
            <a:xfrm>
              <a:off x="62865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Build Optimization</a:t>
              </a:r>
              <a:endParaRPr b="1" sz="1203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10">
                  <a:solidFill>
                    <a:schemeClr val="dk1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Avoid unnecessary work to save CI resources.</a:t>
              </a:r>
              <a:endParaRPr b="1" sz="1295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sp>
        <p:nvSpPr>
          <p:cNvPr id="890" name="Google Shape;890;p76"/>
          <p:cNvSpPr txBox="1"/>
          <p:nvPr/>
        </p:nvSpPr>
        <p:spPr>
          <a:xfrm>
            <a:off x="551850" y="116775"/>
            <a:ext cx="765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Optimization-2: Dependency Mapping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91" name="Google Shape;89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6"/>
          <p:cNvSpPr/>
          <p:nvPr/>
        </p:nvSpPr>
        <p:spPr>
          <a:xfrm>
            <a:off x="2860500" y="3855850"/>
            <a:ext cx="30327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Let’s understand with examples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77"/>
          <p:cNvGrpSpPr/>
          <p:nvPr/>
        </p:nvGrpSpPr>
        <p:grpSpPr>
          <a:xfrm>
            <a:off x="476250" y="1047750"/>
            <a:ext cx="3048000" cy="2952900"/>
            <a:chOff x="476250" y="1047750"/>
            <a:chExt cx="3048000" cy="2952900"/>
          </a:xfrm>
        </p:grpSpPr>
        <p:sp>
          <p:nvSpPr>
            <p:cNvPr id="897" name="Google Shape;897;p77"/>
            <p:cNvSpPr/>
            <p:nvPr/>
          </p:nvSpPr>
          <p:spPr>
            <a:xfrm>
              <a:off x="476250" y="1047750"/>
              <a:ext cx="571500" cy="228600"/>
            </a:xfrm>
            <a:prstGeom prst="roundRect">
              <a:avLst>
                <a:gd fmla="val 16666" name="adj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77"/>
            <p:cNvSpPr txBox="1"/>
            <p:nvPr/>
          </p:nvSpPr>
          <p:spPr>
            <a:xfrm>
              <a:off x="476250" y="1047750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REPO</a:t>
              </a:r>
              <a:endParaRPr b="1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9" name="Google Shape;899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2475" y="1276350"/>
              <a:ext cx="19200" cy="2724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0" name="Google Shape;900;p77"/>
            <p:cNvGrpSpPr/>
            <p:nvPr/>
          </p:nvGrpSpPr>
          <p:grpSpPr>
            <a:xfrm>
              <a:off x="762000" y="1695450"/>
              <a:ext cx="2762250" cy="238200"/>
              <a:chOff x="762000" y="1695450"/>
              <a:chExt cx="2762250" cy="238200"/>
            </a:xfrm>
          </p:grpSpPr>
          <p:pic>
            <p:nvPicPr>
              <p:cNvPr id="901" name="Google Shape;901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18002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2" name="Google Shape;902;p77"/>
              <p:cNvSpPr txBox="1"/>
              <p:nvPr/>
            </p:nvSpPr>
            <p:spPr>
              <a:xfrm>
                <a:off x="1238250" y="16954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src/org/group/service1/…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  <p:grpSp>
          <p:nvGrpSpPr>
            <p:cNvPr id="903" name="Google Shape;903;p77"/>
            <p:cNvGrpSpPr/>
            <p:nvPr/>
          </p:nvGrpSpPr>
          <p:grpSpPr>
            <a:xfrm>
              <a:off x="762000" y="2266950"/>
              <a:ext cx="2762250" cy="238200"/>
              <a:chOff x="762000" y="2266950"/>
              <a:chExt cx="2762250" cy="238200"/>
            </a:xfrm>
          </p:grpSpPr>
          <p:pic>
            <p:nvPicPr>
              <p:cNvPr id="904" name="Google Shape;904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23717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5" name="Google Shape;905;p77"/>
              <p:cNvSpPr txBox="1"/>
              <p:nvPr/>
            </p:nvSpPr>
            <p:spPr>
              <a:xfrm>
                <a:off x="1238250" y="22669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src/org/group/service2/…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  <p:grpSp>
          <p:nvGrpSpPr>
            <p:cNvPr id="906" name="Google Shape;906;p77"/>
            <p:cNvGrpSpPr/>
            <p:nvPr/>
          </p:nvGrpSpPr>
          <p:grpSpPr>
            <a:xfrm>
              <a:off x="762000" y="2838450"/>
              <a:ext cx="2762250" cy="238200"/>
              <a:chOff x="762000" y="2838450"/>
              <a:chExt cx="2762250" cy="238200"/>
            </a:xfrm>
          </p:grpSpPr>
          <p:pic>
            <p:nvPicPr>
              <p:cNvPr id="907" name="Google Shape;907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29432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8" name="Google Shape;908;p77"/>
              <p:cNvSpPr txBox="1"/>
              <p:nvPr/>
            </p:nvSpPr>
            <p:spPr>
              <a:xfrm>
                <a:off x="1238250" y="28384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src/org/group/common/lib/…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  <p:grpSp>
          <p:nvGrpSpPr>
            <p:cNvPr id="909" name="Google Shape;909;p77"/>
            <p:cNvGrpSpPr/>
            <p:nvPr/>
          </p:nvGrpSpPr>
          <p:grpSpPr>
            <a:xfrm>
              <a:off x="762000" y="3409950"/>
              <a:ext cx="2762250" cy="238200"/>
              <a:chOff x="762000" y="3409950"/>
              <a:chExt cx="2762250" cy="238200"/>
            </a:xfrm>
          </p:grpSpPr>
          <p:pic>
            <p:nvPicPr>
              <p:cNvPr id="910" name="Google Shape;910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35147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" name="Google Shape;911;p77"/>
              <p:cNvSpPr txBox="1"/>
              <p:nvPr/>
            </p:nvSpPr>
            <p:spPr>
              <a:xfrm>
                <a:off x="1238250" y="34099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</p:grpSp>
      <p:grpSp>
        <p:nvGrpSpPr>
          <p:cNvPr id="912" name="Google Shape;912;p77"/>
          <p:cNvGrpSpPr/>
          <p:nvPr/>
        </p:nvGrpSpPr>
        <p:grpSpPr>
          <a:xfrm>
            <a:off x="4000500" y="1809750"/>
            <a:ext cx="4667400" cy="2667000"/>
            <a:chOff x="4000500" y="1809750"/>
            <a:chExt cx="4667400" cy="2667000"/>
          </a:xfrm>
        </p:grpSpPr>
        <p:sp>
          <p:nvSpPr>
            <p:cNvPr id="913" name="Google Shape;913;p77"/>
            <p:cNvSpPr/>
            <p:nvPr/>
          </p:nvSpPr>
          <p:spPr>
            <a:xfrm>
              <a:off x="4000500" y="1809750"/>
              <a:ext cx="4667400" cy="2667000"/>
            </a:xfrm>
            <a:prstGeom prst="roundRect">
              <a:avLst>
                <a:gd fmla="val 4285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77"/>
            <p:cNvSpPr txBox="1"/>
            <p:nvPr/>
          </p:nvSpPr>
          <p:spPr>
            <a:xfrm>
              <a:off x="4000500" y="19526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BUILD </a:t>
              </a: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TARGET DEPENDENCY GRAPH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77"/>
            <p:cNvSpPr/>
            <p:nvPr/>
          </p:nvSpPr>
          <p:spPr>
            <a:xfrm>
              <a:off x="4381500" y="2809875"/>
              <a:ext cx="762000" cy="476400"/>
            </a:xfrm>
            <a:prstGeom prst="roundRect">
              <a:avLst>
                <a:gd fmla="val 8000" name="adj"/>
              </a:avLst>
            </a:prstGeom>
            <a:solidFill>
              <a:srgbClr val="FFECD1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77"/>
            <p:cNvSpPr txBox="1"/>
            <p:nvPr/>
          </p:nvSpPr>
          <p:spPr>
            <a:xfrm>
              <a:off x="4381500" y="2809875"/>
              <a:ext cx="76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lib</a:t>
              </a:r>
              <a:endPara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77"/>
            <p:cNvSpPr/>
            <p:nvPr/>
          </p:nvSpPr>
          <p:spPr>
            <a:xfrm>
              <a:off x="7048500" y="2381250"/>
              <a:ext cx="952500" cy="476400"/>
            </a:xfrm>
            <a:prstGeom prst="roundRect">
              <a:avLst>
                <a:gd fmla="val 8000" name="adj"/>
              </a:avLst>
            </a:prstGeom>
            <a:solidFill>
              <a:srgbClr val="FFECD1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77"/>
            <p:cNvSpPr txBox="1"/>
            <p:nvPr/>
          </p:nvSpPr>
          <p:spPr>
            <a:xfrm>
              <a:off x="7048500" y="2381250"/>
              <a:ext cx="95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service1</a:t>
              </a:r>
              <a:endPara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77"/>
            <p:cNvSpPr/>
            <p:nvPr/>
          </p:nvSpPr>
          <p:spPr>
            <a:xfrm>
              <a:off x="7048500" y="3238500"/>
              <a:ext cx="952500" cy="476400"/>
            </a:xfrm>
            <a:prstGeom prst="roundRect">
              <a:avLst>
                <a:gd fmla="val 8000" name="adj"/>
              </a:avLst>
            </a:prstGeom>
            <a:solidFill>
              <a:srgbClr val="FFECD1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77"/>
            <p:cNvSpPr txBox="1"/>
            <p:nvPr/>
          </p:nvSpPr>
          <p:spPr>
            <a:xfrm>
              <a:off x="7048500" y="3238500"/>
              <a:ext cx="95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service2</a:t>
              </a:r>
              <a:endPara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1" name="Google Shape;921;p7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8738" y="2605088"/>
              <a:ext cx="1814400" cy="35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2" name="Google Shape;922;p7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8738" y="3138488"/>
              <a:ext cx="1814400" cy="3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77"/>
            <p:cNvSpPr txBox="1"/>
            <p:nvPr/>
          </p:nvSpPr>
          <p:spPr>
            <a:xfrm>
              <a:off x="5334000" y="2428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99999"/>
                  </a:solidFill>
                  <a:latin typeface="Barlow"/>
                  <a:ea typeface="Barlow"/>
                  <a:cs typeface="Barlow"/>
                  <a:sym typeface="Barlow"/>
                </a:rPr>
                <a:t>Required by</a:t>
              </a:r>
              <a:endParaRPr sz="1000">
                <a:solidFill>
                  <a:srgbClr val="999999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924" name="Google Shape;924;p77"/>
          <p:cNvSpPr/>
          <p:nvPr/>
        </p:nvSpPr>
        <p:spPr>
          <a:xfrm>
            <a:off x="4111696" y="1140000"/>
            <a:ext cx="45123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Assumption </a:t>
            </a:r>
            <a:r>
              <a:rPr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≠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Every change depends on each other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925" name="Google Shape;925;p77"/>
          <p:cNvSpPr txBox="1"/>
          <p:nvPr/>
        </p:nvSpPr>
        <p:spPr>
          <a:xfrm>
            <a:off x="5357825" y="3343626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Barlow"/>
                <a:ea typeface="Barlow"/>
                <a:cs typeface="Barlow"/>
                <a:sym typeface="Barlow"/>
              </a:rPr>
              <a:t>Required by</a:t>
            </a:r>
            <a:endParaRPr sz="1000">
              <a:solidFill>
                <a:srgbClr val="99999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926" name="Google Shape;926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7"/>
          <p:cNvSpPr txBox="1"/>
          <p:nvPr/>
        </p:nvSpPr>
        <p:spPr>
          <a:xfrm>
            <a:off x="551850" y="116775"/>
            <a:ext cx="765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Optimization-2: </a:t>
            </a: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Dependency Mapping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Optimization-2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: </a:t>
            </a: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Dependency Mapping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933" name="Google Shape;93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8"/>
          <p:cNvSpPr/>
          <p:nvPr/>
        </p:nvSpPr>
        <p:spPr>
          <a:xfrm>
            <a:off x="1460500" y="12901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5" name="Google Shape;935;p78"/>
          <p:cNvSpPr/>
          <p:nvPr/>
        </p:nvSpPr>
        <p:spPr>
          <a:xfrm>
            <a:off x="1460500" y="23068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6" name="Google Shape;936;p78"/>
          <p:cNvSpPr/>
          <p:nvPr/>
        </p:nvSpPr>
        <p:spPr>
          <a:xfrm>
            <a:off x="1460500" y="33235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7" name="Google Shape;937;p78"/>
          <p:cNvSpPr/>
          <p:nvPr/>
        </p:nvSpPr>
        <p:spPr>
          <a:xfrm>
            <a:off x="3694625" y="12901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a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8" name="Google Shape;938;p78"/>
          <p:cNvSpPr/>
          <p:nvPr/>
        </p:nvSpPr>
        <p:spPr>
          <a:xfrm>
            <a:off x="3694625" y="23068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9" name="Google Shape;939;p78"/>
          <p:cNvSpPr/>
          <p:nvPr/>
        </p:nvSpPr>
        <p:spPr>
          <a:xfrm>
            <a:off x="3694625" y="33235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40" name="Google Shape;940;p78"/>
          <p:cNvCxnSpPr>
            <a:stCxn id="934" idx="0"/>
            <a:endCxn id="937" idx="2"/>
          </p:cNvCxnSpPr>
          <p:nvPr/>
        </p:nvCxnSpPr>
        <p:spPr>
          <a:xfrm>
            <a:off x="2107000" y="16134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78"/>
          <p:cNvCxnSpPr>
            <a:stCxn id="935" idx="0"/>
            <a:endCxn id="938" idx="2"/>
          </p:cNvCxnSpPr>
          <p:nvPr/>
        </p:nvCxnSpPr>
        <p:spPr>
          <a:xfrm>
            <a:off x="2107000" y="26301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78"/>
          <p:cNvCxnSpPr>
            <a:stCxn id="936" idx="0"/>
            <a:endCxn id="939" idx="2"/>
          </p:cNvCxnSpPr>
          <p:nvPr/>
        </p:nvCxnSpPr>
        <p:spPr>
          <a:xfrm>
            <a:off x="2107000" y="36468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78"/>
          <p:cNvCxnSpPr>
            <a:stCxn id="936" idx="0"/>
            <a:endCxn id="938" idx="3"/>
          </p:cNvCxnSpPr>
          <p:nvPr/>
        </p:nvCxnSpPr>
        <p:spPr>
          <a:xfrm flipH="1" rot="10800000">
            <a:off x="2107000" y="2858722"/>
            <a:ext cx="1692900" cy="7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44" name="Google Shape;944;p78"/>
          <p:cNvSpPr txBox="1"/>
          <p:nvPr/>
        </p:nvSpPr>
        <p:spPr>
          <a:xfrm>
            <a:off x="2513325" y="12901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45" name="Google Shape;945;p78"/>
          <p:cNvSpPr txBox="1"/>
          <p:nvPr/>
        </p:nvSpPr>
        <p:spPr>
          <a:xfrm>
            <a:off x="2540963" y="23518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46" name="Google Shape;946;p78"/>
          <p:cNvSpPr txBox="1"/>
          <p:nvPr/>
        </p:nvSpPr>
        <p:spPr>
          <a:xfrm>
            <a:off x="2593588" y="33195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47" name="Google Shape;947;p78"/>
          <p:cNvSpPr/>
          <p:nvPr/>
        </p:nvSpPr>
        <p:spPr>
          <a:xfrm>
            <a:off x="5487750" y="12901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48" name="Google Shape;948;p78"/>
          <p:cNvSpPr/>
          <p:nvPr/>
        </p:nvSpPr>
        <p:spPr>
          <a:xfrm>
            <a:off x="5487750" y="23068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49" name="Google Shape;949;p78"/>
          <p:cNvSpPr/>
          <p:nvPr/>
        </p:nvSpPr>
        <p:spPr>
          <a:xfrm>
            <a:off x="5487750" y="33235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50" name="Google Shape;950;p78"/>
          <p:cNvSpPr/>
          <p:nvPr/>
        </p:nvSpPr>
        <p:spPr>
          <a:xfrm>
            <a:off x="7013175" y="40563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51" name="Google Shape;951;p78"/>
          <p:cNvSpPr/>
          <p:nvPr/>
        </p:nvSpPr>
        <p:spPr>
          <a:xfrm>
            <a:off x="7013175" y="25717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52" name="Google Shape;952;p78"/>
          <p:cNvCxnSpPr>
            <a:stCxn id="949" idx="5"/>
            <a:endCxn id="950" idx="2"/>
          </p:cNvCxnSpPr>
          <p:nvPr/>
        </p:nvCxnSpPr>
        <p:spPr>
          <a:xfrm>
            <a:off x="6102052" y="3875395"/>
            <a:ext cx="911100" cy="50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78"/>
          <p:cNvCxnSpPr>
            <a:stCxn id="949" idx="7"/>
            <a:endCxn id="951" idx="2"/>
          </p:cNvCxnSpPr>
          <p:nvPr/>
        </p:nvCxnSpPr>
        <p:spPr>
          <a:xfrm flipH="1" rot="10800000">
            <a:off x="6102052" y="2895050"/>
            <a:ext cx="911100" cy="5232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4" name="Google Shape;954;p78"/>
          <p:cNvCxnSpPr>
            <a:stCxn id="937" idx="6"/>
            <a:endCxn id="947" idx="2"/>
          </p:cNvCxnSpPr>
          <p:nvPr/>
        </p:nvCxnSpPr>
        <p:spPr>
          <a:xfrm>
            <a:off x="4414325" y="16134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55" name="Google Shape;955;p78"/>
          <p:cNvCxnSpPr>
            <a:stCxn id="938" idx="6"/>
            <a:endCxn id="948" idx="2"/>
          </p:cNvCxnSpPr>
          <p:nvPr/>
        </p:nvCxnSpPr>
        <p:spPr>
          <a:xfrm>
            <a:off x="4414325" y="26301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56" name="Google Shape;956;p78"/>
          <p:cNvCxnSpPr>
            <a:stCxn id="939" idx="6"/>
            <a:endCxn id="949" idx="2"/>
          </p:cNvCxnSpPr>
          <p:nvPr/>
        </p:nvCxnSpPr>
        <p:spPr>
          <a:xfrm>
            <a:off x="4414325" y="36468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57" name="Google Shape;957;p78"/>
          <p:cNvSpPr txBox="1"/>
          <p:nvPr/>
        </p:nvSpPr>
        <p:spPr>
          <a:xfrm>
            <a:off x="5910102" y="3101794"/>
            <a:ext cx="172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958" name="Google Shape;958;p78"/>
          <p:cNvSpPr txBox="1"/>
          <p:nvPr/>
        </p:nvSpPr>
        <p:spPr>
          <a:xfrm>
            <a:off x="6046941" y="3781914"/>
            <a:ext cx="14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959" name="Google Shape;959;p78"/>
          <p:cNvSpPr txBox="1"/>
          <p:nvPr/>
        </p:nvSpPr>
        <p:spPr>
          <a:xfrm>
            <a:off x="1154350" y="938910"/>
            <a:ext cx="124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Changes/Commits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0" name="Google Shape;960;p78"/>
          <p:cNvSpPr txBox="1"/>
          <p:nvPr/>
        </p:nvSpPr>
        <p:spPr>
          <a:xfrm>
            <a:off x="3584525" y="985660"/>
            <a:ext cx="9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 Targets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1" name="Google Shape;961;p78"/>
          <p:cNvSpPr txBox="1"/>
          <p:nvPr/>
        </p:nvSpPr>
        <p:spPr>
          <a:xfrm>
            <a:off x="5280000" y="974335"/>
            <a:ext cx="11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Speculation Tree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Optimization-2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: </a:t>
            </a: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Dependency Mapping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967" name="Google Shape;96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9"/>
          <p:cNvSpPr/>
          <p:nvPr/>
        </p:nvSpPr>
        <p:spPr>
          <a:xfrm>
            <a:off x="1460500" y="12901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69" name="Google Shape;969;p79"/>
          <p:cNvSpPr/>
          <p:nvPr/>
        </p:nvSpPr>
        <p:spPr>
          <a:xfrm>
            <a:off x="1460500" y="23068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0" name="Google Shape;970;p79"/>
          <p:cNvSpPr/>
          <p:nvPr/>
        </p:nvSpPr>
        <p:spPr>
          <a:xfrm>
            <a:off x="1460500" y="33235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1" name="Google Shape;971;p79"/>
          <p:cNvSpPr/>
          <p:nvPr/>
        </p:nvSpPr>
        <p:spPr>
          <a:xfrm>
            <a:off x="3694625" y="12901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a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2" name="Google Shape;972;p79"/>
          <p:cNvSpPr/>
          <p:nvPr/>
        </p:nvSpPr>
        <p:spPr>
          <a:xfrm>
            <a:off x="3694625" y="23068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3" name="Google Shape;973;p79"/>
          <p:cNvSpPr/>
          <p:nvPr/>
        </p:nvSpPr>
        <p:spPr>
          <a:xfrm>
            <a:off x="3694625" y="33235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74" name="Google Shape;974;p79"/>
          <p:cNvCxnSpPr>
            <a:stCxn id="968" idx="0"/>
            <a:endCxn id="971" idx="2"/>
          </p:cNvCxnSpPr>
          <p:nvPr/>
        </p:nvCxnSpPr>
        <p:spPr>
          <a:xfrm>
            <a:off x="2107000" y="16134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79"/>
          <p:cNvCxnSpPr>
            <a:stCxn id="969" idx="0"/>
            <a:endCxn id="972" idx="2"/>
          </p:cNvCxnSpPr>
          <p:nvPr/>
        </p:nvCxnSpPr>
        <p:spPr>
          <a:xfrm>
            <a:off x="2107000" y="26301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79"/>
          <p:cNvCxnSpPr>
            <a:stCxn id="970" idx="0"/>
            <a:endCxn id="973" idx="2"/>
          </p:cNvCxnSpPr>
          <p:nvPr/>
        </p:nvCxnSpPr>
        <p:spPr>
          <a:xfrm>
            <a:off x="2107000" y="36468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77" name="Google Shape;977;p79"/>
          <p:cNvCxnSpPr>
            <a:stCxn id="970" idx="0"/>
            <a:endCxn id="971" idx="4"/>
          </p:cNvCxnSpPr>
          <p:nvPr/>
        </p:nvCxnSpPr>
        <p:spPr>
          <a:xfrm flipH="1" rot="10800000">
            <a:off x="2107000" y="1936522"/>
            <a:ext cx="1947600" cy="171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78" name="Google Shape;978;p79"/>
          <p:cNvSpPr txBox="1"/>
          <p:nvPr/>
        </p:nvSpPr>
        <p:spPr>
          <a:xfrm>
            <a:off x="2513325" y="12901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79" name="Google Shape;979;p79"/>
          <p:cNvSpPr txBox="1"/>
          <p:nvPr/>
        </p:nvSpPr>
        <p:spPr>
          <a:xfrm>
            <a:off x="2540963" y="23518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80" name="Google Shape;980;p79"/>
          <p:cNvSpPr txBox="1"/>
          <p:nvPr/>
        </p:nvSpPr>
        <p:spPr>
          <a:xfrm>
            <a:off x="2593588" y="33195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81" name="Google Shape;981;p79"/>
          <p:cNvSpPr/>
          <p:nvPr/>
        </p:nvSpPr>
        <p:spPr>
          <a:xfrm>
            <a:off x="5487750" y="12901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2" name="Google Shape;982;p79"/>
          <p:cNvSpPr/>
          <p:nvPr/>
        </p:nvSpPr>
        <p:spPr>
          <a:xfrm>
            <a:off x="5487750" y="23068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3" name="Google Shape;983;p79"/>
          <p:cNvSpPr/>
          <p:nvPr/>
        </p:nvSpPr>
        <p:spPr>
          <a:xfrm>
            <a:off x="5487750" y="33235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4" name="Google Shape;984;p79"/>
          <p:cNvSpPr/>
          <p:nvPr/>
        </p:nvSpPr>
        <p:spPr>
          <a:xfrm>
            <a:off x="7013175" y="38690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5" name="Google Shape;985;p79"/>
          <p:cNvSpPr/>
          <p:nvPr/>
        </p:nvSpPr>
        <p:spPr>
          <a:xfrm>
            <a:off x="7013175" y="317223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86" name="Google Shape;986;p79"/>
          <p:cNvCxnSpPr>
            <a:stCxn id="983" idx="6"/>
            <a:endCxn id="984" idx="2"/>
          </p:cNvCxnSpPr>
          <p:nvPr/>
        </p:nvCxnSpPr>
        <p:spPr>
          <a:xfrm>
            <a:off x="6207450" y="3646822"/>
            <a:ext cx="805800" cy="54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79"/>
          <p:cNvCxnSpPr>
            <a:stCxn id="983" idx="6"/>
            <a:endCxn id="985" idx="2"/>
          </p:cNvCxnSpPr>
          <p:nvPr/>
        </p:nvCxnSpPr>
        <p:spPr>
          <a:xfrm flipH="1" rot="10800000">
            <a:off x="6207450" y="3495622"/>
            <a:ext cx="805800" cy="1512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79"/>
          <p:cNvCxnSpPr>
            <a:stCxn id="971" idx="6"/>
            <a:endCxn id="981" idx="2"/>
          </p:cNvCxnSpPr>
          <p:nvPr/>
        </p:nvCxnSpPr>
        <p:spPr>
          <a:xfrm>
            <a:off x="4414325" y="16134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89" name="Google Shape;989;p79"/>
          <p:cNvCxnSpPr>
            <a:stCxn id="972" idx="6"/>
            <a:endCxn id="982" idx="2"/>
          </p:cNvCxnSpPr>
          <p:nvPr/>
        </p:nvCxnSpPr>
        <p:spPr>
          <a:xfrm>
            <a:off x="4414325" y="26301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90" name="Google Shape;990;p79"/>
          <p:cNvCxnSpPr>
            <a:stCxn id="973" idx="6"/>
            <a:endCxn id="983" idx="2"/>
          </p:cNvCxnSpPr>
          <p:nvPr/>
        </p:nvCxnSpPr>
        <p:spPr>
          <a:xfrm>
            <a:off x="4414325" y="36468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91" name="Google Shape;991;p79"/>
          <p:cNvSpPr txBox="1"/>
          <p:nvPr/>
        </p:nvSpPr>
        <p:spPr>
          <a:xfrm>
            <a:off x="1154350" y="938910"/>
            <a:ext cx="124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Changes/Commits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2" name="Google Shape;992;p79"/>
          <p:cNvSpPr txBox="1"/>
          <p:nvPr/>
        </p:nvSpPr>
        <p:spPr>
          <a:xfrm>
            <a:off x="3584525" y="985660"/>
            <a:ext cx="9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 Targets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3" name="Google Shape;993;p79"/>
          <p:cNvSpPr txBox="1"/>
          <p:nvPr/>
        </p:nvSpPr>
        <p:spPr>
          <a:xfrm>
            <a:off x="5280000" y="974335"/>
            <a:ext cx="11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Speculation Tree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994" name="Google Shape;994;p79"/>
          <p:cNvCxnSpPr>
            <a:stCxn id="969" idx="0"/>
            <a:endCxn id="971" idx="3"/>
          </p:cNvCxnSpPr>
          <p:nvPr/>
        </p:nvCxnSpPr>
        <p:spPr>
          <a:xfrm flipH="1" rot="10800000">
            <a:off x="2107000" y="1842022"/>
            <a:ext cx="1692900" cy="7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95" name="Google Shape;995;p79"/>
          <p:cNvSpPr/>
          <p:nvPr/>
        </p:nvSpPr>
        <p:spPr>
          <a:xfrm>
            <a:off x="7013175" y="173063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96" name="Google Shape;996;p79"/>
          <p:cNvCxnSpPr>
            <a:stCxn id="982" idx="6"/>
            <a:endCxn id="995" idx="2"/>
          </p:cNvCxnSpPr>
          <p:nvPr/>
        </p:nvCxnSpPr>
        <p:spPr>
          <a:xfrm flipH="1" rot="10800000">
            <a:off x="6207450" y="2053822"/>
            <a:ext cx="805800" cy="576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7" name="Google Shape;997;p79"/>
          <p:cNvSpPr/>
          <p:nvPr/>
        </p:nvSpPr>
        <p:spPr>
          <a:xfrm>
            <a:off x="7013175" y="24514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98" name="Google Shape;998;p79"/>
          <p:cNvCxnSpPr>
            <a:stCxn id="982" idx="6"/>
            <a:endCxn id="997" idx="2"/>
          </p:cNvCxnSpPr>
          <p:nvPr/>
        </p:nvCxnSpPr>
        <p:spPr>
          <a:xfrm>
            <a:off x="6207450" y="2630122"/>
            <a:ext cx="805800" cy="14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8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Optimization-3: Probabilistic Speculation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04" name="Google Shape;100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80"/>
          <p:cNvSpPr txBox="1"/>
          <p:nvPr/>
        </p:nvSpPr>
        <p:spPr>
          <a:xfrm>
            <a:off x="571500" y="10380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Bet CI resources on builds most likely to succeed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grpSp>
        <p:nvGrpSpPr>
          <p:cNvPr id="1006" name="Google Shape;1006;p80"/>
          <p:cNvGrpSpPr/>
          <p:nvPr/>
        </p:nvGrpSpPr>
        <p:grpSpPr>
          <a:xfrm>
            <a:off x="571500" y="1714500"/>
            <a:ext cx="8001000" cy="1333500"/>
            <a:chOff x="571500" y="1714500"/>
            <a:chExt cx="8001000" cy="1333500"/>
          </a:xfrm>
        </p:grpSpPr>
        <p:sp>
          <p:nvSpPr>
            <p:cNvPr id="1007" name="Google Shape;1007;p80"/>
            <p:cNvSpPr/>
            <p:nvPr/>
          </p:nvSpPr>
          <p:spPr>
            <a:xfrm>
              <a:off x="5715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80"/>
            <p:cNvSpPr txBox="1"/>
            <p:nvPr/>
          </p:nvSpPr>
          <p:spPr>
            <a:xfrm>
              <a:off x="7620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D85C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09" name="Google Shape;1009;p80"/>
            <p:cNvSpPr txBox="1"/>
            <p:nvPr/>
          </p:nvSpPr>
          <p:spPr>
            <a:xfrm>
              <a:off x="7620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Predict Probability</a:t>
              </a:r>
              <a:endParaRPr b="1" sz="1295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"/>
                  <a:ea typeface="Uber Move"/>
                  <a:cs typeface="Uber Move"/>
                  <a:sym typeface="Uber Move"/>
                </a:rPr>
                <a:t>Quantify success likelihood for every potential build state.</a:t>
              </a:r>
              <a:endParaRPr sz="1018">
                <a:solidFill>
                  <a:srgbClr val="CCCCCC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010" name="Google Shape;1010;p80"/>
            <p:cNvSpPr/>
            <p:nvPr/>
          </p:nvSpPr>
          <p:spPr>
            <a:xfrm>
              <a:off x="333375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80"/>
            <p:cNvSpPr txBox="1"/>
            <p:nvPr/>
          </p:nvSpPr>
          <p:spPr>
            <a:xfrm>
              <a:off x="352425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D85C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12" name="Google Shape;1012;p80"/>
            <p:cNvSpPr txBox="1"/>
            <p:nvPr/>
          </p:nvSpPr>
          <p:spPr>
            <a:xfrm>
              <a:off x="352425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Prioritize Outcomes</a:t>
              </a:r>
              <a:endParaRPr b="1" sz="1295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"/>
                  <a:ea typeface="Uber Move"/>
                  <a:cs typeface="Uber Move"/>
                  <a:sym typeface="Uber Move"/>
                </a:rPr>
                <a:t>Focus resources on branches most likely to reach the mainline.</a:t>
              </a:r>
              <a:endParaRPr sz="1018">
                <a:solidFill>
                  <a:srgbClr val="CCCCCC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013" name="Google Shape;1013;p80"/>
            <p:cNvSpPr/>
            <p:nvPr/>
          </p:nvSpPr>
          <p:spPr>
            <a:xfrm>
              <a:off x="60960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80"/>
            <p:cNvSpPr txBox="1"/>
            <p:nvPr/>
          </p:nvSpPr>
          <p:spPr>
            <a:xfrm>
              <a:off x="62865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D85C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shutter_speed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15" name="Google Shape;1015;p80"/>
            <p:cNvSpPr txBox="1"/>
            <p:nvPr/>
          </p:nvSpPr>
          <p:spPr>
            <a:xfrm>
              <a:off x="62865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Reduce Wasted Builds</a:t>
              </a:r>
              <a:endParaRPr b="1" sz="1295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"/>
                  <a:ea typeface="Uber Move"/>
                  <a:cs typeface="Uber Move"/>
                  <a:sym typeface="Uber Move"/>
                </a:rPr>
                <a:t>Spawn builds for futures that are most needed.</a:t>
              </a:r>
              <a:endParaRPr sz="1018">
                <a:solidFill>
                  <a:srgbClr val="CCCCCC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sp>
        <p:nvSpPr>
          <p:cNvPr id="1016" name="Google Shape;1016;p80"/>
          <p:cNvSpPr/>
          <p:nvPr/>
        </p:nvSpPr>
        <p:spPr>
          <a:xfrm>
            <a:off x="2509950" y="3701425"/>
            <a:ext cx="4124100" cy="45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Uber Move"/>
                <a:ea typeface="Uber Move"/>
                <a:cs typeface="Uber Move"/>
                <a:sym typeface="Uber Move"/>
              </a:rPr>
              <a:t>Let's look at an example to understand?</a:t>
            </a:r>
            <a:endParaRPr b="1" sz="1500"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(C1)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22" name="Google Shape;102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81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mportance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25" name="Google Shape;1025;p81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26" name="Google Shape;1026;p81"/>
          <p:cNvSpPr txBox="1"/>
          <p:nvPr/>
        </p:nvSpPr>
        <p:spPr>
          <a:xfrm>
            <a:off x="3141850" y="1988175"/>
            <a:ext cx="2985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uccess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 = 1 -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ailure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</a:t>
            </a: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ailure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   = 1 -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uccess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0     ≤    </a:t>
            </a: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mportance(B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  ≤  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27" name="Google Shape;1027;p81"/>
          <p:cNvSpPr txBox="1"/>
          <p:nvPr/>
        </p:nvSpPr>
        <p:spPr>
          <a:xfrm>
            <a:off x="489800" y="771625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2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33" name="Google Shape;103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2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35" name="Google Shape;1035;p82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36" name="Google Shape;1036;p82"/>
          <p:cNvCxnSpPr>
            <a:stCxn id="1034" idx="3"/>
            <a:endCxn id="1035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7" name="Google Shape;1037;p82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38" name="Google Shape;1038;p82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39" name="Google Shape;1039;p82"/>
          <p:cNvCxnSpPr>
            <a:stCxn id="1037" idx="0"/>
            <a:endCxn id="1038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40" name="Google Shape;1040;p82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41" name="Google Shape;1041;p82"/>
          <p:cNvSpPr txBox="1"/>
          <p:nvPr/>
        </p:nvSpPr>
        <p:spPr>
          <a:xfrm>
            <a:off x="3158542" y="1696553"/>
            <a:ext cx="75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42" name="Google Shape;1042;p82"/>
          <p:cNvSpPr txBox="1"/>
          <p:nvPr/>
        </p:nvSpPr>
        <p:spPr>
          <a:xfrm>
            <a:off x="1230854" y="2442975"/>
            <a:ext cx="155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43" name="Google Shape;1043;p82"/>
          <p:cNvSpPr txBox="1"/>
          <p:nvPr/>
        </p:nvSpPr>
        <p:spPr>
          <a:xfrm>
            <a:off x="146355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044" name="Google Shape;1044;p82"/>
          <p:cNvSpPr txBox="1"/>
          <p:nvPr/>
        </p:nvSpPr>
        <p:spPr>
          <a:xfrm>
            <a:off x="48980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50" name="Google Shape;105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3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52" name="Google Shape;1052;p83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53" name="Google Shape;1053;p83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54" name="Google Shape;1054;p83"/>
          <p:cNvCxnSpPr>
            <a:stCxn id="1051" idx="3"/>
            <a:endCxn id="1052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83"/>
          <p:cNvCxnSpPr>
            <a:stCxn id="1051" idx="5"/>
            <a:endCxn id="1053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6" name="Google Shape;1056;p83"/>
          <p:cNvSpPr txBox="1"/>
          <p:nvPr/>
        </p:nvSpPr>
        <p:spPr>
          <a:xfrm>
            <a:off x="5006653" y="1696550"/>
            <a:ext cx="75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57" name="Google Shape;1057;p83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58" name="Google Shape;1058;p83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59" name="Google Shape;1059;p83"/>
          <p:cNvCxnSpPr>
            <a:stCxn id="1057" idx="0"/>
            <a:endCxn id="1058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60" name="Google Shape;1060;p83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61" name="Google Shape;1061;p83"/>
          <p:cNvSpPr txBox="1"/>
          <p:nvPr/>
        </p:nvSpPr>
        <p:spPr>
          <a:xfrm>
            <a:off x="6171825" y="2442975"/>
            <a:ext cx="235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62" name="Google Shape;1062;p83"/>
          <p:cNvSpPr txBox="1"/>
          <p:nvPr/>
        </p:nvSpPr>
        <p:spPr>
          <a:xfrm>
            <a:off x="3158542" y="1696553"/>
            <a:ext cx="75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63" name="Google Shape;1063;p83"/>
          <p:cNvSpPr txBox="1"/>
          <p:nvPr/>
        </p:nvSpPr>
        <p:spPr>
          <a:xfrm>
            <a:off x="1230854" y="2442975"/>
            <a:ext cx="155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64" name="Google Shape;1064;p83"/>
          <p:cNvSpPr txBox="1"/>
          <p:nvPr/>
        </p:nvSpPr>
        <p:spPr>
          <a:xfrm>
            <a:off x="146355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065" name="Google Shape;1065;p83"/>
          <p:cNvSpPr txBox="1"/>
          <p:nvPr/>
        </p:nvSpPr>
        <p:spPr>
          <a:xfrm>
            <a:off x="48980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71" name="Google Shape;107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4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73" name="Google Shape;1073;p84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74" name="Google Shape;1074;p84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75" name="Google Shape;1075;p84"/>
          <p:cNvCxnSpPr>
            <a:stCxn id="1072" idx="3"/>
            <a:endCxn id="1073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6" name="Google Shape;1076;p84"/>
          <p:cNvCxnSpPr>
            <a:stCxn id="1072" idx="5"/>
            <a:endCxn id="1074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7" name="Google Shape;1077;p84"/>
          <p:cNvCxnSpPr>
            <a:stCxn id="1078" idx="0"/>
            <a:endCxn id="1079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80" name="Google Shape;1080;p84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81" name="Google Shape;1081;p84"/>
          <p:cNvCxnSpPr>
            <a:stCxn id="1073" idx="3"/>
            <a:endCxn id="1080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2" name="Google Shape;1082;p84"/>
          <p:cNvCxnSpPr>
            <a:stCxn id="1079" idx="0"/>
            <a:endCxn id="1083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78" name="Google Shape;1078;p84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79" name="Google Shape;1079;p84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83" name="Google Shape;1083;p84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84" name="Google Shape;1084;p84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85" name="Google Shape;1085;p84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86" name="Google Shape;1086;p84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87" name="Google Shape;1087;p84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88" name="Google Shape;1088;p84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089" name="Google Shape;1089;p84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090" name="Google Shape;1090;p84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091" name="Google Shape;1091;p84"/>
          <p:cNvCxnSpPr>
            <a:stCxn id="1078" idx="1"/>
            <a:endCxn id="1083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97" name="Google Shape;109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5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99" name="Google Shape;1099;p85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00" name="Google Shape;1100;p85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01" name="Google Shape;1101;p85"/>
          <p:cNvCxnSpPr>
            <a:stCxn id="1098" idx="3"/>
            <a:endCxn id="1099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85"/>
          <p:cNvCxnSpPr>
            <a:stCxn id="1098" idx="5"/>
            <a:endCxn id="1100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85"/>
          <p:cNvCxnSpPr>
            <a:stCxn id="1104" idx="0"/>
            <a:endCxn id="1105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06" name="Google Shape;1106;p85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07" name="Google Shape;1107;p85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08" name="Google Shape;1108;p85"/>
          <p:cNvCxnSpPr>
            <a:stCxn id="1099" idx="3"/>
            <a:endCxn id="1106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85"/>
          <p:cNvCxnSpPr>
            <a:stCxn id="1099" idx="5"/>
            <a:endCxn id="1107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85"/>
          <p:cNvCxnSpPr>
            <a:stCxn id="1105" idx="0"/>
            <a:endCxn id="1111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04" name="Google Shape;1104;p85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05" name="Google Shape;1105;p85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1" name="Google Shape;1111;p85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2" name="Google Shape;1112;p85"/>
          <p:cNvSpPr txBox="1"/>
          <p:nvPr/>
        </p:nvSpPr>
        <p:spPr>
          <a:xfrm>
            <a:off x="3464723" y="2927375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13" name="Google Shape;1113;p85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14" name="Google Shape;1114;p85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15" name="Google Shape;1115;p85"/>
          <p:cNvSpPr txBox="1"/>
          <p:nvPr/>
        </p:nvSpPr>
        <p:spPr>
          <a:xfrm>
            <a:off x="2466263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6" name="Google Shape;1116;p85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17" name="Google Shape;1117;p85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18" name="Google Shape;1118;p85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119" name="Google Shape;1119;p85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120" name="Google Shape;1120;p85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121" name="Google Shape;1121;p85"/>
          <p:cNvCxnSpPr>
            <a:stCxn id="1104" idx="1"/>
            <a:endCxn id="1111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8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127" name="Google Shape;112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6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29" name="Google Shape;1129;p86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30" name="Google Shape;1130;p86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31" name="Google Shape;1131;p86"/>
          <p:cNvCxnSpPr>
            <a:stCxn id="1128" idx="3"/>
            <a:endCxn id="1129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2" name="Google Shape;1132;p86"/>
          <p:cNvCxnSpPr>
            <a:stCxn id="1128" idx="5"/>
            <a:endCxn id="1130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86"/>
          <p:cNvCxnSpPr>
            <a:stCxn id="1134" idx="0"/>
            <a:endCxn id="1135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36" name="Google Shape;1136;p86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37" name="Google Shape;1137;p86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38" name="Google Shape;1138;p86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39" name="Google Shape;1139;p86"/>
          <p:cNvCxnSpPr>
            <a:stCxn id="1129" idx="3"/>
            <a:endCxn id="1136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86"/>
          <p:cNvCxnSpPr>
            <a:stCxn id="1129" idx="5"/>
            <a:endCxn id="1137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86"/>
          <p:cNvCxnSpPr>
            <a:stCxn id="1130" idx="3"/>
            <a:endCxn id="1138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86"/>
          <p:cNvCxnSpPr>
            <a:stCxn id="1135" idx="0"/>
            <a:endCxn id="1143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34" name="Google Shape;1134;p86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35" name="Google Shape;1135;p86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43" name="Google Shape;1143;p86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44" name="Google Shape;1144;p86"/>
          <p:cNvSpPr txBox="1"/>
          <p:nvPr/>
        </p:nvSpPr>
        <p:spPr>
          <a:xfrm>
            <a:off x="4625775" y="2927375"/>
            <a:ext cx="82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45" name="Google Shape;1145;p86"/>
          <p:cNvSpPr txBox="1"/>
          <p:nvPr/>
        </p:nvSpPr>
        <p:spPr>
          <a:xfrm>
            <a:off x="3464723" y="2927375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46" name="Google Shape;1146;p86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47" name="Google Shape;1147;p86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48" name="Google Shape;1148;p86"/>
          <p:cNvSpPr txBox="1"/>
          <p:nvPr/>
        </p:nvSpPr>
        <p:spPr>
          <a:xfrm>
            <a:off x="2466263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49" name="Google Shape;1149;p86"/>
          <p:cNvSpPr txBox="1"/>
          <p:nvPr/>
        </p:nvSpPr>
        <p:spPr>
          <a:xfrm>
            <a:off x="4630100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50" name="Google Shape;1150;p86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51" name="Google Shape;1151;p86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52" name="Google Shape;1152;p86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153" name="Google Shape;1153;p86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154" name="Google Shape;1154;p86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155" name="Google Shape;1155;p86"/>
          <p:cNvCxnSpPr>
            <a:stCxn id="1134" idx="1"/>
            <a:endCxn id="1143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7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161" name="Google Shape;116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7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63" name="Google Shape;1163;p87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64" name="Google Shape;1164;p87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65" name="Google Shape;1165;p87"/>
          <p:cNvCxnSpPr>
            <a:stCxn id="1162" idx="3"/>
            <a:endCxn id="1163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6" name="Google Shape;1166;p87"/>
          <p:cNvCxnSpPr>
            <a:stCxn id="1162" idx="5"/>
            <a:endCxn id="1164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7" name="Google Shape;1167;p87"/>
          <p:cNvCxnSpPr>
            <a:stCxn id="1168" idx="0"/>
            <a:endCxn id="1169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70" name="Google Shape;1170;p87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1" name="Google Shape;1171;p87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2" name="Google Shape;1172;p87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3" name="Google Shape;1173;p87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74" name="Google Shape;1174;p87"/>
          <p:cNvCxnSpPr>
            <a:stCxn id="1163" idx="3"/>
            <a:endCxn id="1170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87"/>
          <p:cNvCxnSpPr>
            <a:stCxn id="1163" idx="5"/>
            <a:endCxn id="1171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87"/>
          <p:cNvCxnSpPr>
            <a:stCxn id="1164" idx="3"/>
            <a:endCxn id="1172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87"/>
          <p:cNvCxnSpPr>
            <a:stCxn id="1164" idx="5"/>
            <a:endCxn id="1173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87"/>
          <p:cNvCxnSpPr>
            <a:stCxn id="1169" idx="0"/>
            <a:endCxn id="1179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68" name="Google Shape;1168;p87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69" name="Google Shape;1169;p87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9" name="Google Shape;1179;p87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80" name="Google Shape;1180;p87"/>
          <p:cNvSpPr txBox="1"/>
          <p:nvPr/>
        </p:nvSpPr>
        <p:spPr>
          <a:xfrm>
            <a:off x="6382122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81" name="Google Shape;1181;p87"/>
          <p:cNvSpPr txBox="1"/>
          <p:nvPr/>
        </p:nvSpPr>
        <p:spPr>
          <a:xfrm>
            <a:off x="4625775" y="2927375"/>
            <a:ext cx="82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82" name="Google Shape;1182;p87"/>
          <p:cNvSpPr txBox="1"/>
          <p:nvPr/>
        </p:nvSpPr>
        <p:spPr>
          <a:xfrm>
            <a:off x="3464723" y="2927375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83" name="Google Shape;1183;p87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84" name="Google Shape;1184;p87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85" name="Google Shape;1185;p87"/>
          <p:cNvSpPr txBox="1"/>
          <p:nvPr/>
        </p:nvSpPr>
        <p:spPr>
          <a:xfrm>
            <a:off x="2466263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86" name="Google Shape;1186;p87"/>
          <p:cNvSpPr txBox="1"/>
          <p:nvPr/>
        </p:nvSpPr>
        <p:spPr>
          <a:xfrm>
            <a:off x="4630100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87" name="Google Shape;1187;p87"/>
          <p:cNvSpPr txBox="1"/>
          <p:nvPr/>
        </p:nvSpPr>
        <p:spPr>
          <a:xfrm>
            <a:off x="6793925" y="4344275"/>
            <a:ext cx="197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88" name="Google Shape;1188;p87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89" name="Google Shape;1189;p87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90" name="Google Shape;1190;p87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191" name="Google Shape;1191;p87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192" name="Google Shape;1192;p87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193" name="Google Shape;1193;p87"/>
          <p:cNvCxnSpPr>
            <a:stCxn id="1168" idx="1"/>
            <a:endCxn id="1179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Tree: Scoring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199" name="Google Shape;119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8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01" name="Google Shape;1201;p88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02" name="Google Shape;1202;p88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203" name="Google Shape;1203;p88"/>
          <p:cNvCxnSpPr>
            <a:stCxn id="1200" idx="3"/>
            <a:endCxn id="1201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88"/>
          <p:cNvCxnSpPr>
            <a:stCxn id="1200" idx="5"/>
            <a:endCxn id="1202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5" name="Google Shape;1205;p88"/>
          <p:cNvCxnSpPr>
            <a:stCxn id="1206" idx="0"/>
            <a:endCxn id="1207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8" name="Google Shape;1208;p88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209" name="Google Shape;1209;p88"/>
          <p:cNvCxnSpPr>
            <a:stCxn id="1201" idx="5"/>
            <a:endCxn id="1208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88"/>
          <p:cNvCxnSpPr>
            <a:stCxn id="1207" idx="0"/>
            <a:endCxn id="1211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6" name="Google Shape;1206;p88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07" name="Google Shape;1207;p88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11" name="Google Shape;1211;p88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12" name="Google Shape;1212;p88"/>
          <p:cNvSpPr txBox="1"/>
          <p:nvPr/>
        </p:nvSpPr>
        <p:spPr>
          <a:xfrm>
            <a:off x="2972675" y="3057863"/>
            <a:ext cx="12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 = 0.7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13" name="Google Shape;1213;p88"/>
          <p:cNvSpPr txBox="1"/>
          <p:nvPr/>
        </p:nvSpPr>
        <p:spPr>
          <a:xfrm>
            <a:off x="2466263" y="4317550"/>
            <a:ext cx="192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</a:t>
            </a:r>
            <a:r>
              <a:rPr b="1" i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0.14 = 0.2 </a:t>
            </a: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* 0.7</a:t>
            </a:r>
            <a:endParaRPr b="1" sz="1500">
              <a:solidFill>
                <a:srgbClr val="3D85C6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14" name="Google Shape;1214;p88"/>
          <p:cNvSpPr txBox="1"/>
          <p:nvPr/>
        </p:nvSpPr>
        <p:spPr>
          <a:xfrm>
            <a:off x="4507450" y="1820288"/>
            <a:ext cx="12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 = 0.8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15" name="Google Shape;1215;p88"/>
          <p:cNvSpPr txBox="1"/>
          <p:nvPr/>
        </p:nvSpPr>
        <p:spPr>
          <a:xfrm>
            <a:off x="3000650" y="1811732"/>
            <a:ext cx="151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 = 0.2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16" name="Google Shape;1216;p88"/>
          <p:cNvSpPr txBox="1"/>
          <p:nvPr/>
        </p:nvSpPr>
        <p:spPr>
          <a:xfrm>
            <a:off x="446600" y="818443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 (0.2)</a:t>
            </a:r>
            <a:endParaRPr sz="1000"/>
          </a:p>
        </p:txBody>
      </p:sp>
      <p:sp>
        <p:nvSpPr>
          <p:cNvPr id="1217" name="Google Shape;1217;p88"/>
          <p:cNvSpPr txBox="1"/>
          <p:nvPr/>
        </p:nvSpPr>
        <p:spPr>
          <a:xfrm>
            <a:off x="1439000" y="818443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 (0.3)</a:t>
            </a:r>
            <a:endParaRPr sz="1000"/>
          </a:p>
        </p:txBody>
      </p:sp>
      <p:sp>
        <p:nvSpPr>
          <p:cNvPr id="1218" name="Google Shape;1218;p88"/>
          <p:cNvSpPr txBox="1"/>
          <p:nvPr/>
        </p:nvSpPr>
        <p:spPr>
          <a:xfrm>
            <a:off x="2431400" y="818443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 (0.4)</a:t>
            </a:r>
            <a:endParaRPr sz="1000"/>
          </a:p>
        </p:txBody>
      </p:sp>
      <p:cxnSp>
        <p:nvCxnSpPr>
          <p:cNvPr id="1219" name="Google Shape;1219;p88"/>
          <p:cNvCxnSpPr>
            <a:stCxn id="1206" idx="1"/>
            <a:endCxn id="1211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20" name="Google Shape;1220;p88"/>
          <p:cNvSpPr txBox="1"/>
          <p:nvPr/>
        </p:nvSpPr>
        <p:spPr>
          <a:xfrm>
            <a:off x="466027" y="641400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(0.8)</a:t>
            </a:r>
            <a:endParaRPr sz="1000"/>
          </a:p>
        </p:txBody>
      </p:sp>
      <p:sp>
        <p:nvSpPr>
          <p:cNvPr id="1221" name="Google Shape;1221;p88"/>
          <p:cNvSpPr txBox="1"/>
          <p:nvPr/>
        </p:nvSpPr>
        <p:spPr>
          <a:xfrm>
            <a:off x="1458427" y="641400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(0.7)</a:t>
            </a:r>
            <a:endParaRPr sz="1000"/>
          </a:p>
        </p:txBody>
      </p:sp>
      <p:sp>
        <p:nvSpPr>
          <p:cNvPr id="1222" name="Google Shape;1222;p88"/>
          <p:cNvSpPr txBox="1"/>
          <p:nvPr/>
        </p:nvSpPr>
        <p:spPr>
          <a:xfrm>
            <a:off x="2450827" y="641400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(0.6)</a:t>
            </a: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8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Tree: Scoring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228" name="Google Shape;122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89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30" name="Google Shape;1230;p89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31" name="Google Shape;1231;p89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232" name="Google Shape;1232;p89"/>
          <p:cNvCxnSpPr>
            <a:stCxn id="1229" idx="3"/>
            <a:endCxn id="1230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3" name="Google Shape;1233;p89"/>
          <p:cNvCxnSpPr>
            <a:stCxn id="1229" idx="5"/>
            <a:endCxn id="1231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89"/>
          <p:cNvCxnSpPr>
            <a:stCxn id="1235" idx="0"/>
            <a:endCxn id="1236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37" name="Google Shape;1237;p89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38" name="Google Shape;1238;p89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39" name="Google Shape;1239;p89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40" name="Google Shape;1240;p89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241" name="Google Shape;1241;p89"/>
          <p:cNvCxnSpPr>
            <a:stCxn id="1230" idx="3"/>
            <a:endCxn id="1237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2" name="Google Shape;1242;p89"/>
          <p:cNvCxnSpPr>
            <a:stCxn id="1230" idx="5"/>
            <a:endCxn id="1238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89"/>
          <p:cNvCxnSpPr>
            <a:stCxn id="1231" idx="3"/>
            <a:endCxn id="1239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4" name="Google Shape;1244;p89"/>
          <p:cNvCxnSpPr>
            <a:stCxn id="1231" idx="5"/>
            <a:endCxn id="1240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89"/>
          <p:cNvCxnSpPr>
            <a:stCxn id="1236" idx="0"/>
            <a:endCxn id="1246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35" name="Google Shape;1235;p89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36" name="Google Shape;1236;p89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46" name="Google Shape;1246;p89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47" name="Google Shape;1247;p89"/>
          <p:cNvSpPr txBox="1"/>
          <p:nvPr/>
        </p:nvSpPr>
        <p:spPr>
          <a:xfrm>
            <a:off x="5834300" y="3088713"/>
            <a:ext cx="12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 = 0.7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48" name="Google Shape;1248;p89"/>
          <p:cNvSpPr txBox="1"/>
          <p:nvPr/>
        </p:nvSpPr>
        <p:spPr>
          <a:xfrm>
            <a:off x="4547450" y="3100828"/>
            <a:ext cx="114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 = 0.3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49" name="Google Shape;1249;p89"/>
          <p:cNvSpPr txBox="1"/>
          <p:nvPr/>
        </p:nvSpPr>
        <p:spPr>
          <a:xfrm>
            <a:off x="2972675" y="3057863"/>
            <a:ext cx="12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 = 0.7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0" name="Google Shape;1250;p89"/>
          <p:cNvSpPr txBox="1"/>
          <p:nvPr/>
        </p:nvSpPr>
        <p:spPr>
          <a:xfrm>
            <a:off x="1585375" y="3053750"/>
            <a:ext cx="12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 = 0.3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1" name="Google Shape;1251;p89"/>
          <p:cNvSpPr txBox="1"/>
          <p:nvPr/>
        </p:nvSpPr>
        <p:spPr>
          <a:xfrm>
            <a:off x="551850" y="4317560"/>
            <a:ext cx="213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 </a:t>
            </a: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0.06 =</a:t>
            </a: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 </a:t>
            </a: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0.2 * 0.3</a:t>
            </a:r>
            <a:endParaRPr b="1" sz="1500">
              <a:solidFill>
                <a:srgbClr val="3D85C6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2" name="Google Shape;1252;p89"/>
          <p:cNvSpPr txBox="1"/>
          <p:nvPr/>
        </p:nvSpPr>
        <p:spPr>
          <a:xfrm>
            <a:off x="2466263" y="4317550"/>
            <a:ext cx="192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</a:t>
            </a:r>
            <a:r>
              <a:rPr b="1" i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0.14 = 0.2 </a:t>
            </a: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* 0.7</a:t>
            </a:r>
            <a:endParaRPr b="1" sz="1500">
              <a:solidFill>
                <a:srgbClr val="3D85C6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3" name="Google Shape;1253;p89"/>
          <p:cNvSpPr txBox="1"/>
          <p:nvPr/>
        </p:nvSpPr>
        <p:spPr>
          <a:xfrm>
            <a:off x="4547448" y="4317550"/>
            <a:ext cx="218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0.24 = 0.8 * 0.3</a:t>
            </a:r>
            <a:endParaRPr b="1" sz="1500">
              <a:solidFill>
                <a:srgbClr val="3D85C6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4" name="Google Shape;1254;p89"/>
          <p:cNvSpPr txBox="1"/>
          <p:nvPr/>
        </p:nvSpPr>
        <p:spPr>
          <a:xfrm>
            <a:off x="6650750" y="4317550"/>
            <a:ext cx="210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0.56 = </a:t>
            </a:r>
            <a:r>
              <a:rPr b="1" lang="en" sz="1500">
                <a:solidFill>
                  <a:srgbClr val="3D85C6"/>
                </a:solidFill>
                <a:latin typeface="Uber Move"/>
                <a:ea typeface="Uber Move"/>
                <a:cs typeface="Uber Move"/>
                <a:sym typeface="Uber Move"/>
              </a:rPr>
              <a:t>0.8 * 0.7</a:t>
            </a:r>
            <a:endParaRPr b="1" sz="1000">
              <a:solidFill>
                <a:srgbClr val="3D85C6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5" name="Google Shape;1255;p89"/>
          <p:cNvSpPr txBox="1"/>
          <p:nvPr/>
        </p:nvSpPr>
        <p:spPr>
          <a:xfrm>
            <a:off x="4507450" y="1820288"/>
            <a:ext cx="12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 = 0.8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6" name="Google Shape;1256;p89"/>
          <p:cNvSpPr txBox="1"/>
          <p:nvPr/>
        </p:nvSpPr>
        <p:spPr>
          <a:xfrm>
            <a:off x="3000650" y="1811732"/>
            <a:ext cx="151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 = 0.2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57" name="Google Shape;1257;p89"/>
          <p:cNvSpPr txBox="1"/>
          <p:nvPr/>
        </p:nvSpPr>
        <p:spPr>
          <a:xfrm>
            <a:off x="446600" y="818443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 (0.2)</a:t>
            </a:r>
            <a:endParaRPr sz="1000"/>
          </a:p>
        </p:txBody>
      </p:sp>
      <p:sp>
        <p:nvSpPr>
          <p:cNvPr id="1258" name="Google Shape;1258;p89"/>
          <p:cNvSpPr txBox="1"/>
          <p:nvPr/>
        </p:nvSpPr>
        <p:spPr>
          <a:xfrm>
            <a:off x="1439000" y="818443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 (0.3)</a:t>
            </a:r>
            <a:endParaRPr sz="1000"/>
          </a:p>
        </p:txBody>
      </p:sp>
      <p:sp>
        <p:nvSpPr>
          <p:cNvPr id="1259" name="Google Shape;1259;p89"/>
          <p:cNvSpPr txBox="1"/>
          <p:nvPr/>
        </p:nvSpPr>
        <p:spPr>
          <a:xfrm>
            <a:off x="2431400" y="818443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 (0.4)</a:t>
            </a:r>
            <a:endParaRPr sz="1000"/>
          </a:p>
        </p:txBody>
      </p:sp>
      <p:cxnSp>
        <p:nvCxnSpPr>
          <p:cNvPr id="1260" name="Google Shape;1260;p89"/>
          <p:cNvCxnSpPr>
            <a:stCxn id="1235" idx="1"/>
            <a:endCxn id="1246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61" name="Google Shape;1261;p89"/>
          <p:cNvSpPr txBox="1"/>
          <p:nvPr/>
        </p:nvSpPr>
        <p:spPr>
          <a:xfrm>
            <a:off x="466027" y="641400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(0.8)</a:t>
            </a:r>
            <a:endParaRPr sz="1000"/>
          </a:p>
        </p:txBody>
      </p:sp>
      <p:sp>
        <p:nvSpPr>
          <p:cNvPr id="1262" name="Google Shape;1262;p89"/>
          <p:cNvSpPr txBox="1"/>
          <p:nvPr/>
        </p:nvSpPr>
        <p:spPr>
          <a:xfrm>
            <a:off x="1458427" y="641400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(0.7)</a:t>
            </a:r>
            <a:endParaRPr sz="1000"/>
          </a:p>
        </p:txBody>
      </p:sp>
      <p:sp>
        <p:nvSpPr>
          <p:cNvPr id="1263" name="Google Shape;1263;p89"/>
          <p:cNvSpPr txBox="1"/>
          <p:nvPr/>
        </p:nvSpPr>
        <p:spPr>
          <a:xfrm>
            <a:off x="2450827" y="641400"/>
            <a:ext cx="7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(0.6)</a:t>
            </a: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90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69" name="Google Shape;1269;p9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270" name="Google Shape;127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0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72" name="Google Shape;1272;p90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73" name="Google Shape;1273;p90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74" name="Google Shape;1274;p90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75" name="Google Shape;1275;p90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76" name="Google Shape;1276;p90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77" name="Google Shape;1277;p90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78" name="Google Shape;1278;p90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79" name="Google Shape;1279;p90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0" name="Google Shape;1280;p90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81" name="Google Shape;1281;p90"/>
          <p:cNvSpPr/>
          <p:nvPr/>
        </p:nvSpPr>
        <p:spPr>
          <a:xfrm>
            <a:off x="5160958" y="3773524"/>
            <a:ext cx="405000" cy="363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82" name="Google Shape;1282;p90"/>
          <p:cNvSpPr txBox="1"/>
          <p:nvPr/>
        </p:nvSpPr>
        <p:spPr>
          <a:xfrm>
            <a:off x="5650438" y="3747725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to be scheduled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91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88" name="Google Shape;1288;p9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289" name="Google Shape;128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91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91" name="Google Shape;1291;p91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92" name="Google Shape;1292;p91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93" name="Google Shape;1293;p91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94" name="Google Shape;1294;p91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95" name="Google Shape;1295;p91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96" name="Google Shape;1296;p91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97" name="Google Shape;1297;p91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98" name="Google Shape;1298;p91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9" name="Google Shape;1299;p91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00" name="Google Shape;1300;p91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01" name="Google Shape;1301;p91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02" name="Google Shape;1302;p91"/>
          <p:cNvSpPr/>
          <p:nvPr/>
        </p:nvSpPr>
        <p:spPr>
          <a:xfrm>
            <a:off x="5160958" y="3773524"/>
            <a:ext cx="405000" cy="3639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03" name="Google Shape;1303;p91"/>
          <p:cNvSpPr txBox="1"/>
          <p:nvPr/>
        </p:nvSpPr>
        <p:spPr>
          <a:xfrm>
            <a:off x="5650438" y="3747725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2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09" name="Google Shape;1309;p92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10" name="Google Shape;1310;p92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311" name="Google Shape;131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92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13" name="Google Shape;1313;p92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14" name="Google Shape;1314;p92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15" name="Google Shape;1315;p92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16" name="Google Shape;1316;p92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17" name="Google Shape;1317;p92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18" name="Google Shape;1318;p92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19" name="Google Shape;1319;p92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20" name="Google Shape;1320;p92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21" name="Google Shape;1321;p92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22" name="Google Shape;1322;p92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23" name="Google Shape;1323;p92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24" name="Google Shape;1324;p92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25" name="Google Shape;1325;p92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6" name="Google Shape;1326;p92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7" name="Google Shape;1327;p92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8" name="Google Shape;1328;p92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29" name="Google Shape;1329;p92"/>
          <p:cNvSpPr/>
          <p:nvPr/>
        </p:nvSpPr>
        <p:spPr>
          <a:xfrm>
            <a:off x="5160958" y="3820624"/>
            <a:ext cx="405000" cy="363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30" name="Google Shape;1330;p92"/>
          <p:cNvSpPr txBox="1"/>
          <p:nvPr/>
        </p:nvSpPr>
        <p:spPr>
          <a:xfrm>
            <a:off x="5650438" y="3794825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to be scheduled</a:t>
            </a:r>
            <a:endParaRPr/>
          </a:p>
        </p:txBody>
      </p:sp>
      <p:sp>
        <p:nvSpPr>
          <p:cNvPr id="1331" name="Google Shape;1331;p92"/>
          <p:cNvSpPr/>
          <p:nvPr/>
        </p:nvSpPr>
        <p:spPr>
          <a:xfrm>
            <a:off x="5160958" y="4330349"/>
            <a:ext cx="405000" cy="3639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32" name="Google Shape;1332;p92"/>
          <p:cNvSpPr txBox="1"/>
          <p:nvPr/>
        </p:nvSpPr>
        <p:spPr>
          <a:xfrm>
            <a:off x="5650438" y="4304550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93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38" name="Google Shape;1338;p93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39" name="Google Shape;1339;p9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340" name="Google Shape;134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93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42" name="Google Shape;1342;p93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43" name="Google Shape;1343;p93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44" name="Google Shape;1344;p93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45" name="Google Shape;1345;p93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46" name="Google Shape;1346;p93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47" name="Google Shape;1347;p93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48" name="Google Shape;1348;p93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49" name="Google Shape;1349;p93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50" name="Google Shape;1350;p93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51" name="Google Shape;1351;p93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52" name="Google Shape;1352;p93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53" name="Google Shape;1353;p93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54" name="Google Shape;1354;p93"/>
          <p:cNvSpPr/>
          <p:nvPr/>
        </p:nvSpPr>
        <p:spPr>
          <a:xfrm>
            <a:off x="39860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55" name="Google Shape;1355;p93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56" name="Google Shape;1356;p93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57" name="Google Shape;1357;p93"/>
          <p:cNvSpPr/>
          <p:nvPr/>
        </p:nvSpPr>
        <p:spPr>
          <a:xfrm>
            <a:off x="40226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58" name="Google Shape;1358;p93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59" name="Google Shape;1359;p93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60" name="Google Shape;1360;p93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61" name="Google Shape;1361;p93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62" name="Google Shape;1362;p93"/>
          <p:cNvSpPr/>
          <p:nvPr/>
        </p:nvSpPr>
        <p:spPr>
          <a:xfrm>
            <a:off x="5232208" y="3773524"/>
            <a:ext cx="405000" cy="3639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63" name="Google Shape;1363;p93"/>
          <p:cNvSpPr txBox="1"/>
          <p:nvPr/>
        </p:nvSpPr>
        <p:spPr>
          <a:xfrm>
            <a:off x="5721688" y="3747725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94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69" name="Google Shape;1369;p94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70" name="Google Shape;1370;p9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371" name="Google Shape;137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94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73" name="Google Shape;1373;p94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74" name="Google Shape;1374;p94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75" name="Google Shape;1375;p94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76" name="Google Shape;1376;p94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77" name="Google Shape;1377;p94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78" name="Google Shape;1378;p94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79" name="Google Shape;1379;p94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80" name="Google Shape;1380;p94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81" name="Google Shape;1381;p94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82" name="Google Shape;1382;p94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83" name="Google Shape;1383;p94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84" name="Google Shape;1384;p94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85" name="Google Shape;1385;p94"/>
          <p:cNvSpPr/>
          <p:nvPr/>
        </p:nvSpPr>
        <p:spPr>
          <a:xfrm>
            <a:off x="39860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86" name="Google Shape;1386;p94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87" name="Google Shape;1387;p94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88" name="Google Shape;1388;p94"/>
          <p:cNvSpPr/>
          <p:nvPr/>
        </p:nvSpPr>
        <p:spPr>
          <a:xfrm>
            <a:off x="40226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89" name="Google Shape;1389;p94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90" name="Google Shape;1390;p94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91" name="Google Shape;1391;p94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92" name="Google Shape;1392;p94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93" name="Google Shape;1393;p94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94" name="Google Shape;1394;p94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95" name="Google Shape;1395;p94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96" name="Google Shape;1396;p94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97" name="Google Shape;1397;p94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98" name="Google Shape;1398;p94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399" name="Google Shape;1399;p94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00" name="Google Shape;1400;p94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01" name="Google Shape;1401;p94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02" name="Google Shape;1402;p94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03" name="Google Shape;1403;p94"/>
          <p:cNvSpPr/>
          <p:nvPr/>
        </p:nvSpPr>
        <p:spPr>
          <a:xfrm>
            <a:off x="5160958" y="3820624"/>
            <a:ext cx="405000" cy="363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04" name="Google Shape;1404;p94"/>
          <p:cNvSpPr txBox="1"/>
          <p:nvPr/>
        </p:nvSpPr>
        <p:spPr>
          <a:xfrm>
            <a:off x="5650438" y="3794825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to be scheduled</a:t>
            </a:r>
            <a:endParaRPr/>
          </a:p>
        </p:txBody>
      </p:sp>
      <p:sp>
        <p:nvSpPr>
          <p:cNvPr id="1405" name="Google Shape;1405;p94"/>
          <p:cNvSpPr/>
          <p:nvPr/>
        </p:nvSpPr>
        <p:spPr>
          <a:xfrm>
            <a:off x="5160958" y="4330349"/>
            <a:ext cx="405000" cy="3639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06" name="Google Shape;1406;p94"/>
          <p:cNvSpPr txBox="1"/>
          <p:nvPr/>
        </p:nvSpPr>
        <p:spPr>
          <a:xfrm>
            <a:off x="5650438" y="4304550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95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12" name="Google Shape;1412;p95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13" name="Google Shape;1413;p9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414" name="Google Shape;141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95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16" name="Google Shape;1416;p95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17" name="Google Shape;1417;p95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18" name="Google Shape;1418;p95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19" name="Google Shape;1419;p95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20" name="Google Shape;1420;p95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21" name="Google Shape;1421;p95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22" name="Google Shape;1422;p95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23" name="Google Shape;1423;p95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24" name="Google Shape;1424;p95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25" name="Google Shape;1425;p95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26" name="Google Shape;1426;p95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27" name="Google Shape;1427;p95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28" name="Google Shape;1428;p95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29" name="Google Shape;1429;p95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30" name="Google Shape;1430;p95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1" name="Google Shape;1431;p95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2" name="Google Shape;1432;p95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3" name="Google Shape;1433;p95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34" name="Google Shape;1434;p95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35" name="Google Shape;1435;p95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36" name="Google Shape;1436;p95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37" name="Google Shape;1437;p95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38" name="Google Shape;1438;p95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39" name="Google Shape;1439;p95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40" name="Google Shape;1440;p95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41" name="Google Shape;1441;p95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42" name="Google Shape;1442;p95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43" name="Google Shape;1443;p95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44" name="Google Shape;1444;p95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45" name="Google Shape;1445;p95"/>
          <p:cNvSpPr/>
          <p:nvPr/>
        </p:nvSpPr>
        <p:spPr>
          <a:xfrm>
            <a:off x="5160958" y="3791921"/>
            <a:ext cx="405000" cy="363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46" name="Google Shape;1446;p95"/>
          <p:cNvSpPr txBox="1"/>
          <p:nvPr/>
        </p:nvSpPr>
        <p:spPr>
          <a:xfrm>
            <a:off x="5650438" y="3766122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to be scheduled</a:t>
            </a:r>
            <a:endParaRPr/>
          </a:p>
        </p:txBody>
      </p:sp>
      <p:sp>
        <p:nvSpPr>
          <p:cNvPr id="1447" name="Google Shape;1447;p95"/>
          <p:cNvSpPr/>
          <p:nvPr/>
        </p:nvSpPr>
        <p:spPr>
          <a:xfrm>
            <a:off x="5160958" y="4225824"/>
            <a:ext cx="405000" cy="3639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48" name="Google Shape;1448;p95"/>
          <p:cNvSpPr txBox="1"/>
          <p:nvPr/>
        </p:nvSpPr>
        <p:spPr>
          <a:xfrm>
            <a:off x="5650438" y="4200025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/>
          </a:p>
        </p:txBody>
      </p:sp>
      <p:sp>
        <p:nvSpPr>
          <p:cNvPr id="1449" name="Google Shape;1449;p95"/>
          <p:cNvSpPr/>
          <p:nvPr/>
        </p:nvSpPr>
        <p:spPr>
          <a:xfrm>
            <a:off x="5160950" y="4685531"/>
            <a:ext cx="405000" cy="3639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50" name="Google Shape;1450;p95"/>
          <p:cNvSpPr txBox="1"/>
          <p:nvPr/>
        </p:nvSpPr>
        <p:spPr>
          <a:xfrm>
            <a:off x="5650425" y="4659725"/>
            <a:ext cx="35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aborted: lower importance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96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56" name="Google Shape;1456;p96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57" name="Google Shape;1457;p9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458" name="Google Shape;145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96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0" name="Google Shape;1460;p96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1" name="Google Shape;1461;p96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2" name="Google Shape;1462;p96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3" name="Google Shape;1463;p96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4" name="Google Shape;1464;p96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65" name="Google Shape;1465;p96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6" name="Google Shape;1466;p96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7" name="Google Shape;1467;p96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8" name="Google Shape;1468;p96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69" name="Google Shape;1469;p96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70" name="Google Shape;1470;p96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71" name="Google Shape;1471;p96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72" name="Google Shape;1472;p96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73" name="Google Shape;1473;p96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74" name="Google Shape;1474;p96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75" name="Google Shape;1475;p96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76" name="Google Shape;1476;p96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77" name="Google Shape;1477;p96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78" name="Google Shape;1478;p96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79" name="Google Shape;1479;p96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80" name="Google Shape;1480;p96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81" name="Google Shape;1481;p96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82" name="Google Shape;1482;p96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83" name="Google Shape;1483;p96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84" name="Google Shape;1484;p96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85" name="Google Shape;1485;p96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86" name="Google Shape;1486;p96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87" name="Google Shape;1487;p96"/>
          <p:cNvSpPr/>
          <p:nvPr/>
        </p:nvSpPr>
        <p:spPr>
          <a:xfrm>
            <a:off x="40226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88" name="Google Shape;1488;p96"/>
          <p:cNvSpPr/>
          <p:nvPr/>
        </p:nvSpPr>
        <p:spPr>
          <a:xfrm>
            <a:off x="39860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89" name="Google Shape;1489;p96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90" name="Google Shape;1490;p96"/>
          <p:cNvSpPr/>
          <p:nvPr/>
        </p:nvSpPr>
        <p:spPr>
          <a:xfrm>
            <a:off x="5160958" y="3791921"/>
            <a:ext cx="405000" cy="363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91" name="Google Shape;1491;p96"/>
          <p:cNvSpPr txBox="1"/>
          <p:nvPr/>
        </p:nvSpPr>
        <p:spPr>
          <a:xfrm>
            <a:off x="5650438" y="3766122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to be scheduled</a:t>
            </a:r>
            <a:endParaRPr/>
          </a:p>
        </p:txBody>
      </p:sp>
      <p:sp>
        <p:nvSpPr>
          <p:cNvPr id="1492" name="Google Shape;1492;p96"/>
          <p:cNvSpPr/>
          <p:nvPr/>
        </p:nvSpPr>
        <p:spPr>
          <a:xfrm>
            <a:off x="5160958" y="4225824"/>
            <a:ext cx="405000" cy="3639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93" name="Google Shape;1493;p96"/>
          <p:cNvSpPr txBox="1"/>
          <p:nvPr/>
        </p:nvSpPr>
        <p:spPr>
          <a:xfrm>
            <a:off x="5650438" y="4200025"/>
            <a:ext cx="209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/>
          </a:p>
        </p:txBody>
      </p:sp>
      <p:sp>
        <p:nvSpPr>
          <p:cNvPr id="1494" name="Google Shape;1494;p96"/>
          <p:cNvSpPr/>
          <p:nvPr/>
        </p:nvSpPr>
        <p:spPr>
          <a:xfrm>
            <a:off x="5160950" y="4685531"/>
            <a:ext cx="405000" cy="3639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495" name="Google Shape;1495;p96"/>
          <p:cNvSpPr txBox="1"/>
          <p:nvPr/>
        </p:nvSpPr>
        <p:spPr>
          <a:xfrm>
            <a:off x="5650425" y="4659725"/>
            <a:ext cx="352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aborted: lower importance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97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01" name="Google Shape;1501;p97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02" name="Google Shape;1502;p97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503" name="Google Shape;150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97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05" name="Google Shape;1505;p97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06" name="Google Shape;1506;p97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07" name="Google Shape;1507;p97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08" name="Google Shape;1508;p97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09" name="Google Shape;1509;p97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10" name="Google Shape;1510;p97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11" name="Google Shape;1511;p97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12" name="Google Shape;1512;p97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13" name="Google Shape;1513;p97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14" name="Google Shape;1514;p97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15" name="Google Shape;1515;p97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16" name="Google Shape;1516;p97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17" name="Google Shape;1517;p97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18" name="Google Shape;1518;p97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19" name="Google Shape;1519;p97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20" name="Google Shape;1520;p97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21" name="Google Shape;1521;p97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22" name="Google Shape;1522;p97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23" name="Google Shape;1523;p97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24" name="Google Shape;1524;p97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25" name="Google Shape;1525;p97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26" name="Google Shape;1526;p97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27" name="Google Shape;1527;p97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28" name="Google Shape;1528;p97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29" name="Google Shape;1529;p97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30" name="Google Shape;1530;p97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31" name="Google Shape;1531;p97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32" name="Google Shape;1532;p97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33" name="Google Shape;1533;p97"/>
          <p:cNvSpPr/>
          <p:nvPr/>
        </p:nvSpPr>
        <p:spPr>
          <a:xfrm>
            <a:off x="40226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34" name="Google Shape;1534;p97"/>
          <p:cNvSpPr/>
          <p:nvPr/>
        </p:nvSpPr>
        <p:spPr>
          <a:xfrm>
            <a:off x="39860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35" name="Google Shape;1535;p97"/>
          <p:cNvSpPr/>
          <p:nvPr/>
        </p:nvSpPr>
        <p:spPr>
          <a:xfrm>
            <a:off x="5160955" y="3783703"/>
            <a:ext cx="276000" cy="248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36" name="Google Shape;1536;p97"/>
          <p:cNvSpPr txBox="1"/>
          <p:nvPr/>
        </p:nvSpPr>
        <p:spPr>
          <a:xfrm>
            <a:off x="5494460" y="3766125"/>
            <a:ext cx="1430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to be scheduled</a:t>
            </a:r>
            <a:endParaRPr sz="886"/>
          </a:p>
        </p:txBody>
      </p:sp>
      <p:sp>
        <p:nvSpPr>
          <p:cNvPr id="1537" name="Google Shape;1537;p97"/>
          <p:cNvSpPr/>
          <p:nvPr/>
        </p:nvSpPr>
        <p:spPr>
          <a:xfrm>
            <a:off x="5160955" y="4079337"/>
            <a:ext cx="276000" cy="2481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38" name="Google Shape;1538;p97"/>
          <p:cNvSpPr txBox="1"/>
          <p:nvPr/>
        </p:nvSpPr>
        <p:spPr>
          <a:xfrm>
            <a:off x="5494460" y="4061759"/>
            <a:ext cx="1430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 sz="886"/>
          </a:p>
        </p:txBody>
      </p:sp>
      <p:sp>
        <p:nvSpPr>
          <p:cNvPr id="1539" name="Google Shape;1539;p97"/>
          <p:cNvSpPr/>
          <p:nvPr/>
        </p:nvSpPr>
        <p:spPr>
          <a:xfrm>
            <a:off x="5160950" y="4392552"/>
            <a:ext cx="276000" cy="2481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40" name="Google Shape;1540;p97"/>
          <p:cNvSpPr txBox="1"/>
          <p:nvPr/>
        </p:nvSpPr>
        <p:spPr>
          <a:xfrm>
            <a:off x="5494452" y="4374970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aborted: lower importance</a:t>
            </a:r>
            <a:endParaRPr sz="886"/>
          </a:p>
        </p:txBody>
      </p:sp>
      <p:sp>
        <p:nvSpPr>
          <p:cNvPr id="1541" name="Google Shape;1541;p97"/>
          <p:cNvSpPr/>
          <p:nvPr/>
        </p:nvSpPr>
        <p:spPr>
          <a:xfrm>
            <a:off x="5163630" y="4698624"/>
            <a:ext cx="276000" cy="2481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42" name="Google Shape;1542;p97"/>
          <p:cNvSpPr txBox="1"/>
          <p:nvPr/>
        </p:nvSpPr>
        <p:spPr>
          <a:xfrm>
            <a:off x="5497132" y="4681041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passed</a:t>
            </a:r>
            <a:endParaRPr sz="886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98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48" name="Google Shape;1548;p98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49" name="Google Shape;1549;p9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550" name="Google Shape;155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98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52" name="Google Shape;1552;p98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53" name="Google Shape;1553;p98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54" name="Google Shape;1554;p98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55" name="Google Shape;1555;p98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56" name="Google Shape;1556;p98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57" name="Google Shape;1557;p98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58" name="Google Shape;1558;p98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59" name="Google Shape;1559;p98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60" name="Google Shape;1560;p98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61" name="Google Shape;1561;p98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62" name="Google Shape;1562;p98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63" name="Google Shape;1563;p98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64" name="Google Shape;1564;p98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65" name="Google Shape;1565;p98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66" name="Google Shape;1566;p98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67" name="Google Shape;1567;p98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68" name="Google Shape;1568;p98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69" name="Google Shape;1569;p98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70" name="Google Shape;1570;p98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71" name="Google Shape;1571;p98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72" name="Google Shape;1572;p98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73" name="Google Shape;1573;p98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74" name="Google Shape;1574;p98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75" name="Google Shape;1575;p98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76" name="Google Shape;1576;p98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77" name="Google Shape;1577;p98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78" name="Google Shape;1578;p98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79" name="Google Shape;1579;p98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80" name="Google Shape;1580;p98"/>
          <p:cNvSpPr/>
          <p:nvPr/>
        </p:nvSpPr>
        <p:spPr>
          <a:xfrm>
            <a:off x="5160955" y="3783703"/>
            <a:ext cx="276000" cy="248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81" name="Google Shape;1581;p98"/>
          <p:cNvSpPr txBox="1"/>
          <p:nvPr/>
        </p:nvSpPr>
        <p:spPr>
          <a:xfrm>
            <a:off x="5494460" y="3766125"/>
            <a:ext cx="1430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to be scheduled</a:t>
            </a:r>
            <a:endParaRPr sz="886"/>
          </a:p>
        </p:txBody>
      </p:sp>
      <p:sp>
        <p:nvSpPr>
          <p:cNvPr id="1582" name="Google Shape;1582;p98"/>
          <p:cNvSpPr/>
          <p:nvPr/>
        </p:nvSpPr>
        <p:spPr>
          <a:xfrm>
            <a:off x="5160955" y="4079337"/>
            <a:ext cx="276000" cy="2481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83" name="Google Shape;1583;p98"/>
          <p:cNvSpPr txBox="1"/>
          <p:nvPr/>
        </p:nvSpPr>
        <p:spPr>
          <a:xfrm>
            <a:off x="5494460" y="4061759"/>
            <a:ext cx="1430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 sz="886"/>
          </a:p>
        </p:txBody>
      </p:sp>
      <p:sp>
        <p:nvSpPr>
          <p:cNvPr id="1584" name="Google Shape;1584;p98"/>
          <p:cNvSpPr/>
          <p:nvPr/>
        </p:nvSpPr>
        <p:spPr>
          <a:xfrm>
            <a:off x="5160950" y="4392552"/>
            <a:ext cx="276000" cy="2481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85" name="Google Shape;1585;p98"/>
          <p:cNvSpPr txBox="1"/>
          <p:nvPr/>
        </p:nvSpPr>
        <p:spPr>
          <a:xfrm>
            <a:off x="5494452" y="4374970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passed</a:t>
            </a:r>
            <a:endParaRPr sz="886"/>
          </a:p>
        </p:txBody>
      </p:sp>
      <p:sp>
        <p:nvSpPr>
          <p:cNvPr id="1586" name="Google Shape;1586;p98"/>
          <p:cNvSpPr/>
          <p:nvPr/>
        </p:nvSpPr>
        <p:spPr>
          <a:xfrm>
            <a:off x="5163630" y="4698624"/>
            <a:ext cx="276000" cy="248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87" name="Google Shape;1587;p98"/>
          <p:cNvSpPr txBox="1"/>
          <p:nvPr/>
        </p:nvSpPr>
        <p:spPr>
          <a:xfrm>
            <a:off x="5497132" y="4681041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invalidated</a:t>
            </a:r>
            <a:endParaRPr sz="886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99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93" name="Google Shape;1593;p99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594" name="Google Shape;1594;p9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595" name="Google Shape;159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99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97" name="Google Shape;1597;p99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98" name="Google Shape;1598;p99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599" name="Google Shape;1599;p99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00" name="Google Shape;1600;p99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01" name="Google Shape;1601;p99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02" name="Google Shape;1602;p99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03" name="Google Shape;1603;p99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04" name="Google Shape;1604;p99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05" name="Google Shape;1605;p99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06" name="Google Shape;1606;p99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07" name="Google Shape;1607;p99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08" name="Google Shape;1608;p99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09" name="Google Shape;1609;p99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10" name="Google Shape;1610;p99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11" name="Google Shape;1611;p99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12" name="Google Shape;1612;p99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13" name="Google Shape;1613;p99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14" name="Google Shape;1614;p99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5" name="Google Shape;1615;p99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6" name="Google Shape;1616;p99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7" name="Google Shape;1617;p99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18" name="Google Shape;1618;p99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19" name="Google Shape;1619;p99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20" name="Google Shape;1620;p99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21" name="Google Shape;1621;p99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22" name="Google Shape;1622;p99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23" name="Google Shape;1623;p99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24" name="Google Shape;1624;p99"/>
          <p:cNvSpPr/>
          <p:nvPr/>
        </p:nvSpPr>
        <p:spPr>
          <a:xfrm>
            <a:off x="40226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25" name="Google Shape;1625;p99"/>
          <p:cNvSpPr/>
          <p:nvPr/>
        </p:nvSpPr>
        <p:spPr>
          <a:xfrm>
            <a:off x="39860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26" name="Google Shape;1626;p99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27" name="Google Shape;1627;p99"/>
          <p:cNvSpPr/>
          <p:nvPr/>
        </p:nvSpPr>
        <p:spPr>
          <a:xfrm>
            <a:off x="5160955" y="3757868"/>
            <a:ext cx="276000" cy="2481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28" name="Google Shape;1628;p99"/>
          <p:cNvSpPr txBox="1"/>
          <p:nvPr/>
        </p:nvSpPr>
        <p:spPr>
          <a:xfrm>
            <a:off x="5494460" y="3740290"/>
            <a:ext cx="1430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 sz="886"/>
          </a:p>
        </p:txBody>
      </p:sp>
      <p:sp>
        <p:nvSpPr>
          <p:cNvPr id="1629" name="Google Shape;1629;p99"/>
          <p:cNvSpPr/>
          <p:nvPr/>
        </p:nvSpPr>
        <p:spPr>
          <a:xfrm>
            <a:off x="5160950" y="4071084"/>
            <a:ext cx="276000" cy="2481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30" name="Google Shape;1630;p99"/>
          <p:cNvSpPr txBox="1"/>
          <p:nvPr/>
        </p:nvSpPr>
        <p:spPr>
          <a:xfrm>
            <a:off x="5494452" y="4053501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passed</a:t>
            </a:r>
            <a:endParaRPr sz="886"/>
          </a:p>
        </p:txBody>
      </p:sp>
      <p:sp>
        <p:nvSpPr>
          <p:cNvPr id="1631" name="Google Shape;1631;p99"/>
          <p:cNvSpPr/>
          <p:nvPr/>
        </p:nvSpPr>
        <p:spPr>
          <a:xfrm>
            <a:off x="5163630" y="4377155"/>
            <a:ext cx="276000" cy="248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32" name="Google Shape;1632;p99"/>
          <p:cNvSpPr txBox="1"/>
          <p:nvPr/>
        </p:nvSpPr>
        <p:spPr>
          <a:xfrm>
            <a:off x="5497132" y="4359572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invalidated</a:t>
            </a:r>
            <a:endParaRPr sz="886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00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38" name="Google Shape;1638;p100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39" name="Google Shape;1639;p10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640" name="Google Shape;164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00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42" name="Google Shape;1642;p100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43" name="Google Shape;1643;p100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44" name="Google Shape;1644;p100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45" name="Google Shape;1645;p100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46" name="Google Shape;1646;p100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47" name="Google Shape;1647;p100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48" name="Google Shape;1648;p100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49" name="Google Shape;1649;p100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50" name="Google Shape;1650;p100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51" name="Google Shape;1651;p100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52" name="Google Shape;1652;p100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53" name="Google Shape;1653;p100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54" name="Google Shape;1654;p100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55" name="Google Shape;1655;p100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56" name="Google Shape;1656;p100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57" name="Google Shape;1657;p100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58" name="Google Shape;1658;p100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59" name="Google Shape;1659;p100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60" name="Google Shape;1660;p100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61" name="Google Shape;1661;p100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62" name="Google Shape;1662;p100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63" name="Google Shape;1663;p100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64" name="Google Shape;1664;p100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65" name="Google Shape;1665;p100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66" name="Google Shape;1666;p100"/>
          <p:cNvSpPr/>
          <p:nvPr/>
        </p:nvSpPr>
        <p:spPr>
          <a:xfrm>
            <a:off x="28022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67" name="Google Shape;1667;p100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68" name="Google Shape;1668;p100"/>
          <p:cNvSpPr/>
          <p:nvPr/>
        </p:nvSpPr>
        <p:spPr>
          <a:xfrm>
            <a:off x="28388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69" name="Google Shape;1669;p100"/>
          <p:cNvSpPr/>
          <p:nvPr/>
        </p:nvSpPr>
        <p:spPr>
          <a:xfrm>
            <a:off x="4022625" y="4210332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70" name="Google Shape;1670;p100"/>
          <p:cNvSpPr/>
          <p:nvPr/>
        </p:nvSpPr>
        <p:spPr>
          <a:xfrm>
            <a:off x="3986013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71" name="Google Shape;1671;p100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72" name="Google Shape;1672;p100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73" name="Google Shape;1673;p100"/>
          <p:cNvSpPr/>
          <p:nvPr/>
        </p:nvSpPr>
        <p:spPr>
          <a:xfrm>
            <a:off x="5133080" y="3765312"/>
            <a:ext cx="276000" cy="2481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74" name="Google Shape;1674;p100"/>
          <p:cNvSpPr txBox="1"/>
          <p:nvPr/>
        </p:nvSpPr>
        <p:spPr>
          <a:xfrm>
            <a:off x="5466585" y="3747734"/>
            <a:ext cx="1430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 sz="886"/>
          </a:p>
        </p:txBody>
      </p:sp>
      <p:sp>
        <p:nvSpPr>
          <p:cNvPr id="1675" name="Google Shape;1675;p100"/>
          <p:cNvSpPr/>
          <p:nvPr/>
        </p:nvSpPr>
        <p:spPr>
          <a:xfrm>
            <a:off x="5133075" y="4078527"/>
            <a:ext cx="276000" cy="2481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76" name="Google Shape;1676;p100"/>
          <p:cNvSpPr txBox="1"/>
          <p:nvPr/>
        </p:nvSpPr>
        <p:spPr>
          <a:xfrm>
            <a:off x="5466577" y="4060945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passed</a:t>
            </a:r>
            <a:endParaRPr sz="886"/>
          </a:p>
        </p:txBody>
      </p:sp>
      <p:sp>
        <p:nvSpPr>
          <p:cNvPr id="1677" name="Google Shape;1677;p100"/>
          <p:cNvSpPr/>
          <p:nvPr/>
        </p:nvSpPr>
        <p:spPr>
          <a:xfrm>
            <a:off x="5135755" y="4384599"/>
            <a:ext cx="276000" cy="248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78" name="Google Shape;1678;p100"/>
          <p:cNvSpPr txBox="1"/>
          <p:nvPr/>
        </p:nvSpPr>
        <p:spPr>
          <a:xfrm>
            <a:off x="5469257" y="4367016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invalidated</a:t>
            </a:r>
            <a:endParaRPr sz="886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01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84" name="Google Shape;1684;p101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85" name="Google Shape;1685;p10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686" name="Google Shape;168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01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88" name="Google Shape;1688;p101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89" name="Google Shape;1689;p101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0" name="Google Shape;1690;p101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1" name="Google Shape;1691;p101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2" name="Google Shape;1692;p101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93" name="Google Shape;1693;p101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4" name="Google Shape;1694;p101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5" name="Google Shape;1695;p101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6" name="Google Shape;1696;p101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7" name="Google Shape;1697;p101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698" name="Google Shape;1698;p101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699" name="Google Shape;1699;p101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00" name="Google Shape;1700;p101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01" name="Google Shape;1701;p101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02" name="Google Shape;1702;p101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03" name="Google Shape;1703;p101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04" name="Google Shape;1704;p101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05" name="Google Shape;1705;p101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6" name="Google Shape;1706;p101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7" name="Google Shape;1707;p101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8" name="Google Shape;1708;p101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09" name="Google Shape;1709;p101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10" name="Google Shape;1710;p101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11" name="Google Shape;1711;p101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12" name="Google Shape;1712;p101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13" name="Google Shape;1713;p101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14" name="Google Shape;1714;p101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15" name="Google Shape;1715;p101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16" name="Google Shape;1716;p101"/>
          <p:cNvSpPr/>
          <p:nvPr/>
        </p:nvSpPr>
        <p:spPr>
          <a:xfrm>
            <a:off x="5133080" y="3765312"/>
            <a:ext cx="276000" cy="2481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17" name="Google Shape;1717;p101"/>
          <p:cNvSpPr txBox="1"/>
          <p:nvPr/>
        </p:nvSpPr>
        <p:spPr>
          <a:xfrm>
            <a:off x="5466585" y="3747734"/>
            <a:ext cx="1430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scheduled</a:t>
            </a:r>
            <a:endParaRPr sz="886"/>
          </a:p>
        </p:txBody>
      </p:sp>
      <p:sp>
        <p:nvSpPr>
          <p:cNvPr id="1718" name="Google Shape;1718;p101"/>
          <p:cNvSpPr/>
          <p:nvPr/>
        </p:nvSpPr>
        <p:spPr>
          <a:xfrm>
            <a:off x="5133075" y="4078527"/>
            <a:ext cx="276000" cy="2481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19" name="Google Shape;1719;p101"/>
          <p:cNvSpPr txBox="1"/>
          <p:nvPr/>
        </p:nvSpPr>
        <p:spPr>
          <a:xfrm>
            <a:off x="5466577" y="4060945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passed</a:t>
            </a:r>
            <a:endParaRPr sz="886"/>
          </a:p>
        </p:txBody>
      </p:sp>
      <p:sp>
        <p:nvSpPr>
          <p:cNvPr id="1720" name="Google Shape;1720;p101"/>
          <p:cNvSpPr/>
          <p:nvPr/>
        </p:nvSpPr>
        <p:spPr>
          <a:xfrm>
            <a:off x="5135755" y="4384599"/>
            <a:ext cx="276000" cy="248100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21" name="Google Shape;1721;p101"/>
          <p:cNvSpPr txBox="1"/>
          <p:nvPr/>
        </p:nvSpPr>
        <p:spPr>
          <a:xfrm>
            <a:off x="5469257" y="4367016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aborted: assumptions invalidated </a:t>
            </a:r>
            <a:endParaRPr sz="886"/>
          </a:p>
        </p:txBody>
      </p:sp>
      <p:sp>
        <p:nvSpPr>
          <p:cNvPr id="1722" name="Google Shape;1722;p101"/>
          <p:cNvSpPr/>
          <p:nvPr/>
        </p:nvSpPr>
        <p:spPr>
          <a:xfrm>
            <a:off x="5145771" y="4698624"/>
            <a:ext cx="276000" cy="248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23" name="Google Shape;1723;p101"/>
          <p:cNvSpPr txBox="1"/>
          <p:nvPr/>
        </p:nvSpPr>
        <p:spPr>
          <a:xfrm>
            <a:off x="5479272" y="4681041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invalidated</a:t>
            </a:r>
            <a:endParaRPr sz="886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02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29" name="Google Shape;1729;p102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30" name="Google Shape;1730;p102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731" name="Google Shape;173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p102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33" name="Google Shape;1733;p102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34" name="Google Shape;1734;p102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35" name="Google Shape;1735;p102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36" name="Google Shape;1736;p102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37" name="Google Shape;1737;p102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38" name="Google Shape;1738;p102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39" name="Google Shape;1739;p102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40" name="Google Shape;1740;p102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41" name="Google Shape;1741;p102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42" name="Google Shape;1742;p102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43" name="Google Shape;1743;p102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44" name="Google Shape;1744;p102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45" name="Google Shape;1745;p102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46" name="Google Shape;1746;p102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47" name="Google Shape;1747;p102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48" name="Google Shape;1748;p102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49" name="Google Shape;1749;p102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50" name="Google Shape;1750;p102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51" name="Google Shape;1751;p102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52" name="Google Shape;1752;p102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53" name="Google Shape;1753;p102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54" name="Google Shape;1754;p102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55" name="Google Shape;1755;p102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56" name="Google Shape;1756;p102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57" name="Google Shape;1757;p102"/>
          <p:cNvSpPr/>
          <p:nvPr/>
        </p:nvSpPr>
        <p:spPr>
          <a:xfrm>
            <a:off x="1618425" y="3502622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58" name="Google Shape;1758;p102"/>
          <p:cNvSpPr/>
          <p:nvPr/>
        </p:nvSpPr>
        <p:spPr>
          <a:xfrm>
            <a:off x="1618435" y="421033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59" name="Google Shape;1759;p102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60" name="Google Shape;1760;p102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61" name="Google Shape;1761;p102"/>
          <p:cNvSpPr/>
          <p:nvPr/>
        </p:nvSpPr>
        <p:spPr>
          <a:xfrm>
            <a:off x="5177100" y="3801865"/>
            <a:ext cx="276000" cy="2481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62" name="Google Shape;1762;p102"/>
          <p:cNvSpPr txBox="1"/>
          <p:nvPr/>
        </p:nvSpPr>
        <p:spPr>
          <a:xfrm>
            <a:off x="5510602" y="3784282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passed</a:t>
            </a:r>
            <a:endParaRPr sz="886"/>
          </a:p>
        </p:txBody>
      </p:sp>
      <p:sp>
        <p:nvSpPr>
          <p:cNvPr id="1763" name="Google Shape;1763;p102"/>
          <p:cNvSpPr/>
          <p:nvPr/>
        </p:nvSpPr>
        <p:spPr>
          <a:xfrm>
            <a:off x="5179780" y="4107937"/>
            <a:ext cx="276000" cy="248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64" name="Google Shape;1764;p102"/>
          <p:cNvSpPr txBox="1"/>
          <p:nvPr/>
        </p:nvSpPr>
        <p:spPr>
          <a:xfrm>
            <a:off x="5513282" y="4090354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invalidated</a:t>
            </a:r>
            <a:endParaRPr sz="886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03"/>
          <p:cNvSpPr/>
          <p:nvPr/>
        </p:nvSpPr>
        <p:spPr>
          <a:xfrm>
            <a:off x="1299075" y="979375"/>
            <a:ext cx="923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70" name="Google Shape;1770;p103"/>
          <p:cNvSpPr/>
          <p:nvPr/>
        </p:nvSpPr>
        <p:spPr>
          <a:xfrm>
            <a:off x="2374125" y="979375"/>
            <a:ext cx="17739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71" name="Google Shape;1771;p10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Prioritization &amp; Scheduling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772" name="Google Shape;177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3" name="Google Shape;1773;p103"/>
          <p:cNvSpPr/>
          <p:nvPr/>
        </p:nvSpPr>
        <p:spPr>
          <a:xfrm>
            <a:off x="150377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74" name="Google Shape;1774;p103"/>
          <p:cNvSpPr/>
          <p:nvPr/>
        </p:nvSpPr>
        <p:spPr>
          <a:xfrm>
            <a:off x="1418713" y="184429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75" name="Google Shape;1775;p103"/>
          <p:cNvSpPr/>
          <p:nvPr/>
        </p:nvSpPr>
        <p:spPr>
          <a:xfrm>
            <a:off x="13680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76" name="Google Shape;1776;p103"/>
          <p:cNvSpPr/>
          <p:nvPr/>
        </p:nvSpPr>
        <p:spPr>
          <a:xfrm>
            <a:off x="25518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77" name="Google Shape;1777;p103"/>
          <p:cNvSpPr/>
          <p:nvPr/>
        </p:nvSpPr>
        <p:spPr>
          <a:xfrm>
            <a:off x="3735605" y="3394175"/>
            <a:ext cx="1183800" cy="135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78" name="Google Shape;1778;p103"/>
          <p:cNvSpPr/>
          <p:nvPr/>
        </p:nvSpPr>
        <p:spPr>
          <a:xfrm>
            <a:off x="2956225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79" name="Google Shape;1779;p103"/>
          <p:cNvSpPr/>
          <p:nvPr/>
        </p:nvSpPr>
        <p:spPr>
          <a:xfrm>
            <a:off x="3321688" y="187644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80" name="Google Shape;1780;p103"/>
          <p:cNvSpPr/>
          <p:nvPr/>
        </p:nvSpPr>
        <p:spPr>
          <a:xfrm>
            <a:off x="4292900" y="979375"/>
            <a:ext cx="3464700" cy="21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81" name="Google Shape;1781;p103"/>
          <p:cNvSpPr/>
          <p:nvPr/>
        </p:nvSpPr>
        <p:spPr>
          <a:xfrm>
            <a:off x="5702000" y="1057697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82" name="Google Shape;1782;p103"/>
          <p:cNvSpPr/>
          <p:nvPr/>
        </p:nvSpPr>
        <p:spPr>
          <a:xfrm>
            <a:off x="43174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83" name="Google Shape;1783;p103"/>
          <p:cNvSpPr/>
          <p:nvPr/>
        </p:nvSpPr>
        <p:spPr>
          <a:xfrm>
            <a:off x="5177088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84" name="Google Shape;1784;p103"/>
          <p:cNvSpPr/>
          <p:nvPr/>
        </p:nvSpPr>
        <p:spPr>
          <a:xfrm>
            <a:off x="603671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85" name="Google Shape;1785;p103"/>
          <p:cNvSpPr/>
          <p:nvPr/>
        </p:nvSpPr>
        <p:spPr>
          <a:xfrm>
            <a:off x="6896338" y="1876447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86" name="Google Shape;1786;p103"/>
          <p:cNvSpPr/>
          <p:nvPr/>
        </p:nvSpPr>
        <p:spPr>
          <a:xfrm>
            <a:off x="1481335" y="2630910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87" name="Google Shape;1787;p103"/>
          <p:cNvSpPr/>
          <p:nvPr/>
        </p:nvSpPr>
        <p:spPr>
          <a:xfrm>
            <a:off x="24768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88" name="Google Shape;1788;p103"/>
          <p:cNvSpPr/>
          <p:nvPr/>
        </p:nvSpPr>
        <p:spPr>
          <a:xfrm>
            <a:off x="3377488" y="2595545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0.8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89" name="Google Shape;1789;p103"/>
          <p:cNvSpPr/>
          <p:nvPr/>
        </p:nvSpPr>
        <p:spPr>
          <a:xfrm>
            <a:off x="4354063" y="26212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0.06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90" name="Google Shape;1790;p103"/>
          <p:cNvSpPr/>
          <p:nvPr/>
        </p:nvSpPr>
        <p:spPr>
          <a:xfrm>
            <a:off x="5206588" y="263229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0.14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91" name="Google Shape;1791;p103"/>
          <p:cNvSpPr/>
          <p:nvPr/>
        </p:nvSpPr>
        <p:spPr>
          <a:xfrm>
            <a:off x="6069763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0.24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92" name="Google Shape;1792;p103"/>
          <p:cNvSpPr/>
          <p:nvPr/>
        </p:nvSpPr>
        <p:spPr>
          <a:xfrm>
            <a:off x="6932938" y="2595547"/>
            <a:ext cx="646488" cy="437238"/>
          </a:xfrm>
          <a:prstGeom prst="flowChartDocumen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0.56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793" name="Google Shape;1793;p103"/>
          <p:cNvSpPr txBox="1"/>
          <p:nvPr/>
        </p:nvSpPr>
        <p:spPr>
          <a:xfrm>
            <a:off x="223375" y="114042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94" name="Google Shape;1794;p103"/>
          <p:cNvSpPr txBox="1"/>
          <p:nvPr/>
        </p:nvSpPr>
        <p:spPr>
          <a:xfrm>
            <a:off x="223375" y="1933075"/>
            <a:ext cx="92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Builds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95" name="Google Shape;1795;p103"/>
          <p:cNvSpPr txBox="1"/>
          <p:nvPr/>
        </p:nvSpPr>
        <p:spPr>
          <a:xfrm>
            <a:off x="238725" y="2606413"/>
            <a:ext cx="99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 (B</a:t>
            </a:r>
            <a:r>
              <a:rPr b="1" baseline="-25000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96" name="Google Shape;1796;p103"/>
          <p:cNvSpPr/>
          <p:nvPr/>
        </p:nvSpPr>
        <p:spPr>
          <a:xfrm>
            <a:off x="2462063" y="1876447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97" name="Google Shape;1797;p103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98" name="Google Shape;1798;p103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799" name="Google Shape;1799;p103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00" name="Google Shape;1800;p103"/>
          <p:cNvSpPr txBox="1"/>
          <p:nvPr/>
        </p:nvSpPr>
        <p:spPr>
          <a:xfrm>
            <a:off x="5160950" y="333222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CI Resources: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3 builds at a time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01" name="Google Shape;1801;p103"/>
          <p:cNvSpPr/>
          <p:nvPr/>
        </p:nvSpPr>
        <p:spPr>
          <a:xfrm>
            <a:off x="5177100" y="3801865"/>
            <a:ext cx="276000" cy="2481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02" name="Google Shape;1802;p103"/>
          <p:cNvSpPr txBox="1"/>
          <p:nvPr/>
        </p:nvSpPr>
        <p:spPr>
          <a:xfrm>
            <a:off x="5510602" y="3784282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passed</a:t>
            </a:r>
            <a:endParaRPr sz="886"/>
          </a:p>
        </p:txBody>
      </p:sp>
      <p:sp>
        <p:nvSpPr>
          <p:cNvPr id="1803" name="Google Shape;1803;p103"/>
          <p:cNvSpPr/>
          <p:nvPr/>
        </p:nvSpPr>
        <p:spPr>
          <a:xfrm>
            <a:off x="5179780" y="4107937"/>
            <a:ext cx="276000" cy="248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4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04" name="Google Shape;1804;p103"/>
          <p:cNvSpPr txBox="1"/>
          <p:nvPr/>
        </p:nvSpPr>
        <p:spPr>
          <a:xfrm>
            <a:off x="5513282" y="4090354"/>
            <a:ext cx="2404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Build invalidated</a:t>
            </a:r>
            <a:endParaRPr sz="886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04"/>
          <p:cNvSpPr txBox="1"/>
          <p:nvPr/>
        </p:nvSpPr>
        <p:spPr>
          <a:xfrm>
            <a:off x="571500" y="1000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Optimizing throughput by allowing </a:t>
            </a:r>
            <a:r>
              <a:rPr b="1" lang="en" sz="1600">
                <a:solidFill>
                  <a:srgbClr val="276EF1"/>
                </a:solidFill>
                <a:latin typeface="Uber Move"/>
                <a:ea typeface="Uber Move"/>
                <a:cs typeface="Uber Move"/>
                <a:sym typeface="Uber Move"/>
              </a:rPr>
              <a:t>changes that build faster</a:t>
            </a: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 to move ahead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grpSp>
        <p:nvGrpSpPr>
          <p:cNvPr id="1809" name="Google Shape;1809;p104"/>
          <p:cNvGrpSpPr/>
          <p:nvPr/>
        </p:nvGrpSpPr>
        <p:grpSpPr>
          <a:xfrm>
            <a:off x="571500" y="1714500"/>
            <a:ext cx="2476500" cy="1714500"/>
            <a:chOff x="0" y="0"/>
            <a:chExt cx="2476500" cy="1714500"/>
          </a:xfrm>
        </p:grpSpPr>
        <p:sp>
          <p:nvSpPr>
            <p:cNvPr id="1810" name="Google Shape;1810;p104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104"/>
            <p:cNvSpPr txBox="1"/>
            <p:nvPr/>
          </p:nvSpPr>
          <p:spPr>
            <a:xfrm>
              <a:off x="238125" y="284861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96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12" name="Google Shape;1812;p104"/>
            <p:cNvSpPr txBox="1"/>
            <p:nvPr/>
          </p:nvSpPr>
          <p:spPr>
            <a:xfrm>
              <a:off x="238125" y="762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Dynamic Flow</a:t>
              </a:r>
              <a:endParaRPr b="1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813" name="Google Shape;1813;p104"/>
            <p:cNvSpPr txBox="1"/>
            <p:nvPr/>
          </p:nvSpPr>
          <p:spPr>
            <a:xfrm>
              <a:off x="238125" y="1095375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Departure from strict FIFO constraints to prevent pipeline stalls.</a:t>
              </a:r>
              <a:endParaRPr sz="1018">
                <a:solidFill>
                  <a:srgbClr val="CCCCCC"/>
                </a:solidFill>
                <a:latin typeface="Uber Move Light"/>
                <a:ea typeface="Uber Move Light"/>
                <a:cs typeface="Uber Move Light"/>
                <a:sym typeface="Uber Move Light"/>
              </a:endParaRPr>
            </a:p>
          </p:txBody>
        </p:sp>
      </p:grpSp>
      <p:grpSp>
        <p:nvGrpSpPr>
          <p:cNvPr id="1814" name="Google Shape;1814;p104"/>
          <p:cNvGrpSpPr/>
          <p:nvPr/>
        </p:nvGrpSpPr>
        <p:grpSpPr>
          <a:xfrm>
            <a:off x="3333750" y="1714500"/>
            <a:ext cx="2476500" cy="1714500"/>
            <a:chOff x="0" y="0"/>
            <a:chExt cx="2476500" cy="1714500"/>
          </a:xfrm>
        </p:grpSpPr>
        <p:sp>
          <p:nvSpPr>
            <p:cNvPr id="1815" name="Google Shape;1815;p104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04"/>
            <p:cNvSpPr txBox="1"/>
            <p:nvPr/>
          </p:nvSpPr>
          <p:spPr>
            <a:xfrm>
              <a:off x="238125" y="284861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low_priority</a:t>
              </a:r>
              <a:endParaRPr sz="296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17" name="Google Shape;1817;p104"/>
            <p:cNvSpPr txBox="1"/>
            <p:nvPr/>
          </p:nvSpPr>
          <p:spPr>
            <a:xfrm>
              <a:off x="238125" y="762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Out-of-Order</a:t>
              </a:r>
              <a:endParaRPr b="1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818" name="Google Shape;1818;p104"/>
            <p:cNvSpPr txBox="1"/>
            <p:nvPr/>
          </p:nvSpPr>
          <p:spPr>
            <a:xfrm>
              <a:off x="238125" y="1095375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Small, fast changes leapfrog larger, time-intensive changes.</a:t>
              </a:r>
              <a:endParaRPr sz="1018">
                <a:solidFill>
                  <a:srgbClr val="CCCCCC"/>
                </a:solidFill>
                <a:latin typeface="Uber Move Light"/>
                <a:ea typeface="Uber Move Light"/>
                <a:cs typeface="Uber Move Light"/>
                <a:sym typeface="Uber Move Light"/>
              </a:endParaRPr>
            </a:p>
          </p:txBody>
        </p:sp>
      </p:grpSp>
      <p:grpSp>
        <p:nvGrpSpPr>
          <p:cNvPr id="1819" name="Google Shape;1819;p104"/>
          <p:cNvGrpSpPr/>
          <p:nvPr/>
        </p:nvGrpSpPr>
        <p:grpSpPr>
          <a:xfrm>
            <a:off x="6096000" y="1714500"/>
            <a:ext cx="2476500" cy="1714500"/>
            <a:chOff x="0" y="0"/>
            <a:chExt cx="2476500" cy="1714500"/>
          </a:xfrm>
        </p:grpSpPr>
        <p:sp>
          <p:nvSpPr>
            <p:cNvPr id="1820" name="Google Shape;1820;p104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104"/>
            <p:cNvSpPr txBox="1"/>
            <p:nvPr/>
          </p:nvSpPr>
          <p:spPr>
            <a:xfrm>
              <a:off x="238125" y="284861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96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22" name="Google Shape;1822;p104"/>
            <p:cNvSpPr txBox="1"/>
            <p:nvPr/>
          </p:nvSpPr>
          <p:spPr>
            <a:xfrm>
              <a:off x="238125" y="762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Safe Acceleration</a:t>
              </a:r>
              <a:endParaRPr b="1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823" name="Google Shape;1823;p104"/>
            <p:cNvSpPr txBox="1"/>
            <p:nvPr/>
          </p:nvSpPr>
          <p:spPr>
            <a:xfrm>
              <a:off x="238125" y="1095375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Maximizes throughput without compromising safety protocols.</a:t>
              </a:r>
              <a:endParaRPr sz="1018">
                <a:solidFill>
                  <a:srgbClr val="CCCCCC"/>
                </a:solidFill>
                <a:latin typeface="Uber Move Light"/>
                <a:ea typeface="Uber Move Light"/>
                <a:cs typeface="Uber Move Light"/>
                <a:sym typeface="Uber Move Light"/>
              </a:endParaRPr>
            </a:p>
          </p:txBody>
        </p:sp>
      </p:grpSp>
      <p:pic>
        <p:nvPicPr>
          <p:cNvPr id="1824" name="Google Shape;182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62500"/>
            <a:ext cx="4002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104"/>
          <p:cNvSpPr/>
          <p:nvPr/>
        </p:nvSpPr>
        <p:spPr>
          <a:xfrm>
            <a:off x="2509950" y="3857475"/>
            <a:ext cx="4124100" cy="45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Uber Move"/>
                <a:ea typeface="Uber Move"/>
                <a:cs typeface="Uber Move"/>
                <a:sym typeface="Uber Move"/>
              </a:rPr>
              <a:t>Let's look at an example to understand?</a:t>
            </a:r>
            <a:endParaRPr b="1" sz="1500"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826" name="Google Shape;1826;p10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Optimization-4: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Fast track smaller changes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827" name="Google Shape;1827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05"/>
          <p:cNvSpPr/>
          <p:nvPr/>
        </p:nvSpPr>
        <p:spPr>
          <a:xfrm>
            <a:off x="2374125" y="2163625"/>
            <a:ext cx="4072200" cy="111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833" name="Google Shape;1833;p10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Optimization-4: Fast track smaller changes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834" name="Google Shape;183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05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36" name="Google Shape;1836;p105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37" name="Google Shape;1837;p105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838" name="Google Shape;1838;p105"/>
          <p:cNvCxnSpPr>
            <a:stCxn id="1835" idx="3"/>
            <a:endCxn id="1836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9" name="Google Shape;1839;p105"/>
          <p:cNvCxnSpPr>
            <a:stCxn id="1835" idx="5"/>
            <a:endCxn id="1837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0" name="Google Shape;1840;p105"/>
          <p:cNvCxnSpPr>
            <a:stCxn id="1841" idx="0"/>
            <a:endCxn id="1842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43" name="Google Shape;1843;p105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44" name="Google Shape;1844;p105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45" name="Google Shape;1845;p105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46" name="Google Shape;1846;p105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847" name="Google Shape;1847;p105"/>
          <p:cNvCxnSpPr>
            <a:stCxn id="1836" idx="3"/>
            <a:endCxn id="1843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8" name="Google Shape;1848;p105"/>
          <p:cNvCxnSpPr>
            <a:stCxn id="1836" idx="5"/>
            <a:endCxn id="1844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9" name="Google Shape;1849;p105"/>
          <p:cNvCxnSpPr>
            <a:stCxn id="1837" idx="3"/>
            <a:endCxn id="1845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0" name="Google Shape;1850;p105"/>
          <p:cNvCxnSpPr>
            <a:stCxn id="1837" idx="5"/>
            <a:endCxn id="1846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1" name="Google Shape;1851;p105"/>
          <p:cNvCxnSpPr>
            <a:stCxn id="1842" idx="0"/>
            <a:endCxn id="1852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41" name="Google Shape;1841;p105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42" name="Google Shape;1842;p105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52" name="Google Shape;1852;p105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853" name="Google Shape;1853;p105"/>
          <p:cNvCxnSpPr>
            <a:stCxn id="1841" idx="1"/>
            <a:endCxn id="1852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54" name="Google Shape;1854;p105"/>
          <p:cNvSpPr/>
          <p:nvPr/>
        </p:nvSpPr>
        <p:spPr>
          <a:xfrm>
            <a:off x="5900750" y="1082100"/>
            <a:ext cx="2725800" cy="855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Q: 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Can C2 land before C1? If C2 build completes faster.</a:t>
            </a:r>
            <a:b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</a:b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A: Yes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855" name="Google Shape;1855;p105"/>
          <p:cNvSpPr txBox="1"/>
          <p:nvPr/>
        </p:nvSpPr>
        <p:spPr>
          <a:xfrm>
            <a:off x="575600" y="761150"/>
            <a:ext cx="64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12 m</a:t>
            </a:r>
            <a:endParaRPr/>
          </a:p>
        </p:txBody>
      </p:sp>
      <p:sp>
        <p:nvSpPr>
          <p:cNvPr id="1856" name="Google Shape;1856;p105"/>
          <p:cNvSpPr txBox="1"/>
          <p:nvPr/>
        </p:nvSpPr>
        <p:spPr>
          <a:xfrm>
            <a:off x="1523225" y="761150"/>
            <a:ext cx="61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5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m</a:t>
            </a:r>
            <a:endParaRPr/>
          </a:p>
        </p:txBody>
      </p:sp>
      <p:sp>
        <p:nvSpPr>
          <p:cNvPr id="1857" name="Google Shape;1857;p105"/>
          <p:cNvSpPr txBox="1"/>
          <p:nvPr/>
        </p:nvSpPr>
        <p:spPr>
          <a:xfrm>
            <a:off x="2498900" y="761150"/>
            <a:ext cx="64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15 m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106"/>
          <p:cNvSpPr/>
          <p:nvPr/>
        </p:nvSpPr>
        <p:spPr>
          <a:xfrm>
            <a:off x="2374125" y="2161241"/>
            <a:ext cx="4066500" cy="111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863" name="Google Shape;1863;p10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Optimization-4: Fast track smaller changes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864" name="Google Shape;186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5" name="Google Shape;1865;p106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66" name="Google Shape;1866;p106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67" name="Google Shape;1867;p106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868" name="Google Shape;1868;p106"/>
          <p:cNvCxnSpPr>
            <a:stCxn id="1865" idx="3"/>
            <a:endCxn id="1866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9" name="Google Shape;1869;p106"/>
          <p:cNvCxnSpPr>
            <a:stCxn id="1865" idx="5"/>
            <a:endCxn id="1867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0" name="Google Shape;1870;p106"/>
          <p:cNvCxnSpPr>
            <a:stCxn id="1871" idx="0"/>
            <a:endCxn id="1872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73" name="Google Shape;1873;p106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74" name="Google Shape;1874;p106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75" name="Google Shape;1875;p106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76" name="Google Shape;1876;p106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877" name="Google Shape;1877;p106"/>
          <p:cNvCxnSpPr>
            <a:stCxn id="1866" idx="3"/>
            <a:endCxn id="1873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106"/>
          <p:cNvCxnSpPr>
            <a:stCxn id="1866" idx="5"/>
            <a:endCxn id="1874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9" name="Google Shape;1879;p106"/>
          <p:cNvCxnSpPr>
            <a:stCxn id="1867" idx="3"/>
            <a:endCxn id="1875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0" name="Google Shape;1880;p106"/>
          <p:cNvCxnSpPr>
            <a:stCxn id="1867" idx="5"/>
            <a:endCxn id="1876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1" name="Google Shape;1881;p106"/>
          <p:cNvCxnSpPr>
            <a:stCxn id="1872" idx="0"/>
            <a:endCxn id="1882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71" name="Google Shape;1871;p106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72" name="Google Shape;1872;p106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82" name="Google Shape;1882;p106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883" name="Google Shape;1883;p106"/>
          <p:cNvCxnSpPr>
            <a:stCxn id="1871" idx="1"/>
            <a:endCxn id="1882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84" name="Google Shape;1884;p106"/>
          <p:cNvSpPr/>
          <p:nvPr/>
        </p:nvSpPr>
        <p:spPr>
          <a:xfrm>
            <a:off x="5900750" y="1082100"/>
            <a:ext cx="2725800" cy="855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For C2, 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and 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both must pass for C1 to be bypassed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885" name="Google Shape;1885;p106"/>
          <p:cNvSpPr txBox="1"/>
          <p:nvPr/>
        </p:nvSpPr>
        <p:spPr>
          <a:xfrm>
            <a:off x="575600" y="761150"/>
            <a:ext cx="64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15 m</a:t>
            </a:r>
            <a:endParaRPr/>
          </a:p>
        </p:txBody>
      </p:sp>
      <p:sp>
        <p:nvSpPr>
          <p:cNvPr id="1886" name="Google Shape;1886;p106"/>
          <p:cNvSpPr txBox="1"/>
          <p:nvPr/>
        </p:nvSpPr>
        <p:spPr>
          <a:xfrm>
            <a:off x="1523225" y="761150"/>
            <a:ext cx="61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5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m</a:t>
            </a:r>
            <a:endParaRPr/>
          </a:p>
        </p:txBody>
      </p:sp>
      <p:sp>
        <p:nvSpPr>
          <p:cNvPr id="1887" name="Google Shape;1887;p106"/>
          <p:cNvSpPr txBox="1"/>
          <p:nvPr/>
        </p:nvSpPr>
        <p:spPr>
          <a:xfrm>
            <a:off x="2498900" y="761150"/>
            <a:ext cx="64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12 m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07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Architecture, Evolution &amp; Outlook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893" name="Google Shape;1893;p107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Design, e</a:t>
            </a: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volution, scale, and what lies ahead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894" name="Google Shape;1894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0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SubmitQueue Architecture</a:t>
            </a:r>
            <a:endParaRPr b="1" sz="32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899" name="Google Shape;1899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459" y="1106950"/>
            <a:ext cx="76866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0" name="Google Shape;1900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0934" y="1097425"/>
            <a:ext cx="7686600" cy="23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1" name="Google Shape;1901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08"/>
          <p:cNvSpPr/>
          <p:nvPr/>
        </p:nvSpPr>
        <p:spPr>
          <a:xfrm>
            <a:off x="265134" y="1599257"/>
            <a:ext cx="1002000" cy="9843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Gateway</a:t>
            </a:r>
            <a:endParaRPr b="1" sz="14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0A5FA"/>
                </a:solidFill>
                <a:latin typeface="Barlow Medium"/>
                <a:ea typeface="Barlow Medium"/>
                <a:cs typeface="Barlow Medium"/>
                <a:sym typeface="Barlow Medium"/>
              </a:rPr>
              <a:t>(Entry)</a:t>
            </a:r>
            <a:endParaRPr b="1" sz="1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03" name="Google Shape;1903;p108"/>
          <p:cNvSpPr/>
          <p:nvPr/>
        </p:nvSpPr>
        <p:spPr>
          <a:xfrm>
            <a:off x="1593826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Start</a:t>
            </a:r>
            <a:endParaRPr b="0" sz="1100">
              <a:solidFill>
                <a:srgbClr val="FFFFF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904" name="Google Shape;1904;p108"/>
          <p:cNvCxnSpPr>
            <a:stCxn id="1902" idx="3"/>
            <a:endCxn id="1903" idx="1"/>
          </p:cNvCxnSpPr>
          <p:nvPr/>
        </p:nvCxnSpPr>
        <p:spPr>
          <a:xfrm>
            <a:off x="1267134" y="2091407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905" name="Google Shape;1905;p108"/>
          <p:cNvSpPr/>
          <p:nvPr/>
        </p:nvSpPr>
        <p:spPr>
          <a:xfrm>
            <a:off x="2840925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8FAFC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Validate</a:t>
            </a:r>
            <a:endParaRPr b="0" sz="1100">
              <a:solidFill>
                <a:srgbClr val="F8FAFC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906" name="Google Shape;1906;p108"/>
          <p:cNvCxnSpPr>
            <a:stCxn id="1903" idx="3"/>
            <a:endCxn id="1905" idx="1"/>
          </p:cNvCxnSpPr>
          <p:nvPr/>
        </p:nvCxnSpPr>
        <p:spPr>
          <a:xfrm>
            <a:off x="2595826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07" name="Google Shape;1907;p108"/>
          <p:cNvCxnSpPr>
            <a:stCxn id="1905" idx="3"/>
            <a:endCxn id="1908" idx="1"/>
          </p:cNvCxnSpPr>
          <p:nvPr/>
        </p:nvCxnSpPr>
        <p:spPr>
          <a:xfrm>
            <a:off x="3842925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908" name="Google Shape;1908;p108"/>
          <p:cNvSpPr/>
          <p:nvPr/>
        </p:nvSpPr>
        <p:spPr>
          <a:xfrm>
            <a:off x="4088023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F8FAFC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Batch</a:t>
            </a:r>
            <a:endParaRPr b="0" sz="1110">
              <a:solidFill>
                <a:srgbClr val="F8FAFC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909" name="Google Shape;1909;p108"/>
          <p:cNvSpPr/>
          <p:nvPr/>
        </p:nvSpPr>
        <p:spPr>
          <a:xfrm>
            <a:off x="6582230" y="1829962"/>
            <a:ext cx="1002000" cy="522900"/>
          </a:xfrm>
          <a:prstGeom prst="rect">
            <a:avLst/>
          </a:prstGeom>
          <a:solidFill>
            <a:srgbClr val="2E1065">
              <a:alpha val="60000"/>
            </a:srgbClr>
          </a:solidFill>
          <a:ln cap="flat" cmpd="sng" w="143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DD6FE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Speculate</a:t>
            </a:r>
            <a:endParaRPr b="0" sz="1100">
              <a:solidFill>
                <a:srgbClr val="DDD6FE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910" name="Google Shape;1910;p108"/>
          <p:cNvSpPr/>
          <p:nvPr/>
        </p:nvSpPr>
        <p:spPr>
          <a:xfrm>
            <a:off x="7829339" y="1829962"/>
            <a:ext cx="1002000" cy="522900"/>
          </a:xfrm>
          <a:prstGeom prst="rect">
            <a:avLst/>
          </a:prstGeom>
          <a:solidFill>
            <a:srgbClr val="064E3B">
              <a:alpha val="6000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4D399"/>
                </a:solidFill>
                <a:latin typeface="Barlow"/>
                <a:ea typeface="Barlow"/>
                <a:cs typeface="Barlow"/>
                <a:sym typeface="Barlow"/>
              </a:rPr>
              <a:t>Land</a:t>
            </a:r>
            <a:endParaRPr b="1" sz="1100">
              <a:solidFill>
                <a:srgbClr val="34D39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911" name="Google Shape;1911;p108"/>
          <p:cNvCxnSpPr>
            <a:stCxn id="1909" idx="3"/>
            <a:endCxn id="1910" idx="1"/>
          </p:cNvCxnSpPr>
          <p:nvPr/>
        </p:nvCxnSpPr>
        <p:spPr>
          <a:xfrm>
            <a:off x="7584230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912" name="Google Shape;1912;p108"/>
          <p:cNvSpPr/>
          <p:nvPr/>
        </p:nvSpPr>
        <p:spPr>
          <a:xfrm>
            <a:off x="7829339" y="3815658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Runway</a:t>
            </a:r>
            <a:endParaRPr b="1" sz="12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(Merge System)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13" name="Google Shape;1913;p108"/>
          <p:cNvSpPr/>
          <p:nvPr/>
        </p:nvSpPr>
        <p:spPr>
          <a:xfrm>
            <a:off x="6582230" y="3816953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Buildkite</a:t>
            </a:r>
            <a:endParaRPr b="1" sz="13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(Build System)</a:t>
            </a:r>
            <a:endParaRPr b="1" sz="9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14" name="Google Shape;1914;p108"/>
          <p:cNvSpPr/>
          <p:nvPr/>
        </p:nvSpPr>
        <p:spPr>
          <a:xfrm>
            <a:off x="6582230" y="2692737"/>
            <a:ext cx="1002000" cy="522900"/>
          </a:xfrm>
          <a:prstGeom prst="rect">
            <a:avLst/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CBD5E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Build</a:t>
            </a:r>
            <a:endParaRPr b="0" sz="1100">
              <a:solidFill>
                <a:srgbClr val="CBD5E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915" name="Google Shape;1915;p108"/>
          <p:cNvCxnSpPr>
            <a:stCxn id="1909" idx="2"/>
            <a:endCxn id="1914" idx="0"/>
          </p:cNvCxnSpPr>
          <p:nvPr/>
        </p:nvCxnSpPr>
        <p:spPr>
          <a:xfrm>
            <a:off x="7083230" y="2352862"/>
            <a:ext cx="0" cy="3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16" name="Google Shape;1916;p108"/>
          <p:cNvCxnSpPr>
            <a:stCxn id="1914" idx="2"/>
            <a:endCxn id="1913" idx="0"/>
          </p:cNvCxnSpPr>
          <p:nvPr/>
        </p:nvCxnSpPr>
        <p:spPr>
          <a:xfrm>
            <a:off x="7083230" y="3215637"/>
            <a:ext cx="0" cy="60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7" name="Google Shape;1917;p108"/>
          <p:cNvSpPr/>
          <p:nvPr/>
        </p:nvSpPr>
        <p:spPr>
          <a:xfrm>
            <a:off x="5350581" y="2692737"/>
            <a:ext cx="1002000" cy="522900"/>
          </a:xfrm>
          <a:prstGeom prst="rect">
            <a:avLst/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Build Signal</a:t>
            </a:r>
            <a:endParaRPr b="0" sz="1100">
              <a:solidFill>
                <a:srgbClr val="94A3B8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918" name="Google Shape;1918;p108"/>
          <p:cNvCxnSpPr>
            <a:stCxn id="1913" idx="1"/>
            <a:endCxn id="1917" idx="2"/>
          </p:cNvCxnSpPr>
          <p:nvPr/>
        </p:nvCxnSpPr>
        <p:spPr>
          <a:xfrm rot="10800000">
            <a:off x="5851730" y="3215603"/>
            <a:ext cx="730500" cy="92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19" name="Google Shape;1919;p108"/>
          <p:cNvCxnSpPr>
            <a:stCxn id="1917" idx="0"/>
          </p:cNvCxnSpPr>
          <p:nvPr/>
        </p:nvCxnSpPr>
        <p:spPr>
          <a:xfrm flipH="1" rot="10800000">
            <a:off x="5851581" y="2363637"/>
            <a:ext cx="730800" cy="3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920" name="Google Shape;1920;p108"/>
          <p:cNvSpPr/>
          <p:nvPr/>
        </p:nvSpPr>
        <p:spPr>
          <a:xfrm>
            <a:off x="5335122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AFC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Dependency Analysis</a:t>
            </a:r>
            <a:endParaRPr b="0" sz="1100">
              <a:solidFill>
                <a:srgbClr val="F8FAFC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921" name="Google Shape;1921;p108"/>
          <p:cNvSpPr/>
          <p:nvPr/>
        </p:nvSpPr>
        <p:spPr>
          <a:xfrm>
            <a:off x="7829339" y="2695556"/>
            <a:ext cx="1002000" cy="522900"/>
          </a:xfrm>
          <a:prstGeom prst="rect">
            <a:avLst/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Land Signal</a:t>
            </a:r>
            <a:endParaRPr b="0" sz="1100">
              <a:solidFill>
                <a:srgbClr val="94A3B8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922" name="Google Shape;1922;p108"/>
          <p:cNvCxnSpPr>
            <a:stCxn id="1921" idx="0"/>
          </p:cNvCxnSpPr>
          <p:nvPr/>
        </p:nvCxnSpPr>
        <p:spPr>
          <a:xfrm rot="10800000">
            <a:off x="7571339" y="2358656"/>
            <a:ext cx="759000" cy="33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108"/>
          <p:cNvCxnSpPr>
            <a:stCxn id="1912" idx="0"/>
            <a:endCxn id="1921" idx="2"/>
          </p:cNvCxnSpPr>
          <p:nvPr/>
        </p:nvCxnSpPr>
        <p:spPr>
          <a:xfrm rot="10800000">
            <a:off x="8330339" y="3218358"/>
            <a:ext cx="0" cy="5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924" name="Google Shape;1924;p108"/>
          <p:cNvSpPr/>
          <p:nvPr/>
        </p:nvSpPr>
        <p:spPr>
          <a:xfrm>
            <a:off x="2840934" y="3816953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Git/VCS</a:t>
            </a:r>
            <a:endParaRPr b="1" sz="12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(Change System)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925" name="Google Shape;1925;p108"/>
          <p:cNvCxnSpPr>
            <a:stCxn id="1905" idx="2"/>
            <a:endCxn id="1924" idx="0"/>
          </p:cNvCxnSpPr>
          <p:nvPr/>
        </p:nvCxnSpPr>
        <p:spPr>
          <a:xfrm>
            <a:off x="3341925" y="2352862"/>
            <a:ext cx="0" cy="146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6" name="Google Shape;1926;p108"/>
          <p:cNvSpPr/>
          <p:nvPr/>
        </p:nvSpPr>
        <p:spPr>
          <a:xfrm>
            <a:off x="336672" y="2931204"/>
            <a:ext cx="858927" cy="572618"/>
          </a:xfrm>
          <a:prstGeom prst="flowChartMagneticDisk">
            <a:avLst/>
          </a:prstGeom>
          <a:solidFill>
            <a:srgbClr val="0F172A"/>
          </a:solidFill>
          <a:ln cap="flat" cmpd="sng" w="143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BDF8"/>
                </a:solidFill>
                <a:latin typeface="Barlow"/>
                <a:ea typeface="Barlow"/>
                <a:cs typeface="Barlow"/>
                <a:sym typeface="Barlow"/>
              </a:rPr>
              <a:t>DB</a:t>
            </a:r>
            <a:endParaRPr b="1" i="0" sz="1200" u="none" strike="noStrike">
              <a:solidFill>
                <a:srgbClr val="38BDF8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927" name="Google Shape;1927;p108"/>
          <p:cNvCxnSpPr>
            <a:stCxn id="1902" idx="2"/>
            <a:endCxn id="1926" idx="1"/>
          </p:cNvCxnSpPr>
          <p:nvPr/>
        </p:nvCxnSpPr>
        <p:spPr>
          <a:xfrm>
            <a:off x="766134" y="2583557"/>
            <a:ext cx="0" cy="3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8" name="Google Shape;1928;p108"/>
          <p:cNvSpPr/>
          <p:nvPr/>
        </p:nvSpPr>
        <p:spPr>
          <a:xfrm>
            <a:off x="1643918" y="3861444"/>
            <a:ext cx="858927" cy="572618"/>
          </a:xfrm>
          <a:prstGeom prst="flowChartMagneticDisk">
            <a:avLst/>
          </a:prstGeom>
          <a:solidFill>
            <a:srgbClr val="0F172A"/>
          </a:solidFill>
          <a:ln cap="flat" cmpd="sng" w="143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BDF8"/>
                </a:solidFill>
                <a:latin typeface="Barlow"/>
                <a:ea typeface="Barlow"/>
                <a:cs typeface="Barlow"/>
                <a:sym typeface="Barlow"/>
              </a:rPr>
              <a:t>DB</a:t>
            </a:r>
            <a:endParaRPr b="1" i="0" sz="1200" u="none" strike="noStrike">
              <a:solidFill>
                <a:srgbClr val="38BDF8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929" name="Google Shape;1929;p108"/>
          <p:cNvCxnSpPr>
            <a:endCxn id="1928" idx="1"/>
          </p:cNvCxnSpPr>
          <p:nvPr/>
        </p:nvCxnSpPr>
        <p:spPr>
          <a:xfrm flipH="1">
            <a:off x="2073382" y="3441144"/>
            <a:ext cx="4500" cy="4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0" name="Google Shape;1930;p108"/>
          <p:cNvSpPr txBox="1"/>
          <p:nvPr/>
        </p:nvSpPr>
        <p:spPr>
          <a:xfrm>
            <a:off x="1431834" y="1183757"/>
            <a:ext cx="24111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Orchestrator</a:t>
            </a:r>
            <a:r>
              <a:rPr b="0" lang="en" sz="1500">
                <a:solidFill>
                  <a:srgbClr val="60A5FA"/>
                </a:solidFill>
                <a:latin typeface="Barlow Medium"/>
                <a:ea typeface="Barlow Medium"/>
                <a:cs typeface="Barlow Medium"/>
                <a:sym typeface="Barlow Medium"/>
              </a:rPr>
              <a:t> (Engine)</a:t>
            </a:r>
            <a:endParaRPr b="1" sz="15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931" name="Google Shape;1931;p108"/>
          <p:cNvCxnSpPr>
            <a:stCxn id="1908" idx="3"/>
            <a:endCxn id="1920" idx="1"/>
          </p:cNvCxnSpPr>
          <p:nvPr/>
        </p:nvCxnSpPr>
        <p:spPr>
          <a:xfrm>
            <a:off x="5090023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32" name="Google Shape;1932;p108"/>
          <p:cNvCxnSpPr>
            <a:stCxn id="1920" idx="3"/>
            <a:endCxn id="1909" idx="1"/>
          </p:cNvCxnSpPr>
          <p:nvPr/>
        </p:nvCxnSpPr>
        <p:spPr>
          <a:xfrm>
            <a:off x="6337122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33" name="Google Shape;1933;p108"/>
          <p:cNvCxnSpPr>
            <a:stCxn id="1910" idx="3"/>
            <a:endCxn id="1912" idx="3"/>
          </p:cNvCxnSpPr>
          <p:nvPr/>
        </p:nvCxnSpPr>
        <p:spPr>
          <a:xfrm>
            <a:off x="8831339" y="2091412"/>
            <a:ext cx="600" cy="2047500"/>
          </a:xfrm>
          <a:prstGeom prst="bentConnector3">
            <a:avLst>
              <a:gd fmla="val 22940963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34" name="Google Shape;1934;p108"/>
          <p:cNvCxnSpPr>
            <a:stCxn id="1912" idx="2"/>
            <a:endCxn id="1924" idx="2"/>
          </p:cNvCxnSpPr>
          <p:nvPr/>
        </p:nvCxnSpPr>
        <p:spPr>
          <a:xfrm rot="5400000">
            <a:off x="5835539" y="1968558"/>
            <a:ext cx="1200" cy="4988400"/>
          </a:xfrm>
          <a:prstGeom prst="bentConnector3">
            <a:avLst>
              <a:gd fmla="val 199517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5" name="Google Shape;1935;p108"/>
          <p:cNvSpPr txBox="1"/>
          <p:nvPr/>
        </p:nvSpPr>
        <p:spPr>
          <a:xfrm>
            <a:off x="3811584" y="4663075"/>
            <a:ext cx="75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git push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936" name="Google Shape;1936;p108"/>
          <p:cNvSpPr/>
          <p:nvPr/>
        </p:nvSpPr>
        <p:spPr>
          <a:xfrm>
            <a:off x="4181034" y="3824516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Tango</a:t>
            </a:r>
            <a:endParaRPr b="1" sz="12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</a:t>
            </a:r>
            <a:r>
              <a:rPr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Target Analysis</a:t>
            </a: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)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937" name="Google Shape;1937;p108"/>
          <p:cNvCxnSpPr>
            <a:endCxn id="1936" idx="0"/>
          </p:cNvCxnSpPr>
          <p:nvPr/>
        </p:nvCxnSpPr>
        <p:spPr>
          <a:xfrm flipH="1">
            <a:off x="4682034" y="2333216"/>
            <a:ext cx="663000" cy="149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8" name="Google Shape;1938;p108"/>
          <p:cNvSpPr/>
          <p:nvPr/>
        </p:nvSpPr>
        <p:spPr>
          <a:xfrm>
            <a:off x="265134" y="3736278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Message</a:t>
            </a:r>
            <a:b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Queue System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939" name="Google Shape;1939;p108"/>
          <p:cNvCxnSpPr/>
          <p:nvPr/>
        </p:nvCxnSpPr>
        <p:spPr>
          <a:xfrm flipH="1">
            <a:off x="1269934" y="3391500"/>
            <a:ext cx="136500" cy="3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40" name="Google Shape;1940;p108"/>
          <p:cNvCxnSpPr>
            <a:stCxn id="1902" idx="1"/>
            <a:endCxn id="1938" idx="1"/>
          </p:cNvCxnSpPr>
          <p:nvPr/>
        </p:nvCxnSpPr>
        <p:spPr>
          <a:xfrm>
            <a:off x="265134" y="2091407"/>
            <a:ext cx="600" cy="1968000"/>
          </a:xfrm>
          <a:prstGeom prst="bentConnector3">
            <a:avLst>
              <a:gd fmla="val -28116628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4" name="Google Shape;1944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250" y="2728916"/>
            <a:ext cx="7620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5" name="Google Shape;1945;p109"/>
          <p:cNvGrpSpPr/>
          <p:nvPr/>
        </p:nvGrpSpPr>
        <p:grpSpPr>
          <a:xfrm>
            <a:off x="172750" y="2681291"/>
            <a:ext cx="1143000" cy="1057275"/>
            <a:chOff x="190500" y="3181350"/>
            <a:chExt cx="1143000" cy="1057275"/>
          </a:xfrm>
        </p:grpSpPr>
        <p:sp>
          <p:nvSpPr>
            <p:cNvPr id="1946" name="Google Shape;1946;p109"/>
            <p:cNvSpPr/>
            <p:nvPr/>
          </p:nvSpPr>
          <p:spPr>
            <a:xfrm>
              <a:off x="704850" y="31813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109"/>
            <p:cNvSpPr txBox="1"/>
            <p:nvPr/>
          </p:nvSpPr>
          <p:spPr>
            <a:xfrm>
              <a:off x="381000" y="3381375"/>
              <a:ext cx="76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2018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09"/>
            <p:cNvSpPr txBox="1"/>
            <p:nvPr/>
          </p:nvSpPr>
          <p:spPr>
            <a:xfrm>
              <a:off x="190500" y="3667125"/>
              <a:ext cx="1143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Prototyped initial concepts</a:t>
              </a:r>
              <a:endParaRPr b="0" i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9" name="Google Shape;1949;p109"/>
          <p:cNvGrpSpPr/>
          <p:nvPr/>
        </p:nvGrpSpPr>
        <p:grpSpPr>
          <a:xfrm>
            <a:off x="1315750" y="1595441"/>
            <a:ext cx="1143000" cy="1200150"/>
            <a:chOff x="1333500" y="2095500"/>
            <a:chExt cx="1143000" cy="1200150"/>
          </a:xfrm>
        </p:grpSpPr>
        <p:sp>
          <p:nvSpPr>
            <p:cNvPr id="1950" name="Google Shape;1950;p109"/>
            <p:cNvSpPr/>
            <p:nvPr/>
          </p:nvSpPr>
          <p:spPr>
            <a:xfrm>
              <a:off x="1847850" y="31813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51" name="Google Shape;1951;p109"/>
            <p:cNvPicPr preferRelativeResize="0"/>
            <p:nvPr/>
          </p:nvPicPr>
          <p:blipFill rotWithShape="1">
            <a:blip r:embed="rId4">
              <a:alphaModFix/>
            </a:blip>
            <a:srcRect b="397" l="0" r="0" t="387"/>
            <a:stretch/>
          </p:blipFill>
          <p:spPr>
            <a:xfrm>
              <a:off x="1900238" y="2857500"/>
              <a:ext cx="96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2" name="Google Shape;1952;p109"/>
            <p:cNvSpPr txBox="1"/>
            <p:nvPr/>
          </p:nvSpPr>
          <p:spPr>
            <a:xfrm>
              <a:off x="1524000" y="2571750"/>
              <a:ext cx="76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2019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109"/>
            <p:cNvSpPr txBox="1"/>
            <p:nvPr/>
          </p:nvSpPr>
          <p:spPr>
            <a:xfrm>
              <a:off x="1333500" y="2095500"/>
              <a:ext cx="1143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Full Production Rollout</a:t>
              </a:r>
              <a:endParaRPr b="0" i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4" name="Google Shape;1954;p109"/>
          <p:cNvGrpSpPr/>
          <p:nvPr/>
        </p:nvGrpSpPr>
        <p:grpSpPr>
          <a:xfrm>
            <a:off x="2458750" y="2681291"/>
            <a:ext cx="1143000" cy="1057275"/>
            <a:chOff x="2476500" y="3181350"/>
            <a:chExt cx="1143000" cy="1057275"/>
          </a:xfrm>
        </p:grpSpPr>
        <p:sp>
          <p:nvSpPr>
            <p:cNvPr id="1955" name="Google Shape;1955;p109"/>
            <p:cNvSpPr/>
            <p:nvPr/>
          </p:nvSpPr>
          <p:spPr>
            <a:xfrm>
              <a:off x="2990850" y="31813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109"/>
            <p:cNvSpPr txBox="1"/>
            <p:nvPr/>
          </p:nvSpPr>
          <p:spPr>
            <a:xfrm>
              <a:off x="2667000" y="3381375"/>
              <a:ext cx="76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2020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109"/>
            <p:cNvSpPr txBox="1"/>
            <p:nvPr/>
          </p:nvSpPr>
          <p:spPr>
            <a:xfrm>
              <a:off x="2476500" y="3667125"/>
              <a:ext cx="1143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Build Target Analysis</a:t>
              </a:r>
              <a:endParaRPr b="0" i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8" name="Google Shape;1958;p109"/>
          <p:cNvGrpSpPr/>
          <p:nvPr/>
        </p:nvGrpSpPr>
        <p:grpSpPr>
          <a:xfrm>
            <a:off x="3601750" y="1595441"/>
            <a:ext cx="1143000" cy="1200150"/>
            <a:chOff x="3619500" y="2095500"/>
            <a:chExt cx="1143000" cy="1200150"/>
          </a:xfrm>
        </p:grpSpPr>
        <p:sp>
          <p:nvSpPr>
            <p:cNvPr id="1959" name="Google Shape;1959;p109"/>
            <p:cNvSpPr/>
            <p:nvPr/>
          </p:nvSpPr>
          <p:spPr>
            <a:xfrm>
              <a:off x="4133850" y="31813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60" name="Google Shape;1960;p109"/>
            <p:cNvPicPr preferRelativeResize="0"/>
            <p:nvPr/>
          </p:nvPicPr>
          <p:blipFill rotWithShape="1">
            <a:blip r:embed="rId4">
              <a:alphaModFix/>
            </a:blip>
            <a:srcRect b="387" l="0" r="0" t="397"/>
            <a:stretch/>
          </p:blipFill>
          <p:spPr>
            <a:xfrm>
              <a:off x="4186238" y="2857500"/>
              <a:ext cx="96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1" name="Google Shape;1961;p109"/>
            <p:cNvSpPr txBox="1"/>
            <p:nvPr/>
          </p:nvSpPr>
          <p:spPr>
            <a:xfrm>
              <a:off x="3810000" y="2571750"/>
              <a:ext cx="76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109"/>
            <p:cNvSpPr txBox="1"/>
            <p:nvPr/>
          </p:nvSpPr>
          <p:spPr>
            <a:xfrm>
              <a:off x="3619500" y="2095500"/>
              <a:ext cx="1143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Probabilistic Speculation</a:t>
              </a:r>
              <a:endParaRPr b="0" i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3" name="Google Shape;1963;p109"/>
          <p:cNvGrpSpPr/>
          <p:nvPr/>
        </p:nvGrpSpPr>
        <p:grpSpPr>
          <a:xfrm>
            <a:off x="4744750" y="2681291"/>
            <a:ext cx="1143000" cy="1057275"/>
            <a:chOff x="4762500" y="3181350"/>
            <a:chExt cx="1143000" cy="1057275"/>
          </a:xfrm>
        </p:grpSpPr>
        <p:sp>
          <p:nvSpPr>
            <p:cNvPr id="1964" name="Google Shape;1964;p109"/>
            <p:cNvSpPr/>
            <p:nvPr/>
          </p:nvSpPr>
          <p:spPr>
            <a:xfrm>
              <a:off x="5276850" y="31813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109"/>
            <p:cNvSpPr txBox="1"/>
            <p:nvPr/>
          </p:nvSpPr>
          <p:spPr>
            <a:xfrm>
              <a:off x="4762500" y="3381375"/>
              <a:ext cx="1143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2023-24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109"/>
            <p:cNvSpPr txBox="1"/>
            <p:nvPr/>
          </p:nvSpPr>
          <p:spPr>
            <a:xfrm>
              <a:off x="4762500" y="3667125"/>
              <a:ext cx="1143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Fast tracking small changes</a:t>
              </a:r>
              <a:endParaRPr b="0" i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7" name="Google Shape;1967;p109"/>
          <p:cNvGrpSpPr/>
          <p:nvPr/>
        </p:nvGrpSpPr>
        <p:grpSpPr>
          <a:xfrm>
            <a:off x="5887750" y="1500191"/>
            <a:ext cx="1143000" cy="1295400"/>
            <a:chOff x="5905500" y="2000250"/>
            <a:chExt cx="1143000" cy="1295400"/>
          </a:xfrm>
        </p:grpSpPr>
        <p:sp>
          <p:nvSpPr>
            <p:cNvPr id="1968" name="Google Shape;1968;p109"/>
            <p:cNvSpPr/>
            <p:nvPr/>
          </p:nvSpPr>
          <p:spPr>
            <a:xfrm>
              <a:off x="6477000" y="2000250"/>
              <a:ext cx="0" cy="0"/>
            </a:xfrm>
            <a:prstGeom prst="roundRect">
              <a:avLst>
                <a:gd fmla="val 800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109"/>
            <p:cNvSpPr/>
            <p:nvPr/>
          </p:nvSpPr>
          <p:spPr>
            <a:xfrm>
              <a:off x="6419850" y="31813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0" name="Google Shape;1970;p109"/>
            <p:cNvPicPr preferRelativeResize="0"/>
            <p:nvPr/>
          </p:nvPicPr>
          <p:blipFill rotWithShape="1">
            <a:blip r:embed="rId4">
              <a:alphaModFix/>
            </a:blip>
            <a:srcRect b="397" l="0" r="0" t="387"/>
            <a:stretch/>
          </p:blipFill>
          <p:spPr>
            <a:xfrm>
              <a:off x="6472238" y="2857500"/>
              <a:ext cx="96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1" name="Google Shape;1971;p109"/>
            <p:cNvSpPr txBox="1"/>
            <p:nvPr/>
          </p:nvSpPr>
          <p:spPr>
            <a:xfrm>
              <a:off x="6096000" y="2571750"/>
              <a:ext cx="76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109"/>
            <p:cNvSpPr txBox="1"/>
            <p:nvPr/>
          </p:nvSpPr>
          <p:spPr>
            <a:xfrm>
              <a:off x="5905500" y="2095500"/>
              <a:ext cx="1143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KTLO</a:t>
              </a:r>
              <a:endParaRPr b="0" i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73" name="Google Shape;1973;p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875" y="4762500"/>
            <a:ext cx="400200" cy="2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4" name="Google Shape;1974;p109"/>
          <p:cNvGrpSpPr/>
          <p:nvPr/>
        </p:nvGrpSpPr>
        <p:grpSpPr>
          <a:xfrm>
            <a:off x="7268875" y="1357316"/>
            <a:ext cx="1047900" cy="1571775"/>
            <a:chOff x="7286625" y="1857375"/>
            <a:chExt cx="1047900" cy="1571775"/>
          </a:xfrm>
        </p:grpSpPr>
        <p:sp>
          <p:nvSpPr>
            <p:cNvPr id="1975" name="Google Shape;1975;p109"/>
            <p:cNvSpPr/>
            <p:nvPr/>
          </p:nvSpPr>
          <p:spPr>
            <a:xfrm>
              <a:off x="7286625" y="2000250"/>
              <a:ext cx="1047900" cy="1428900"/>
            </a:xfrm>
            <a:prstGeom prst="roundRect">
              <a:avLst>
                <a:gd fmla="val 7272" name="adj"/>
              </a:avLst>
            </a:prstGeom>
            <a:solidFill>
              <a:srgbClr val="276EF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109"/>
            <p:cNvSpPr/>
            <p:nvPr/>
          </p:nvSpPr>
          <p:spPr>
            <a:xfrm>
              <a:off x="7715250" y="3143250"/>
              <a:ext cx="190500" cy="190500"/>
            </a:xfrm>
            <a:prstGeom prst="ellipse">
              <a:avLst/>
            </a:prstGeom>
            <a:solidFill>
              <a:srgbClr val="276E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7" name="Google Shape;1977;p109"/>
            <p:cNvPicPr preferRelativeResize="0"/>
            <p:nvPr/>
          </p:nvPicPr>
          <p:blipFill rotWithShape="1">
            <a:blip r:embed="rId6">
              <a:alphaModFix/>
            </a:blip>
            <a:srcRect b="397" l="0" r="0" t="387"/>
            <a:stretch/>
          </p:blipFill>
          <p:spPr>
            <a:xfrm>
              <a:off x="7800975" y="2857500"/>
              <a:ext cx="192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8" name="Google Shape;1978;p109"/>
            <p:cNvSpPr txBox="1"/>
            <p:nvPr/>
          </p:nvSpPr>
          <p:spPr>
            <a:xfrm>
              <a:off x="7334250" y="2571750"/>
              <a:ext cx="952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b="1" i="0" sz="16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109"/>
            <p:cNvSpPr txBox="1"/>
            <p:nvPr/>
          </p:nvSpPr>
          <p:spPr>
            <a:xfrm>
              <a:off x="7286625" y="1857375"/>
              <a:ext cx="1047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Redesign</a:t>
              </a: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/</a:t>
              </a:r>
              <a:endParaRPr b="1" i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 Source</a:t>
              </a:r>
              <a:endParaRPr b="1" i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80" name="Google Shape;1980;p1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p109"/>
          <p:cNvSpPr txBox="1"/>
          <p:nvPr/>
        </p:nvSpPr>
        <p:spPr>
          <a:xfrm>
            <a:off x="551850" y="116775"/>
            <a:ext cx="765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Evolution of SubmitQueue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982" name="Google Shape;1982;p109"/>
          <p:cNvSpPr txBox="1"/>
          <p:nvPr/>
        </p:nvSpPr>
        <p:spPr>
          <a:xfrm>
            <a:off x="571500" y="8604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How the system evolved with scale and complexity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6" name="Google Shape;1986;p110"/>
          <p:cNvGrpSpPr/>
          <p:nvPr/>
        </p:nvGrpSpPr>
        <p:grpSpPr>
          <a:xfrm>
            <a:off x="476250" y="1047750"/>
            <a:ext cx="3952800" cy="1143000"/>
            <a:chOff x="476250" y="1047750"/>
            <a:chExt cx="3952800" cy="1143000"/>
          </a:xfrm>
        </p:grpSpPr>
        <p:sp>
          <p:nvSpPr>
            <p:cNvPr id="1987" name="Google Shape;1987;p110"/>
            <p:cNvSpPr/>
            <p:nvPr/>
          </p:nvSpPr>
          <p:spPr>
            <a:xfrm>
              <a:off x="476250" y="1047750"/>
              <a:ext cx="3952800" cy="1143000"/>
            </a:xfrm>
            <a:prstGeom prst="roundRect">
              <a:avLst>
                <a:gd fmla="val 6666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110"/>
            <p:cNvSpPr txBox="1"/>
            <p:nvPr/>
          </p:nvSpPr>
          <p:spPr>
            <a:xfrm>
              <a:off x="476250" y="1047750"/>
              <a:ext cx="3952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276EF1"/>
                  </a:solidFill>
                  <a:latin typeface="Uber Move"/>
                  <a:ea typeface="Uber Move"/>
                  <a:cs typeface="Uber Move"/>
                  <a:sym typeface="Uber Move"/>
                </a:rPr>
                <a:t>~7K</a:t>
              </a:r>
              <a:endParaRPr b="1" sz="3600">
                <a:solidFill>
                  <a:srgbClr val="276EF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9999"/>
                  </a:solidFill>
                  <a:latin typeface="Uber Move"/>
                  <a:ea typeface="Uber Move"/>
                  <a:cs typeface="Uber Move"/>
                  <a:sym typeface="Uber Move"/>
                </a:rPr>
                <a:t>Daily Commits (Monorepos)</a:t>
              </a:r>
              <a:endParaRPr sz="1200">
                <a:solidFill>
                  <a:srgbClr val="999999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1989" name="Google Shape;1989;p110"/>
          <p:cNvGrpSpPr/>
          <p:nvPr/>
        </p:nvGrpSpPr>
        <p:grpSpPr>
          <a:xfrm>
            <a:off x="4714875" y="1047750"/>
            <a:ext cx="3952800" cy="1143000"/>
            <a:chOff x="4714875" y="1047750"/>
            <a:chExt cx="3952800" cy="1143000"/>
          </a:xfrm>
        </p:grpSpPr>
        <p:sp>
          <p:nvSpPr>
            <p:cNvPr id="1990" name="Google Shape;1990;p110"/>
            <p:cNvSpPr/>
            <p:nvPr/>
          </p:nvSpPr>
          <p:spPr>
            <a:xfrm>
              <a:off x="4714875" y="1047750"/>
              <a:ext cx="3952800" cy="1143000"/>
            </a:xfrm>
            <a:prstGeom prst="roundRect">
              <a:avLst>
                <a:gd fmla="val 6666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110"/>
            <p:cNvSpPr txBox="1"/>
            <p:nvPr/>
          </p:nvSpPr>
          <p:spPr>
            <a:xfrm>
              <a:off x="4714875" y="1047750"/>
              <a:ext cx="3952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276EF1"/>
                  </a:solidFill>
                  <a:latin typeface="Uber Move"/>
                  <a:ea typeface="Uber Move"/>
                  <a:cs typeface="Uber Move"/>
                  <a:sym typeface="Uber Move"/>
                </a:rPr>
                <a:t>~5K+</a:t>
              </a:r>
              <a:endParaRPr b="1" sz="3600">
                <a:solidFill>
                  <a:srgbClr val="276EF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9999"/>
                  </a:solidFill>
                  <a:latin typeface="Uber Move"/>
                  <a:ea typeface="Uber Move"/>
                  <a:cs typeface="Uber Move"/>
                  <a:sym typeface="Uber Move"/>
                </a:rPr>
                <a:t>Active Daily Contributors</a:t>
              </a:r>
              <a:endParaRPr sz="1200">
                <a:solidFill>
                  <a:srgbClr val="999999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1992" name="Google Shape;1992;p110"/>
          <p:cNvGrpSpPr/>
          <p:nvPr/>
        </p:nvGrpSpPr>
        <p:grpSpPr>
          <a:xfrm>
            <a:off x="476250" y="2381250"/>
            <a:ext cx="8191500" cy="2190900"/>
            <a:chOff x="476250" y="2381250"/>
            <a:chExt cx="8191500" cy="2190900"/>
          </a:xfrm>
        </p:grpSpPr>
        <p:sp>
          <p:nvSpPr>
            <p:cNvPr id="1993" name="Google Shape;1993;p110"/>
            <p:cNvSpPr/>
            <p:nvPr/>
          </p:nvSpPr>
          <p:spPr>
            <a:xfrm>
              <a:off x="476250" y="2381250"/>
              <a:ext cx="8191500" cy="2190900"/>
            </a:xfrm>
            <a:prstGeom prst="roundRect">
              <a:avLst>
                <a:gd fmla="val 3478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110"/>
            <p:cNvSpPr txBox="1"/>
            <p:nvPr/>
          </p:nvSpPr>
          <p:spPr>
            <a:xfrm>
              <a:off x="714375" y="25717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Go Monorepo: The </a:t>
              </a:r>
              <a:r>
                <a:rPr b="1" lang="en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Biggest</a:t>
              </a: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 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995" name="Google Shape;1995;p110"/>
            <p:cNvSpPr txBox="1"/>
            <p:nvPr/>
          </p:nvSpPr>
          <p:spPr>
            <a:xfrm>
              <a:off x="714375" y="2952750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As Uber's largest monorepo, Go handles the bulk of high-velocity development.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DDDDDD"/>
                </a:buClr>
                <a:buSzPts val="1100"/>
                <a:buFont typeface="Uber Move"/>
                <a:buChar char="●"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3,000+ engineers contributing daily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DDDDD"/>
                </a:buClr>
                <a:buSzPts val="1100"/>
                <a:buFont typeface="Uber Move"/>
                <a:buChar char="●"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~4k commits merged per day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DDDDD"/>
                </a:buClr>
                <a:buSzPts val="1100"/>
                <a:buFont typeface="Uber Move"/>
                <a:buChar char="●"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~250 PRs  lands/hr (peak)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pic>
        <p:nvPicPr>
          <p:cNvPr id="1996" name="Google Shape;199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62500"/>
            <a:ext cx="4287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1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Scale &amp; Performance</a:t>
            </a:r>
            <a:endParaRPr b="1" sz="32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999" name="Google Shape;1999;p110" title="Screenshot 2026-09-15 at 9.39.2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875" y="2825837"/>
            <a:ext cx="3706726" cy="13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3" name="Google Shape;2003;p111"/>
          <p:cNvGrpSpPr/>
          <p:nvPr/>
        </p:nvGrpSpPr>
        <p:grpSpPr>
          <a:xfrm>
            <a:off x="571500" y="1428750"/>
            <a:ext cx="3810000" cy="2667000"/>
            <a:chOff x="0" y="0"/>
            <a:chExt cx="3810000" cy="2667000"/>
          </a:xfrm>
        </p:grpSpPr>
        <p:sp>
          <p:nvSpPr>
            <p:cNvPr id="2004" name="Google Shape;2004;p111"/>
            <p:cNvSpPr/>
            <p:nvPr/>
          </p:nvSpPr>
          <p:spPr>
            <a:xfrm>
              <a:off x="0" y="0"/>
              <a:ext cx="3810000" cy="2667000"/>
            </a:xfrm>
            <a:prstGeom prst="roundRect">
              <a:avLst>
                <a:gd fmla="val 285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111"/>
            <p:cNvSpPr txBox="1"/>
            <p:nvPr/>
          </p:nvSpPr>
          <p:spPr>
            <a:xfrm>
              <a:off x="238125" y="2731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call_split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06" name="Google Shape;2006;p111"/>
            <p:cNvSpPr txBox="1"/>
            <p:nvPr/>
          </p:nvSpPr>
          <p:spPr>
            <a:xfrm>
              <a:off x="238125" y="714375"/>
              <a:ext cx="3333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Throughput &amp; Merge Efficiency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111"/>
            <p:cNvSpPr txBox="1"/>
            <p:nvPr/>
          </p:nvSpPr>
          <p:spPr>
            <a:xfrm>
              <a:off x="238125" y="1000125"/>
              <a:ext cx="333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 Conflicts &amp; Reduced Throughput</a:t>
              </a:r>
              <a:endParaRPr b="1" sz="1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111"/>
            <p:cNvSpPr txBox="1"/>
            <p:nvPr/>
          </p:nvSpPr>
          <p:spPr>
            <a:xfrm>
              <a:off x="238125" y="1524000"/>
              <a:ext cx="33339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High conflicts can lead to lower throughput </a:t>
              </a:r>
              <a:r>
                <a:rPr lang="en" sz="1200">
                  <a:solidFill>
                    <a:srgbClr val="DDDDDD"/>
                  </a:solidFill>
                </a:rPr>
                <a:t>-</a:t>
              </a:r>
              <a:r>
                <a:rPr b="0" lang="en" sz="12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 large pull requests and frequent overlapping changes significantly slow down queue processing.</a:t>
              </a:r>
              <a:endParaRPr b="0" sz="12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9" name="Google Shape;2009;p111"/>
          <p:cNvGrpSpPr/>
          <p:nvPr/>
        </p:nvGrpSpPr>
        <p:grpSpPr>
          <a:xfrm>
            <a:off x="4762500" y="1428750"/>
            <a:ext cx="3810000" cy="2667000"/>
            <a:chOff x="0" y="0"/>
            <a:chExt cx="3810000" cy="2667000"/>
          </a:xfrm>
        </p:grpSpPr>
        <p:sp>
          <p:nvSpPr>
            <p:cNvPr id="2010" name="Google Shape;2010;p111"/>
            <p:cNvSpPr/>
            <p:nvPr/>
          </p:nvSpPr>
          <p:spPr>
            <a:xfrm>
              <a:off x="0" y="0"/>
              <a:ext cx="3810000" cy="2667000"/>
            </a:xfrm>
            <a:prstGeom prst="roundRect">
              <a:avLst>
                <a:gd fmla="val 285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111"/>
            <p:cNvSpPr txBox="1"/>
            <p:nvPr/>
          </p:nvSpPr>
          <p:spPr>
            <a:xfrm>
              <a:off x="238125" y="2731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12" name="Google Shape;2012;p111"/>
            <p:cNvSpPr txBox="1"/>
            <p:nvPr/>
          </p:nvSpPr>
          <p:spPr>
            <a:xfrm>
              <a:off x="238125" y="714375"/>
              <a:ext cx="3333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Incident Response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111"/>
            <p:cNvSpPr txBox="1"/>
            <p:nvPr/>
          </p:nvSpPr>
          <p:spPr>
            <a:xfrm>
              <a:off x="238125" y="1000125"/>
              <a:ext cx="333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 Fast Drain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111"/>
            <p:cNvSpPr txBox="1"/>
            <p:nvPr/>
          </p:nvSpPr>
          <p:spPr>
            <a:xfrm>
              <a:off x="238125" y="1524000"/>
              <a:ext cx="33339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Traffic spikes and incidents cause backlogs with no mechanism for rapid queue clearing.</a:t>
              </a:r>
              <a:endParaRPr b="0" sz="12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15" name="Google Shape;201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14875"/>
            <a:ext cx="404700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1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Limitations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2017" name="Google Shape;2017;p111"/>
          <p:cNvSpPr txBox="1"/>
          <p:nvPr/>
        </p:nvSpPr>
        <p:spPr>
          <a:xfrm>
            <a:off x="571500" y="807209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Where the system still falls short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2018" name="Google Shape;2018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112"/>
          <p:cNvSpPr txBox="1"/>
          <p:nvPr/>
        </p:nvSpPr>
        <p:spPr>
          <a:xfrm>
            <a:off x="642938" y="207645"/>
            <a:ext cx="764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Plan</a:t>
            </a:r>
            <a:endParaRPr b="1"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112"/>
          <p:cNvSpPr txBox="1"/>
          <p:nvPr/>
        </p:nvSpPr>
        <p:spPr>
          <a:xfrm>
            <a:off x="571500" y="79819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How we’re addressing these challenges</a:t>
            </a:r>
            <a:endParaRPr b="0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5" name="Google Shape;2025;p112"/>
          <p:cNvGrpSpPr/>
          <p:nvPr/>
        </p:nvGrpSpPr>
        <p:grpSpPr>
          <a:xfrm>
            <a:off x="476250" y="1333500"/>
            <a:ext cx="2533800" cy="2667000"/>
            <a:chOff x="0" y="0"/>
            <a:chExt cx="2533800" cy="2667000"/>
          </a:xfrm>
        </p:grpSpPr>
        <p:sp>
          <p:nvSpPr>
            <p:cNvPr id="2026" name="Google Shape;2026;p112"/>
            <p:cNvSpPr/>
            <p:nvPr/>
          </p:nvSpPr>
          <p:spPr>
            <a:xfrm>
              <a:off x="0" y="0"/>
              <a:ext cx="2533800" cy="2667000"/>
            </a:xfrm>
            <a:prstGeom prst="roundRect">
              <a:avLst>
                <a:gd fmla="val 300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112"/>
            <p:cNvSpPr txBox="1"/>
            <p:nvPr/>
          </p:nvSpPr>
          <p:spPr>
            <a:xfrm>
              <a:off x="190500" y="25984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28" name="Google Shape;2028;p112"/>
            <p:cNvSpPr txBox="1"/>
            <p:nvPr/>
          </p:nvSpPr>
          <p:spPr>
            <a:xfrm>
              <a:off x="190500" y="66675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Parallelism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112"/>
            <p:cNvSpPr txBox="1"/>
            <p:nvPr/>
          </p:nvSpPr>
          <p:spPr>
            <a:xfrm>
              <a:off x="190500" y="95250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Conflict Relaxation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112"/>
            <p:cNvSpPr txBox="1"/>
            <p:nvPr/>
          </p:nvSpPr>
          <p:spPr>
            <a:xfrm>
              <a:off x="190500" y="1428750"/>
              <a:ext cx="2152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Increase speculation parallelism by dynamically relaxing conflict constraints.</a:t>
              </a:r>
              <a:endParaRPr b="0" sz="11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1" name="Google Shape;2031;p112"/>
          <p:cNvGrpSpPr/>
          <p:nvPr/>
        </p:nvGrpSpPr>
        <p:grpSpPr>
          <a:xfrm>
            <a:off x="3295650" y="1333500"/>
            <a:ext cx="2533800" cy="2667000"/>
            <a:chOff x="0" y="0"/>
            <a:chExt cx="2533800" cy="2667000"/>
          </a:xfrm>
        </p:grpSpPr>
        <p:sp>
          <p:nvSpPr>
            <p:cNvPr id="2032" name="Google Shape;2032;p112"/>
            <p:cNvSpPr/>
            <p:nvPr/>
          </p:nvSpPr>
          <p:spPr>
            <a:xfrm>
              <a:off x="0" y="0"/>
              <a:ext cx="2533800" cy="2667000"/>
            </a:xfrm>
            <a:prstGeom prst="roundRect">
              <a:avLst>
                <a:gd fmla="val 300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112"/>
            <p:cNvSpPr txBox="1"/>
            <p:nvPr/>
          </p:nvSpPr>
          <p:spPr>
            <a:xfrm>
              <a:off x="190500" y="25984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34" name="Google Shape;2034;p112"/>
            <p:cNvSpPr txBox="1"/>
            <p:nvPr/>
          </p:nvSpPr>
          <p:spPr>
            <a:xfrm>
              <a:off x="190500" y="66675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Reliability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112"/>
            <p:cNvSpPr txBox="1"/>
            <p:nvPr/>
          </p:nvSpPr>
          <p:spPr>
            <a:xfrm>
              <a:off x="190500" y="952500"/>
              <a:ext cx="23082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Trunk Validation</a:t>
              </a:r>
              <a:endParaRPr b="1" i="0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112"/>
            <p:cNvSpPr txBox="1"/>
            <p:nvPr/>
          </p:nvSpPr>
          <p:spPr>
            <a:xfrm>
              <a:off x="190500" y="1428750"/>
              <a:ext cx="21528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Validate broken trunks post-merge using </a:t>
              </a:r>
              <a:r>
                <a:rPr b="1" i="1" lang="en" sz="1100" u="none" strike="noStrike">
                  <a:solidFill>
                    <a:srgbClr val="276EF1"/>
                  </a:solidFill>
                </a:rPr>
                <a:t>Stovepipe</a:t>
              </a:r>
              <a:r>
                <a:rPr b="0" i="0" lang="en" sz="1100" u="none" strike="noStrike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 as a side effect of conflict relaxation.</a:t>
              </a:r>
              <a:endParaRPr b="0" i="0" sz="1100" u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7" name="Google Shape;2037;p112"/>
          <p:cNvGrpSpPr/>
          <p:nvPr/>
        </p:nvGrpSpPr>
        <p:grpSpPr>
          <a:xfrm>
            <a:off x="6115050" y="1333500"/>
            <a:ext cx="2533800" cy="2667000"/>
            <a:chOff x="0" y="0"/>
            <a:chExt cx="2533800" cy="2667000"/>
          </a:xfrm>
        </p:grpSpPr>
        <p:sp>
          <p:nvSpPr>
            <p:cNvPr id="2038" name="Google Shape;2038;p112"/>
            <p:cNvSpPr/>
            <p:nvPr/>
          </p:nvSpPr>
          <p:spPr>
            <a:xfrm>
              <a:off x="0" y="0"/>
              <a:ext cx="2533800" cy="2667000"/>
            </a:xfrm>
            <a:prstGeom prst="roundRect">
              <a:avLst>
                <a:gd fmla="val 300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112"/>
            <p:cNvSpPr txBox="1"/>
            <p:nvPr/>
          </p:nvSpPr>
          <p:spPr>
            <a:xfrm>
              <a:off x="190500" y="25984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40" name="Google Shape;2040;p112"/>
            <p:cNvSpPr txBox="1"/>
            <p:nvPr/>
          </p:nvSpPr>
          <p:spPr>
            <a:xfrm>
              <a:off x="190500" y="66675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Efficiency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112"/>
            <p:cNvSpPr txBox="1"/>
            <p:nvPr/>
          </p:nvSpPr>
          <p:spPr>
            <a:xfrm>
              <a:off x="190500" y="95250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Batching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112"/>
            <p:cNvSpPr txBox="1"/>
            <p:nvPr/>
          </p:nvSpPr>
          <p:spPr>
            <a:xfrm>
              <a:off x="190500" y="1428750"/>
              <a:ext cx="2152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Reduce speculation search space through intelligent request batching.</a:t>
              </a:r>
              <a:endParaRPr b="0" sz="11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43" name="Google Shape;2043;p112"/>
          <p:cNvPicPr preferRelativeResize="0"/>
          <p:nvPr/>
        </p:nvPicPr>
        <p:blipFill rotWithShape="1">
          <a:blip r:embed="rId3">
            <a:alphaModFix/>
          </a:blip>
          <a:srcRect b="739" l="0" r="0" t="739"/>
          <a:stretch/>
        </p:blipFill>
        <p:spPr>
          <a:xfrm>
            <a:off x="146685" y="4752975"/>
            <a:ext cx="40500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4" name="Google Shape;2044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11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b="1" i="0"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13"/>
          <p:cNvSpPr txBox="1"/>
          <p:nvPr/>
        </p:nvSpPr>
        <p:spPr>
          <a:xfrm>
            <a:off x="571500" y="798195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Explore the codebase and contribution guidelines</a:t>
            </a:r>
            <a:endParaRPr b="0" i="0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113"/>
          <p:cNvSpPr/>
          <p:nvPr/>
        </p:nvSpPr>
        <p:spPr>
          <a:xfrm>
            <a:off x="571500" y="1333500"/>
            <a:ext cx="3905400" cy="2762400"/>
          </a:xfrm>
          <a:prstGeom prst="roundRect">
            <a:avLst>
              <a:gd fmla="val 4137" name="adj"/>
            </a:avLst>
          </a:prstGeom>
          <a:solidFill>
            <a:srgbClr val="14141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13"/>
          <p:cNvSpPr/>
          <p:nvPr/>
        </p:nvSpPr>
        <p:spPr>
          <a:xfrm>
            <a:off x="4667250" y="1333500"/>
            <a:ext cx="3905400" cy="2762400"/>
          </a:xfrm>
          <a:prstGeom prst="roundRect">
            <a:avLst>
              <a:gd fmla="val 4137" name="adj"/>
            </a:avLst>
          </a:prstGeom>
          <a:solidFill>
            <a:srgbClr val="14141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2" name="Google Shape;2052;p113"/>
          <p:cNvGrpSpPr/>
          <p:nvPr/>
        </p:nvGrpSpPr>
        <p:grpSpPr>
          <a:xfrm>
            <a:off x="857250" y="1609598"/>
            <a:ext cx="3333900" cy="2286127"/>
            <a:chOff x="0" y="37973"/>
            <a:chExt cx="3333900" cy="2286127"/>
          </a:xfrm>
        </p:grpSpPr>
        <p:sp>
          <p:nvSpPr>
            <p:cNvPr id="2053" name="Google Shape;2053;p113"/>
            <p:cNvSpPr txBox="1"/>
            <p:nvPr/>
          </p:nvSpPr>
          <p:spPr>
            <a:xfrm>
              <a:off x="0" y="3797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b="0" sz="26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54" name="Google Shape;2054;p113"/>
            <p:cNvSpPr txBox="1"/>
            <p:nvPr/>
          </p:nvSpPr>
          <p:spPr>
            <a:xfrm>
              <a:off x="0" y="419100"/>
              <a:ext cx="3333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GITHUB REPOSITORY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Scan to view and explore</a:t>
              </a:r>
              <a:endPara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Access the codebase, review guidelines, and contribute directly on GitHub.</a:t>
              </a:r>
              <a:endParaRPr b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https://github.com/uber/submitqueue</a:t>
              </a:r>
              <a:endParaRPr b="1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5" name="Google Shape;2055;p113"/>
          <p:cNvSpPr/>
          <p:nvPr/>
        </p:nvSpPr>
        <p:spPr>
          <a:xfrm>
            <a:off x="5572125" y="1666875"/>
            <a:ext cx="2095500" cy="2095500"/>
          </a:xfrm>
          <a:prstGeom prst="roundRect">
            <a:avLst>
              <a:gd fmla="val 545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6" name="Google Shape;2056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375" y="176212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Google Shape;2057;p113"/>
          <p:cNvPicPr preferRelativeResize="0"/>
          <p:nvPr/>
        </p:nvPicPr>
        <p:blipFill rotWithShape="1">
          <a:blip r:embed="rId4">
            <a:alphaModFix/>
          </a:blip>
          <a:srcRect b="739" l="0" r="0" t="739"/>
          <a:stretch/>
        </p:blipFill>
        <p:spPr>
          <a:xfrm>
            <a:off x="146750" y="4753061"/>
            <a:ext cx="40500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8" name="Google Shape;2058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1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Questions &amp; Discussion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2064" name="Google Shape;2064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5" name="Google Shape;2065;p114"/>
          <p:cNvSpPr txBox="1"/>
          <p:nvPr/>
        </p:nvSpPr>
        <p:spPr>
          <a:xfrm>
            <a:off x="1067300" y="4299760"/>
            <a:ext cx="335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Preetam Dwivedi</a:t>
            </a:r>
            <a:b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@behinddwalls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2066" name="Google Shape;2066;p114" title="linkedin_q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4351" y="1179335"/>
            <a:ext cx="3075599" cy="307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7" name="Google Shape;2067;p114" title="manjari_linkedin_q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1100" y="1179335"/>
            <a:ext cx="3075599" cy="3075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114"/>
          <p:cNvSpPr txBox="1"/>
          <p:nvPr/>
        </p:nvSpPr>
        <p:spPr>
          <a:xfrm>
            <a:off x="4913875" y="4299760"/>
            <a:ext cx="387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Manjari Akella</a:t>
            </a:r>
            <a:b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@manjari-akella-b7a0a791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069" name="Google Shape;2069;p114"/>
          <p:cNvSpPr txBox="1"/>
          <p:nvPr/>
        </p:nvSpPr>
        <p:spPr>
          <a:xfrm>
            <a:off x="571500" y="697148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Scan to connect on LinkedIn — happy to continue the conversation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