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Barlow ExtraLight"/>
      <p:regular r:id="rId53"/>
      <p:bold r:id="rId54"/>
      <p:italic r:id="rId55"/>
      <p:boldItalic r:id="rId56"/>
    </p:embeddedFont>
    <p:embeddedFont>
      <p:font typeface="Hepta Slab Medium"/>
      <p:regular r:id="rId57"/>
      <p:bold r:id="rId58"/>
    </p:embeddedFont>
    <p:embeddedFont>
      <p:font typeface="Inter"/>
      <p:bold r:id="rId59"/>
      <p:boldItalic r:id="rId60"/>
    </p:embeddedFont>
    <p:embeddedFont>
      <p:font typeface="Barlow SemiBold"/>
      <p:regular r:id="rId61"/>
      <p:bold r:id="rId62"/>
      <p:italic r:id="rId63"/>
      <p:boldItalic r:id="rId64"/>
    </p:embeddedFont>
    <p:embeddedFont>
      <p:font typeface="Barlow"/>
      <p:regular r:id="rId65"/>
      <p:bold r:id="rId66"/>
      <p:italic r:id="rId67"/>
      <p:boldItalic r:id="rId68"/>
    </p:embeddedFont>
    <p:embeddedFont>
      <p:font typeface="Inter SemiBold"/>
      <p:regular r:id="rId69"/>
      <p:bold r:id="rId70"/>
      <p:italic r:id="rId71"/>
      <p:boldItalic r:id="rId72"/>
    </p:embeddedFont>
    <p:embeddedFont>
      <p:font typeface="Hepta Slab Light"/>
      <p:regular r:id="rId73"/>
      <p:bold r:id="rId74"/>
    </p:embeddedFont>
    <p:embeddedFont>
      <p:font typeface="Hepta Slab"/>
      <p:regular r:id="rId75"/>
      <p:bold r:id="rId76"/>
    </p:embeddedFont>
    <p:embeddedFont>
      <p:font typeface="Inter ExtraBold"/>
      <p:bold r:id="rId77"/>
      <p:boldItalic r:id="rId78"/>
    </p:embeddedFont>
    <p:embeddedFont>
      <p:font typeface="Barlow Medium"/>
      <p:regular r:id="rId79"/>
      <p:bold r:id="rId80"/>
      <p:italic r:id="rId81"/>
      <p:boldItalic r:id="rId82"/>
    </p:embeddedFont>
    <p:embeddedFont>
      <p:font typeface="Barlow Light"/>
      <p:regular r:id="rId83"/>
      <p:bold r:id="rId84"/>
      <p:italic r:id="rId85"/>
      <p:boldItalic r:id="rId86"/>
    </p:embeddedFont>
    <p:embeddedFont>
      <p:font typeface="Inter Medium"/>
      <p:regular r:id="rId87"/>
      <p:bold r:id="rId88"/>
      <p:italic r:id="rId89"/>
      <p:boldItalic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BarlowLight-bold.fntdata"/><Relationship Id="rId83" Type="http://schemas.openxmlformats.org/officeDocument/2006/relationships/font" Target="fonts/BarlowLight-regular.fntdata"/><Relationship Id="rId42" Type="http://schemas.openxmlformats.org/officeDocument/2006/relationships/slide" Target="slides/slide37.xml"/><Relationship Id="rId86" Type="http://schemas.openxmlformats.org/officeDocument/2006/relationships/font" Target="fonts/BarlowLight-boldItalic.fntdata"/><Relationship Id="rId41" Type="http://schemas.openxmlformats.org/officeDocument/2006/relationships/slide" Target="slides/slide36.xml"/><Relationship Id="rId85" Type="http://schemas.openxmlformats.org/officeDocument/2006/relationships/font" Target="fonts/BarlowLight-italic.fntdata"/><Relationship Id="rId44" Type="http://schemas.openxmlformats.org/officeDocument/2006/relationships/slide" Target="slides/slide39.xml"/><Relationship Id="rId88" Type="http://schemas.openxmlformats.org/officeDocument/2006/relationships/font" Target="fonts/InterMedium-bold.fntdata"/><Relationship Id="rId43" Type="http://schemas.openxmlformats.org/officeDocument/2006/relationships/slide" Target="slides/slide38.xml"/><Relationship Id="rId87" Type="http://schemas.openxmlformats.org/officeDocument/2006/relationships/font" Target="fonts/InterMedium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InterMedium-italic.fntdata"/><Relationship Id="rId80" Type="http://schemas.openxmlformats.org/officeDocument/2006/relationships/font" Target="fonts/BarlowMedium-bold.fntdata"/><Relationship Id="rId82" Type="http://schemas.openxmlformats.org/officeDocument/2006/relationships/font" Target="fonts/BarlowMedium-boldItalic.fntdata"/><Relationship Id="rId81" Type="http://schemas.openxmlformats.org/officeDocument/2006/relationships/font" Target="fonts/Barlow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ptaSlabLight-regular.fntdata"/><Relationship Id="rId72" Type="http://schemas.openxmlformats.org/officeDocument/2006/relationships/font" Target="fonts/InterSemiBold-boldItalic.fntdata"/><Relationship Id="rId31" Type="http://schemas.openxmlformats.org/officeDocument/2006/relationships/slide" Target="slides/slide26.xml"/><Relationship Id="rId75" Type="http://schemas.openxmlformats.org/officeDocument/2006/relationships/font" Target="fonts/HeptaSlab-regular.fntdata"/><Relationship Id="rId30" Type="http://schemas.openxmlformats.org/officeDocument/2006/relationships/slide" Target="slides/slide25.xml"/><Relationship Id="rId74" Type="http://schemas.openxmlformats.org/officeDocument/2006/relationships/font" Target="fonts/HeptaSlabLight-bold.fntdata"/><Relationship Id="rId33" Type="http://schemas.openxmlformats.org/officeDocument/2006/relationships/slide" Target="slides/slide28.xml"/><Relationship Id="rId77" Type="http://schemas.openxmlformats.org/officeDocument/2006/relationships/font" Target="fonts/InterExtraBold-bold.fntdata"/><Relationship Id="rId32" Type="http://schemas.openxmlformats.org/officeDocument/2006/relationships/slide" Target="slides/slide27.xml"/><Relationship Id="rId76" Type="http://schemas.openxmlformats.org/officeDocument/2006/relationships/font" Target="fonts/HeptaSlab-bold.fntdata"/><Relationship Id="rId35" Type="http://schemas.openxmlformats.org/officeDocument/2006/relationships/slide" Target="slides/slide30.xml"/><Relationship Id="rId79" Type="http://schemas.openxmlformats.org/officeDocument/2006/relationships/font" Target="fonts/BarlowMedium-regular.fntdata"/><Relationship Id="rId34" Type="http://schemas.openxmlformats.org/officeDocument/2006/relationships/slide" Target="slides/slide29.xml"/><Relationship Id="rId78" Type="http://schemas.openxmlformats.org/officeDocument/2006/relationships/font" Target="fonts/InterExtraBold-boldItalic.fntdata"/><Relationship Id="rId71" Type="http://schemas.openxmlformats.org/officeDocument/2006/relationships/font" Target="fonts/InterSemiBold-italic.fntdata"/><Relationship Id="rId70" Type="http://schemas.openxmlformats.org/officeDocument/2006/relationships/font" Target="fonts/InterSemiBold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BarlowSemiBold-bold.fntdata"/><Relationship Id="rId61" Type="http://schemas.openxmlformats.org/officeDocument/2006/relationships/font" Target="fonts/BarlowSemiBold-regular.fntdata"/><Relationship Id="rId20" Type="http://schemas.openxmlformats.org/officeDocument/2006/relationships/slide" Target="slides/slide15.xml"/><Relationship Id="rId64" Type="http://schemas.openxmlformats.org/officeDocument/2006/relationships/font" Target="fonts/BarlowSemiBold-boldItalic.fntdata"/><Relationship Id="rId63" Type="http://schemas.openxmlformats.org/officeDocument/2006/relationships/font" Target="fonts/BarlowSemiBold-italic.fntdata"/><Relationship Id="rId22" Type="http://schemas.openxmlformats.org/officeDocument/2006/relationships/slide" Target="slides/slide17.xml"/><Relationship Id="rId66" Type="http://schemas.openxmlformats.org/officeDocument/2006/relationships/font" Target="fonts/Barlow-bold.fntdata"/><Relationship Id="rId21" Type="http://schemas.openxmlformats.org/officeDocument/2006/relationships/slide" Target="slides/slide16.xml"/><Relationship Id="rId65" Type="http://schemas.openxmlformats.org/officeDocument/2006/relationships/font" Target="fonts/Barlow-regular.fntdata"/><Relationship Id="rId24" Type="http://schemas.openxmlformats.org/officeDocument/2006/relationships/slide" Target="slides/slide19.xml"/><Relationship Id="rId68" Type="http://schemas.openxmlformats.org/officeDocument/2006/relationships/font" Target="fonts/Barlow-boldItalic.fntdata"/><Relationship Id="rId23" Type="http://schemas.openxmlformats.org/officeDocument/2006/relationships/slide" Target="slides/slide18.xml"/><Relationship Id="rId67" Type="http://schemas.openxmlformats.org/officeDocument/2006/relationships/font" Target="fonts/Barlow-italic.fntdata"/><Relationship Id="rId60" Type="http://schemas.openxmlformats.org/officeDocument/2006/relationships/font" Target="fonts/Inter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InterSemiBold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BarlowExtraLight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BarlowExtraLight-italic.fntdata"/><Relationship Id="rId10" Type="http://schemas.openxmlformats.org/officeDocument/2006/relationships/slide" Target="slides/slide5.xml"/><Relationship Id="rId54" Type="http://schemas.openxmlformats.org/officeDocument/2006/relationships/font" Target="fonts/BarlowExtraLight-bold.fntdata"/><Relationship Id="rId13" Type="http://schemas.openxmlformats.org/officeDocument/2006/relationships/slide" Target="slides/slide8.xml"/><Relationship Id="rId57" Type="http://schemas.openxmlformats.org/officeDocument/2006/relationships/font" Target="fonts/HeptaSlabMedium-regular.fntdata"/><Relationship Id="rId12" Type="http://schemas.openxmlformats.org/officeDocument/2006/relationships/slide" Target="slides/slide7.xml"/><Relationship Id="rId56" Type="http://schemas.openxmlformats.org/officeDocument/2006/relationships/font" Target="fonts/BarlowExtraLight-boldItalic.fntdata"/><Relationship Id="rId90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59" Type="http://schemas.openxmlformats.org/officeDocument/2006/relationships/font" Target="fonts/Inter-bold.fntdata"/><Relationship Id="rId14" Type="http://schemas.openxmlformats.org/officeDocument/2006/relationships/slide" Target="slides/slide9.xml"/><Relationship Id="rId58" Type="http://schemas.openxmlformats.org/officeDocument/2006/relationships/font" Target="fonts/HeptaSlab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d88e60c4e652b23_2_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c7ab47fde0683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c7ab47fde0683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28eb7713e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28eb7713e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this talk,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go over </a:t>
            </a:r>
            <a:r>
              <a:rPr lang="en"/>
              <a:t>problem</a:t>
            </a:r>
            <a:r>
              <a:rPr lang="en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the approach,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 into the core concepts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the system architecture, evolution of the system and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then we discuss limitations and future plans for the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lets get started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1490ee5a1_0_6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1490ee5a1_0_6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talk about Monorepos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many of you are familiar with Monorepo concept?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of you have worked with Monorepos?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c52514b3d_1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c52514b3d_1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2 ways to organize your code,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1) single giant repo aka monorepo where all of your engineers work on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100s/1000s of repos aka poly repos where each service/lib is a separate repository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b561aea6c_1_22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b561aea6c_1_22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Uber, we primarily practice monorepos and we have 6 lang based monorepos where more than 5k+ people contribute, generating 36K+ commit a week, spanning across 27k+ PR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28eb7713e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28eb7713e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let’s understand the problem, and see why green builds in PRs don’t </a:t>
            </a:r>
            <a:r>
              <a:rPr lang="en"/>
              <a:t>guarantee</a:t>
            </a:r>
            <a:r>
              <a:rPr lang="en"/>
              <a:t> a green trunk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c52514b3d_1_2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bc52514b3d_1_2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hbf6e4c67a39a825_4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hbf6e4c67a39a825_4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Callout: Land is synonymous with merge, we will those term interchangeably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8fc9039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8fc9039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Callout: Land is synonymous with merge, we will those term interchangeably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How many of you here have experienced the broken mainline in a small team/repository set-up?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ec2f6331e_1_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imagine thousands of engineers working in a single repo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breakage is global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of detecting and fixing is high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it all leads to loss in productivity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how do we solve this at Uber?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28eb7713e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c28eb7713e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we solve this problem by employing a system called “SubmitQueue”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28eb7713e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c28eb7713e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SubmitQueue is a merge queue which validates future state for a request against mainline in relation to other changes before merging.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ensures the trunk is green at all times without sacrificing </a:t>
            </a:r>
            <a:r>
              <a:rPr lang="en"/>
              <a:t>velocity. In short, test future states before merging.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1386e88ed_1_177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a request in SQ, goes over 5 steps,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Validate, speculate (future states), build &amp; test futures, decide whether we can merge or not, if not, then </a:t>
            </a:r>
            <a:r>
              <a:rPr lang="en"/>
              <a:t>speculate other remaining futures.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1386e88ed_1_16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1386e88ed_1_16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we’re about to discuss happens inside the speculate → build → decide loop.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bbb9fd401_0_1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bbb9fd401_0_1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28eb7713e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c28eb7713e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8fc9039d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d8fc9039d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c28eb7713e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c28eb7713e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d8fc9039d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d8fc9039d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8fc9039d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d8fc9039d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d8fc9039d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d8fc9039d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d6cba02daa_24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d6cba02daa_24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1490ee5a1_0_10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c28eb7713e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c28eb7713e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Preetam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 us now look at at how we </a:t>
            </a:r>
            <a:r>
              <a:rPr lang="en"/>
              <a:t>address</a:t>
            </a:r>
            <a:r>
              <a:rPr lang="en"/>
              <a:t> this problem of speculative validation at scale.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will look at a few optimizations that help us reduce the speculative space that needs to be validated.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First - let’s talk about Pruning. The philosophy behind this is based on a simple question - Why continue to build and validate certain futures when then can no longer materialize.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an example to understand. B1…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d8fc9039d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d8fc9039d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Conversely if B1 fails then the right subtree can be safely discarded as these consist of futures that will never become a reality as it relies on the assumption that B1 has </a:t>
            </a:r>
            <a:r>
              <a:rPr lang="en"/>
              <a:t>succeeded.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d1386e88ed_1_212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second optimization we’ll look at is Dependency Mapping.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 far we have made an assumption about the changes in the queue - everything change depends on every other change or in other words - all changes “conflict” with each other. This is rarely the case, especially in bigger monorepos.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this optimization we identify the components </a:t>
            </a:r>
            <a:r>
              <a:rPr lang="en"/>
              <a:t>affected</a:t>
            </a:r>
            <a:r>
              <a:rPr lang="en"/>
              <a:t> by a change.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Then, we perform overlap detection based on these components for 2 changes and determine whether they “conflict” or depend on each other - meaning they need to be validated together.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helps us optimize usage of CI by avoiding validation of </a:t>
            </a:r>
            <a:r>
              <a:rPr lang="en"/>
              <a:t>unnecessary</a:t>
            </a:r>
            <a:r>
              <a:rPr lang="en"/>
              <a:t> </a:t>
            </a:r>
            <a:r>
              <a:rPr lang="en"/>
              <a:t>dependencies.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d1386e88ed_1_87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“components” that we define to determine this overlap are what we call “build targets”. A build target is a unit of code along with its dependencies that is required to be built and tested.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look at an example. On the left we have a repo from which we compute a build target dependency graph.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Each of the nodes in this graph is a build target and changes that come into the queue are checked for overlap based on the targets that they touch.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bca7cc3d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bca7cc3d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look at an example of how this helps reduce the number of futures that need to be tested.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Same example from before but we not see that C1 modifies target A…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can see that for change C2 - we no longer depend on the outcome of change C1.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Similarly</a:t>
            </a:r>
            <a:r>
              <a:rPr lang="en"/>
              <a:t>, for C3 - we no longer depends on either C1 since the targets that they modify have no overlap.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C3 however still depends on C2 - since they both overlap in the build targets they modify.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bca7cc3dc3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bca7cc3dc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next optimization we will look at, </a:t>
            </a:r>
            <a:r>
              <a:rPr lang="en"/>
              <a:t>probabilistic</a:t>
            </a:r>
            <a:r>
              <a:rPr lang="en"/>
              <a:t> speculation, is geared towards optimizing the use of CI resources. The philosophy behind this…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we do this - predict </a:t>
            </a:r>
            <a:r>
              <a:rPr lang="en"/>
              <a:t>probabilities…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fb561aea6c_1_22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fb561aea6c_1_22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help us with this prioritization - we construct an annotated version of the speculation trees we looked at earlier.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values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Success, Failure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Property</a:t>
            </a:r>
            <a:r>
              <a:rPr lang="en"/>
              <a:t> of a change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Depends</a:t>
            </a:r>
            <a:r>
              <a:rPr lang="en"/>
              <a:t> on individual characteristics of a change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Quantifies</a:t>
            </a:r>
            <a:r>
              <a:rPr lang="en"/>
              <a:t> how likely a change is to succeed or fail to merge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- the annotation we add to the speculation tree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Property</a:t>
            </a:r>
            <a:r>
              <a:rPr lang="en"/>
              <a:t> of a build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Depends </a:t>
            </a:r>
            <a:r>
              <a:rPr lang="en"/>
              <a:t>on the success and failure scores, specifically the product of the speculated changes in a build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/>
              <a:t>Quantifies</a:t>
            </a:r>
            <a:r>
              <a:rPr lang="en"/>
              <a:t> how important it is that we speculate on THIS future - a measure of how likely THIS future is going to be the reality.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values are in the range [0,1]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this in mind lets build the annotated speculation tree for the example we saw earlier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the assumption all changes conflict with each other.</a:t>
            </a:r>
            <a:br>
              <a:rPr lang="en"/>
            </a:br>
            <a:br>
              <a:rPr lang="en"/>
            </a:br>
            <a:r>
              <a:rPr lang="en"/>
              <a:t>Root has no assumptions - Importance is 1.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bca7cc3dc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bca7cc3dc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is determined by the success/failure scores of changes in the assumption of a build. More specifically the product of success/failure scores in the assumption path of that build.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I(B2) is … I(B12) is …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e61838bb4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e61838bb4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bca7cc3dc3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bca7cc3dc3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e61838bb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e61838bb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e61838bb4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e61838bb4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e61838bb4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e61838bb4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we compute the importance of the builds, we use this as a measure of how CI </a:t>
            </a:r>
            <a:r>
              <a:rPr lang="en"/>
              <a:t>resources</a:t>
            </a:r>
            <a:r>
              <a:rPr lang="en"/>
              <a:t> get allocated - higher importance builds are scheduled ahead of lower ones - the idea being a </a:t>
            </a:r>
            <a:r>
              <a:rPr lang="en"/>
              <a:t>higher importance build is more likely to become a reality.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d1490ee5a1_0_59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last optimization is geared towards increasing throughput.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optimization provides a way to depart from this strict FIFO … while keeping safety protocols in place.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Earlier - </a:t>
            </a:r>
            <a:r>
              <a:rPr lang="en"/>
              <a:t>Preetam walked us through the merge order - even after the build for a change is completed - each change has to wait for all its assumptions to be verified by reality to merge.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look at a way we can bypass this.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bca7cc3dc3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bca7cc3dc3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this example - the Question becomes Can C2 merge before C1.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Answer is yes - but how?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bca7cc3dc3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bca7cc3dc3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B2 and B12 both pass - this renders the outcome of B1 irrelevant - if that happens, C2 can merge ahead of C1.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There is a caveat though - As the depth of this tree grows, the nodes of a level grow, and </a:t>
            </a:r>
            <a:r>
              <a:rPr lang="en"/>
              <a:t>all nodes in a level must pass.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This optimization has diminishing returns as depth increases and hence we cap this optimization to a limited depth.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Handover to Preetam - architecture, some limitations and future of SQ at Uber.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d1386e88ed_1_16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d1386e88ed_1_16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d1386e88ed_1_2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d1386e88ed_1_42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fb561aea6c_1_138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b561aea6c_1_14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fb561aea6c_1_14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fb561aea6c_1_40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bca7cc3dc3_0_2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3bca7cc3dc3_0_2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page - Black">
  <p:cSld name="TITLE_1_1_2_1_3_1_2_1_1_1_1_1_1_1_1_1">
    <p:bg>
      <p:bgPr>
        <a:solidFill>
          <a:srgbClr val="000000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24">
          <p15:clr>
            <a:srgbClr val="00FFFF"/>
          </p15:clr>
        </p15:guide>
        <p15:guide id="2" pos="599">
          <p15:clr>
            <a:srgbClr val="999999"/>
          </p15:clr>
        </p15:guide>
        <p15:guide id="3" pos="672">
          <p15:clr>
            <a:srgbClr val="999999"/>
          </p15:clr>
        </p15:guide>
        <p15:guide id="4" pos="1049">
          <p15:clr>
            <a:srgbClr val="999999"/>
          </p15:clr>
        </p15:guide>
        <p15:guide id="5" pos="1123">
          <p15:clr>
            <a:srgbClr val="999999"/>
          </p15:clr>
        </p15:guide>
        <p15:guide id="6" pos="1496">
          <p15:clr>
            <a:srgbClr val="999999"/>
          </p15:clr>
        </p15:guide>
        <p15:guide id="7" pos="1571">
          <p15:clr>
            <a:srgbClr val="999999"/>
          </p15:clr>
        </p15:guide>
        <p15:guide id="8" pos="1947">
          <p15:clr>
            <a:srgbClr val="999999"/>
          </p15:clr>
        </p15:guide>
        <p15:guide id="9" pos="2018">
          <p15:clr>
            <a:srgbClr val="999999"/>
          </p15:clr>
        </p15:guide>
        <p15:guide id="10" pos="2395">
          <p15:clr>
            <a:srgbClr val="999999"/>
          </p15:clr>
        </p15:guide>
        <p15:guide id="11" pos="2471">
          <p15:clr>
            <a:srgbClr val="999999"/>
          </p15:clr>
        </p15:guide>
        <p15:guide id="12" pos="3742">
          <p15:clr>
            <a:srgbClr val="999999"/>
          </p15:clr>
        </p15:guide>
        <p15:guide id="13" pos="3819">
          <p15:clr>
            <a:srgbClr val="999999"/>
          </p15:clr>
        </p15:guide>
        <p15:guide id="14" pos="4189">
          <p15:clr>
            <a:srgbClr val="999999"/>
          </p15:clr>
        </p15:guide>
        <p15:guide id="15" pos="4264">
          <p15:clr>
            <a:srgbClr val="999999"/>
          </p15:clr>
        </p15:guide>
        <p15:guide id="16" pos="5088">
          <p15:clr>
            <a:srgbClr val="999999"/>
          </p15:clr>
        </p15:guide>
        <p15:guide id="17" pos="5166">
          <p15:clr>
            <a:srgbClr val="999999"/>
          </p15:clr>
        </p15:guide>
        <p15:guide id="18" pos="5537">
          <p15:clr>
            <a:srgbClr val="00FFFF"/>
          </p15:clr>
        </p15:guide>
        <p15:guide id="19" orient="horz" pos="227">
          <p15:clr>
            <a:srgbClr val="00FFFF"/>
          </p15:clr>
        </p15:guide>
        <p15:guide id="20" orient="horz" pos="3013">
          <p15:clr>
            <a:srgbClr val="00FFFF"/>
          </p15:clr>
        </p15:guide>
        <p15:guide id="21" orient="horz" pos="1620">
          <p15:clr>
            <a:srgbClr val="FA7B17"/>
          </p15:clr>
        </p15:guide>
        <p15:guide id="22" pos="2846">
          <p15:clr>
            <a:srgbClr val="999999"/>
          </p15:clr>
        </p15:guide>
        <p15:guide id="23" pos="2919">
          <p15:clr>
            <a:srgbClr val="999999"/>
          </p15:clr>
        </p15:guide>
        <p15:guide id="24" pos="3296">
          <p15:clr>
            <a:srgbClr val="999999"/>
          </p15:clr>
        </p15:guide>
        <p15:guide id="25" pos="3369">
          <p15:clr>
            <a:srgbClr val="999999"/>
          </p15:clr>
        </p15:guide>
        <p15:guide id="26" pos="4715">
          <p15:clr>
            <a:srgbClr val="999999"/>
          </p15:clr>
        </p15:guide>
        <p15:guide id="27" pos="4644">
          <p15:clr>
            <a:srgbClr val="999999"/>
          </p15:clr>
        </p15:guide>
        <p15:guide id="28" orient="horz" pos="1090">
          <p15:clr>
            <a:srgbClr val="0E1FC1"/>
          </p15:clr>
        </p15:guide>
        <p15:guide id="29" orient="horz" pos="1349">
          <p15:clr>
            <a:srgbClr val="0E1FC1"/>
          </p15:clr>
        </p15:guide>
        <p15:guide id="30" orient="horz" pos="1466">
          <p15:clr>
            <a:srgbClr val="0E1FC1"/>
          </p15:clr>
        </p15:guide>
        <p15:guide id="31" orient="horz" pos="1724">
          <p15:clr>
            <a:srgbClr val="0E1FC1"/>
          </p15:clr>
        </p15:guide>
        <p15:guide id="32" orient="horz" pos="1842">
          <p15:clr>
            <a:srgbClr val="0E1FC1"/>
          </p15:clr>
        </p15:guide>
        <p15:guide id="33" orient="horz" pos="2099">
          <p15:clr>
            <a:srgbClr val="0E1FC1"/>
          </p15:clr>
        </p15:guide>
        <p15:guide id="34" pos="2880">
          <p15:clr>
            <a:srgbClr val="FA7B17"/>
          </p15:clr>
        </p15:guide>
        <p15:guide id="35" orient="horz" pos="345">
          <p15:clr>
            <a:srgbClr val="0E1FC1"/>
          </p15:clr>
        </p15:guide>
        <p15:guide id="36" orient="horz" pos="443">
          <p15:clr>
            <a:srgbClr val="0E1FC1"/>
          </p15:clr>
        </p15:guide>
        <p15:guide id="37" orient="horz" pos="518">
          <p15:clr>
            <a:srgbClr val="0E1FC1"/>
          </p15:clr>
        </p15:guide>
        <p15:guide id="38" orient="horz" pos="617">
          <p15:clr>
            <a:srgbClr val="0E1FC1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0.jp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5" Type="http://schemas.openxmlformats.org/officeDocument/2006/relationships/image" Target="../media/image41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" y="1323975"/>
            <a:ext cx="962100" cy="2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0" y="3429000"/>
            <a:ext cx="962100" cy="2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9"/>
          <p:cNvSpPr txBox="1"/>
          <p:nvPr/>
        </p:nvSpPr>
        <p:spPr>
          <a:xfrm>
            <a:off x="571500" y="142875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Merging at Scale</a:t>
            </a:r>
            <a:endParaRPr sz="5400">
              <a:solidFill>
                <a:srgbClr val="FFFFFF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33" name="Google Shape;333;p49"/>
          <p:cNvSpPr txBox="1"/>
          <p:nvPr/>
        </p:nvSpPr>
        <p:spPr>
          <a:xfrm>
            <a:off x="571500" y="2571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From </a:t>
            </a:r>
            <a:r>
              <a:rPr b="0" lang="en" sz="2400">
                <a:solidFill>
                  <a:srgbClr val="FF4D4D"/>
                </a:solidFill>
                <a:latin typeface="Hepta Slab"/>
                <a:ea typeface="Hepta Slab"/>
                <a:cs typeface="Hepta Slab"/>
                <a:sym typeface="Hepta Slab"/>
              </a:rPr>
              <a:t>Broken</a:t>
            </a:r>
            <a:r>
              <a:rPr b="0" lang="en" sz="2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 Builds to </a:t>
            </a:r>
            <a:r>
              <a:rPr b="0" lang="en" sz="2400">
                <a:solidFill>
                  <a:srgbClr val="00FF85"/>
                </a:solidFill>
                <a:latin typeface="Hepta Slab"/>
                <a:ea typeface="Hepta Slab"/>
                <a:cs typeface="Hepta Slab"/>
                <a:sym typeface="Hepta Slab"/>
              </a:rPr>
              <a:t>Green</a:t>
            </a:r>
            <a:r>
              <a:rPr b="0" lang="en" sz="2400">
                <a:solidFill>
                  <a:srgbClr val="FFFFFF"/>
                </a:solidFill>
                <a:latin typeface="Hepta Slab"/>
                <a:ea typeface="Hepta Slab"/>
                <a:cs typeface="Hepta Slab"/>
                <a:sym typeface="Hepta Slab"/>
              </a:rPr>
              <a:t> Mainline</a:t>
            </a:r>
            <a:endParaRPr b="0" sz="2400">
              <a:solidFill>
                <a:srgbClr val="FFFFFF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34" name="Google Shape;334;p49"/>
          <p:cNvSpPr/>
          <p:nvPr/>
        </p:nvSpPr>
        <p:spPr>
          <a:xfrm>
            <a:off x="4095750" y="3341175"/>
            <a:ext cx="952500" cy="19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9"/>
          <p:cNvSpPr txBox="1"/>
          <p:nvPr/>
        </p:nvSpPr>
        <p:spPr>
          <a:xfrm>
            <a:off x="571500" y="3739801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CCCCCC"/>
                </a:solidFill>
                <a:latin typeface="Hepta Slab"/>
                <a:ea typeface="Hepta Slab"/>
                <a:cs typeface="Hepta Slab"/>
                <a:sym typeface="Hepta Slab"/>
              </a:rPr>
              <a:t>Preetam Dwivedi</a:t>
            </a:r>
            <a:endParaRPr b="0" sz="1600">
              <a:solidFill>
                <a:srgbClr val="CCCCCC"/>
              </a:solidFill>
              <a:latin typeface="Hepta Slab"/>
              <a:ea typeface="Hepta Slab"/>
              <a:cs typeface="Hepta Slab"/>
              <a:sym typeface="Hepta Slab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CCCCCC"/>
                </a:solidFill>
                <a:latin typeface="Hepta Slab"/>
                <a:ea typeface="Hepta Slab"/>
                <a:cs typeface="Hepta Slab"/>
                <a:sym typeface="Hepta Slab"/>
              </a:rPr>
              <a:t>Manjari Akella</a:t>
            </a:r>
            <a:endParaRPr b="0" sz="1600">
              <a:solidFill>
                <a:srgbClr val="CCCCCC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pic>
        <p:nvPicPr>
          <p:cNvPr id="336" name="Google Shape;33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2600" y="11862"/>
            <a:ext cx="2138798" cy="128310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/>
          <p:nvPr/>
        </p:nvSpPr>
        <p:spPr>
          <a:xfrm>
            <a:off x="4095750" y="1152250"/>
            <a:ext cx="952500" cy="192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/>
        </p:nvSpPr>
        <p:spPr>
          <a:xfrm>
            <a:off x="2386232" y="2960262"/>
            <a:ext cx="214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Preetam Dwivedi</a:t>
            </a:r>
            <a:r>
              <a:rPr b="1" i="0" lang="en" sz="1300" u="none" cap="none" strike="noStrike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</a:t>
            </a:r>
            <a:br>
              <a:rPr i="0" lang="en" sz="1300" u="none" cap="none" strike="noStrike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</a:br>
            <a:r>
              <a:rPr lang="en" sz="12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Staff Engineer, </a:t>
            </a:r>
            <a:endParaRPr sz="12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Developer Platform,</a:t>
            </a:r>
            <a:endParaRPr sz="12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Uber</a:t>
            </a:r>
            <a:endParaRPr i="0" sz="1200" u="none" cap="none" strike="noStrike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43" name="Google Shape;343;p50" title="profile-pic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462" y="1348054"/>
            <a:ext cx="1493374" cy="149337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/>
        </p:nvSpPr>
        <p:spPr>
          <a:xfrm>
            <a:off x="4609782" y="2938062"/>
            <a:ext cx="214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Manjari Akella</a:t>
            </a:r>
            <a:br>
              <a:rPr i="0" lang="en" sz="1300" u="none" cap="none" strike="noStrike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</a:br>
            <a:r>
              <a:rPr lang="en" sz="12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Sr. Engineer,</a:t>
            </a:r>
            <a:endParaRPr sz="12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Developer Platform,</a:t>
            </a:r>
            <a:endParaRPr sz="12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Uber</a:t>
            </a:r>
            <a:endParaRPr sz="12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45" name="Google Shape;345;p50" title="higher_res_pi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550" y="1348050"/>
            <a:ext cx="1569574" cy="157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About Us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/>
        </p:nvSpPr>
        <p:spPr>
          <a:xfrm>
            <a:off x="551850" y="979375"/>
            <a:ext cx="5152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Problem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Approach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Core Concepts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Architecture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Results 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Limitations &amp; Future Plan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ber Move"/>
              <a:buChar char="●"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Q&amp;A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53" name="Google Shape;35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Outline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2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Monorepos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One Codebase, Many Tradeoffs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61" name="Google Shape;36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One or Many?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368" name="Google Shape;368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762" y="16687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387" y="16687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012" y="16687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762" y="22973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387" y="22973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012" y="22973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2863" y="1643975"/>
            <a:ext cx="1855525" cy="18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762" y="29260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387" y="292603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3" title="repo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9012" y="2926038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3"/>
          <p:cNvSpPr txBox="1"/>
          <p:nvPr/>
        </p:nvSpPr>
        <p:spPr>
          <a:xfrm>
            <a:off x="3945450" y="2381250"/>
            <a:ext cx="86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OR</a:t>
            </a:r>
            <a:endParaRPr sz="119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79" name="Google Shape;379;p53"/>
          <p:cNvSpPr txBox="1"/>
          <p:nvPr/>
        </p:nvSpPr>
        <p:spPr>
          <a:xfrm>
            <a:off x="1567625" y="37950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Monor</a:t>
            </a: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epo</a:t>
            </a:r>
            <a:endParaRPr b="1" sz="2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80" name="Google Shape;380;p53"/>
          <p:cNvSpPr txBox="1"/>
          <p:nvPr/>
        </p:nvSpPr>
        <p:spPr>
          <a:xfrm>
            <a:off x="5172725" y="37950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Poly </a:t>
            </a:r>
            <a:r>
              <a:rPr b="1" lang="en" sz="2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Repo</a:t>
            </a:r>
            <a:endParaRPr b="1" sz="2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4"/>
          <p:cNvSpPr txBox="1"/>
          <p:nvPr/>
        </p:nvSpPr>
        <p:spPr>
          <a:xfrm>
            <a:off x="551850" y="116775"/>
            <a:ext cx="765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Monorepos at Uber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387" name="Google Shape;387;p54"/>
          <p:cNvSpPr/>
          <p:nvPr/>
        </p:nvSpPr>
        <p:spPr>
          <a:xfrm>
            <a:off x="428625" y="857250"/>
            <a:ext cx="2667000" cy="3952800"/>
          </a:xfrm>
          <a:prstGeom prst="roundRect">
            <a:avLst>
              <a:gd fmla="val 5000" name="adj"/>
            </a:avLst>
          </a:prstGeom>
          <a:solidFill>
            <a:srgbClr val="09090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4"/>
          <p:cNvSpPr/>
          <p:nvPr/>
        </p:nvSpPr>
        <p:spPr>
          <a:xfrm>
            <a:off x="3286125" y="857250"/>
            <a:ext cx="5429400" cy="3952800"/>
          </a:xfrm>
          <a:prstGeom prst="roundRect">
            <a:avLst>
              <a:gd fmla="val 3373" name="adj"/>
            </a:avLst>
          </a:prstGeom>
          <a:solidFill>
            <a:srgbClr val="09090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4"/>
          <p:cNvSpPr txBox="1"/>
          <p:nvPr/>
        </p:nvSpPr>
        <p:spPr>
          <a:xfrm>
            <a:off x="619125" y="1028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DEVELOPMENT SCALE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54"/>
          <p:cNvSpPr txBox="1"/>
          <p:nvPr/>
        </p:nvSpPr>
        <p:spPr>
          <a:xfrm>
            <a:off x="619125" y="133350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5K+ </a:t>
            </a:r>
            <a:r>
              <a:rPr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Contributors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1" name="Google Shape;391;p54"/>
          <p:cNvSpPr txBox="1"/>
          <p:nvPr/>
        </p:nvSpPr>
        <p:spPr>
          <a:xfrm>
            <a:off x="619125" y="211455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36K+ </a:t>
            </a:r>
            <a:r>
              <a:rPr b="0"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Commits / Wk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2" name="Google Shape;392;p54"/>
          <p:cNvSpPr txBox="1"/>
          <p:nvPr/>
        </p:nvSpPr>
        <p:spPr>
          <a:xfrm>
            <a:off x="619125" y="289560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27K </a:t>
            </a:r>
            <a:r>
              <a:rPr b="0" i="0"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PRs / Wk</a:t>
            </a:r>
            <a:endParaRPr b="0" i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3" name="Google Shape;393;p54"/>
          <p:cNvSpPr txBox="1"/>
          <p:nvPr/>
        </p:nvSpPr>
        <p:spPr>
          <a:xfrm>
            <a:off x="619125" y="3676650"/>
            <a:ext cx="2286000" cy="6858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52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440M+ </a:t>
            </a:r>
            <a:r>
              <a:rPr b="0" lang="en" sz="1100">
                <a:solidFill>
                  <a:srgbClr val="A1A1AA"/>
                </a:solidFill>
                <a:latin typeface="Inter Medium"/>
                <a:ea typeface="Inter Medium"/>
                <a:cs typeface="Inter Medium"/>
                <a:sym typeface="Inter Medium"/>
              </a:rPr>
              <a:t>Lines of Code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Google Shape;394;p54"/>
          <p:cNvSpPr txBox="1"/>
          <p:nvPr/>
        </p:nvSpPr>
        <p:spPr>
          <a:xfrm>
            <a:off x="3476625" y="1028700"/>
            <a:ext cx="504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MONOREPO STATS BY LANGUAGE</a:t>
            </a:r>
            <a:endParaRPr b="1" sz="900">
              <a:solidFill>
                <a:srgbClr val="34D3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54"/>
          <p:cNvSpPr txBox="1"/>
          <p:nvPr/>
        </p:nvSpPr>
        <p:spPr>
          <a:xfrm>
            <a:off x="3476625" y="133350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857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35 GB</a:t>
            </a:r>
            <a:endParaRPr b="1" i="0" sz="100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227M+ LOC</a:t>
            </a:r>
            <a:endParaRPr b="1" i="0" sz="95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22K commits/wk</a:t>
            </a:r>
            <a:endParaRPr b="1" i="0" sz="900" u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54"/>
          <p:cNvSpPr txBox="1"/>
          <p:nvPr/>
        </p:nvSpPr>
        <p:spPr>
          <a:xfrm>
            <a:off x="5200650" y="133350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Web</a:t>
            </a:r>
            <a:endParaRPr b="1" i="0" sz="100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18 GB</a:t>
            </a:r>
            <a:endParaRPr b="1" i="0" sz="100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81M LOC</a:t>
            </a:r>
            <a:endParaRPr b="1" i="0" sz="95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4K commits/wk</a:t>
            </a:r>
            <a:endParaRPr b="1" i="0" sz="900" u="none" strike="noStrike">
              <a:solidFill>
                <a:srgbClr val="F59E0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54"/>
          <p:cNvSpPr txBox="1"/>
          <p:nvPr/>
        </p:nvSpPr>
        <p:spPr>
          <a:xfrm>
            <a:off x="6924675" y="133350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17 GB</a:t>
            </a:r>
            <a:endParaRPr b="1" i="0" sz="100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57M+ LOC</a:t>
            </a:r>
            <a:endParaRPr b="1" i="0" sz="95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3.4K commits/wk</a:t>
            </a:r>
            <a:endParaRPr b="1" i="0" sz="900" u="none" strike="noStrike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54"/>
          <p:cNvSpPr txBox="1"/>
          <p:nvPr/>
        </p:nvSpPr>
        <p:spPr>
          <a:xfrm>
            <a:off x="3476625" y="287655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266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 b="1" i="0" sz="100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2200" u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11 GB</a:t>
            </a:r>
            <a:endParaRPr b="1" i="0" sz="100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950" u="none" strike="noStrike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40M LOC</a:t>
            </a:r>
            <a:endParaRPr b="1" i="0" sz="95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" sz="900" u="none" strike="noStrike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3.2K commits/wk</a:t>
            </a:r>
            <a:endParaRPr b="1" i="0" sz="900" u="none" strike="noStrike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5200650" y="287655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C4899"/>
                </a:solidFill>
                <a:latin typeface="Inter"/>
                <a:ea typeface="Inter"/>
                <a:cs typeface="Inter"/>
                <a:sym typeface="Inter"/>
              </a:rPr>
              <a:t>iOS</a:t>
            </a:r>
            <a:endParaRPr b="1" sz="1000">
              <a:solidFill>
                <a:srgbClr val="EC48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 GB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20M LOC</a:t>
            </a:r>
            <a:endParaRPr b="0" sz="950">
              <a:solidFill>
                <a:srgbClr val="E4E4E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1.2K commits/wk</a:t>
            </a:r>
            <a:endParaRPr b="0" sz="900">
              <a:solidFill>
                <a:srgbClr val="7171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54"/>
          <p:cNvSpPr txBox="1"/>
          <p:nvPr/>
        </p:nvSpPr>
        <p:spPr>
          <a:xfrm>
            <a:off x="6924675" y="2876550"/>
            <a:ext cx="1600200" cy="1485900"/>
          </a:xfrm>
          <a:prstGeom prst="rect">
            <a:avLst/>
          </a:prstGeom>
          <a:solidFill>
            <a:srgbClr val="18181B"/>
          </a:solidFill>
          <a:ln cap="flat" cmpd="sng" w="9525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400" lIns="152400" spcFirstLastPara="1" rIns="152400" wrap="square" tIns="15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Android</a:t>
            </a:r>
            <a:endParaRPr b="1" sz="10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 GB</a:t>
            </a:r>
            <a:endParaRPr b="0" sz="2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E4E4E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16M LOC</a:t>
            </a:r>
            <a:endParaRPr b="0" sz="950">
              <a:solidFill>
                <a:srgbClr val="E4E4E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71717A"/>
                </a:solidFill>
                <a:latin typeface="Inter"/>
                <a:ea typeface="Inter"/>
                <a:cs typeface="Inter"/>
                <a:sym typeface="Inter"/>
              </a:rPr>
              <a:t>1.8K commits/wk</a:t>
            </a:r>
            <a:endParaRPr b="0" sz="900">
              <a:solidFill>
                <a:srgbClr val="71717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1" name="Google Shape;401;p54"/>
          <p:cNvPicPr preferRelativeResize="0"/>
          <p:nvPr/>
        </p:nvPicPr>
        <p:blipFill rotWithShape="1">
          <a:blip r:embed="rId4">
            <a:alphaModFix/>
          </a:blip>
          <a:srcRect b="517" l="0" r="0" t="0"/>
          <a:stretch/>
        </p:blipFill>
        <p:spPr>
          <a:xfrm>
            <a:off x="3629025" y="1457325"/>
            <a:ext cx="419100" cy="3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050" y="1541238"/>
            <a:ext cx="278100" cy="2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7075" y="1428750"/>
            <a:ext cx="438300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9025" y="3152775"/>
            <a:ext cx="209700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Problem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Statement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410" name="Google Shape;410;p55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Green PRs don’t guarantee a green mainline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411" name="Google Shape;41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Green Builds on Pull Requests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418" name="Google Shape;418;p56"/>
          <p:cNvCxnSpPr/>
          <p:nvPr/>
        </p:nvCxnSpPr>
        <p:spPr>
          <a:xfrm flipH="1" rot="10800000">
            <a:off x="1515505" y="1093175"/>
            <a:ext cx="18300" cy="364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19" name="Google Shape;419;p56"/>
          <p:cNvSpPr txBox="1"/>
          <p:nvPr/>
        </p:nvSpPr>
        <p:spPr>
          <a:xfrm>
            <a:off x="1557880" y="990650"/>
            <a:ext cx="9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</a:t>
            </a: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ainline (trunk)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0" name="Google Shape;420;p56"/>
          <p:cNvSpPr/>
          <p:nvPr/>
        </p:nvSpPr>
        <p:spPr>
          <a:xfrm>
            <a:off x="1435105" y="4206650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1" name="Google Shape;421;p56"/>
          <p:cNvSpPr/>
          <p:nvPr/>
        </p:nvSpPr>
        <p:spPr>
          <a:xfrm>
            <a:off x="2433830" y="26489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2" name="Google Shape;422;p56"/>
          <p:cNvSpPr/>
          <p:nvPr/>
        </p:nvSpPr>
        <p:spPr>
          <a:xfrm>
            <a:off x="1932130" y="341232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23" name="Google Shape;423;p56"/>
          <p:cNvCxnSpPr>
            <a:stCxn id="420" idx="6"/>
            <a:endCxn id="421" idx="4"/>
          </p:cNvCxnSpPr>
          <p:nvPr/>
        </p:nvCxnSpPr>
        <p:spPr>
          <a:xfrm flipH="1" rot="10800000">
            <a:off x="1614205" y="2809250"/>
            <a:ext cx="909300" cy="14775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56"/>
          <p:cNvCxnSpPr>
            <a:stCxn id="420" idx="6"/>
            <a:endCxn id="422" idx="4"/>
          </p:cNvCxnSpPr>
          <p:nvPr/>
        </p:nvCxnSpPr>
        <p:spPr>
          <a:xfrm flipH="1" rot="10800000">
            <a:off x="1614205" y="3572450"/>
            <a:ext cx="407400" cy="7143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5" name="Google Shape;425;p56"/>
          <p:cNvSpPr txBox="1"/>
          <p:nvPr/>
        </p:nvSpPr>
        <p:spPr>
          <a:xfrm>
            <a:off x="1189780" y="407746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6" name="Google Shape;426;p56"/>
          <p:cNvSpPr txBox="1"/>
          <p:nvPr/>
        </p:nvSpPr>
        <p:spPr>
          <a:xfrm>
            <a:off x="2190730" y="251979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7" name="Google Shape;427;p56"/>
          <p:cNvSpPr txBox="1"/>
          <p:nvPr/>
        </p:nvSpPr>
        <p:spPr>
          <a:xfrm>
            <a:off x="1699805" y="3270674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8" name="Google Shape;428;p56"/>
          <p:cNvSpPr txBox="1"/>
          <p:nvPr/>
        </p:nvSpPr>
        <p:spPr>
          <a:xfrm>
            <a:off x="4207480" y="376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PR1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29" name="Google Shape;429;p56"/>
          <p:cNvCxnSpPr>
            <a:stCxn id="422" idx="6"/>
            <a:endCxn id="428" idx="1"/>
          </p:cNvCxnSpPr>
          <p:nvPr/>
        </p:nvCxnSpPr>
        <p:spPr>
          <a:xfrm>
            <a:off x="2111230" y="3492425"/>
            <a:ext cx="2096100" cy="4725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0" name="Google Shape;430;p56"/>
          <p:cNvSpPr txBox="1"/>
          <p:nvPr/>
        </p:nvSpPr>
        <p:spPr>
          <a:xfrm>
            <a:off x="4207480" y="29243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PR2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31" name="Google Shape;431;p56"/>
          <p:cNvCxnSpPr>
            <a:stCxn id="421" idx="6"/>
            <a:endCxn id="430" idx="1"/>
          </p:cNvCxnSpPr>
          <p:nvPr/>
        </p:nvCxnSpPr>
        <p:spPr>
          <a:xfrm>
            <a:off x="2612930" y="2729075"/>
            <a:ext cx="1594500" cy="3954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32" name="Google Shape;43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218" y="3713132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6"/>
          <p:cNvSpPr txBox="1"/>
          <p:nvPr/>
        </p:nvSpPr>
        <p:spPr>
          <a:xfrm>
            <a:off x="4701218" y="4047050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1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pic>
        <p:nvPicPr>
          <p:cNvPr id="434" name="Google Shape;43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47" y="2877067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6"/>
          <p:cNvSpPr txBox="1"/>
          <p:nvPr/>
        </p:nvSpPr>
        <p:spPr>
          <a:xfrm>
            <a:off x="4699647" y="3217904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2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sp>
        <p:nvSpPr>
          <p:cNvPr id="436" name="Google Shape;436;p56"/>
          <p:cNvSpPr/>
          <p:nvPr/>
        </p:nvSpPr>
        <p:spPr>
          <a:xfrm>
            <a:off x="5506775" y="1524000"/>
            <a:ext cx="3048000" cy="2095500"/>
          </a:xfrm>
          <a:prstGeom prst="roundRect">
            <a:avLst>
              <a:gd fmla="val 5454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6"/>
          <p:cNvSpPr txBox="1"/>
          <p:nvPr/>
        </p:nvSpPr>
        <p:spPr>
          <a:xfrm>
            <a:off x="5744900" y="179717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CAF5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 sz="2400">
              <a:solidFill>
                <a:srgbClr val="4CAF5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38" name="Google Shape;438;p56"/>
          <p:cNvSpPr txBox="1"/>
          <p:nvPr/>
        </p:nvSpPr>
        <p:spPr>
          <a:xfrm>
            <a:off x="6221150" y="1762125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Isolated Success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6"/>
          <p:cNvSpPr txBox="1"/>
          <p:nvPr/>
        </p:nvSpPr>
        <p:spPr>
          <a:xfrm>
            <a:off x="5744900" y="2286000"/>
            <a:ext cx="257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PRs are tested against </a:t>
            </a:r>
            <a:r>
              <a:rPr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base</a:t>
            </a: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endParaRPr b="1" sz="12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CI confirms </a:t>
            </a:r>
            <a:r>
              <a:rPr b="1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b</a:t>
            </a: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and </a:t>
            </a:r>
            <a:r>
              <a:rPr b="1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are valid</a:t>
            </a:r>
            <a:endParaRPr b="0" sz="12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Both authors see green builds</a:t>
            </a:r>
            <a:endParaRPr b="0" sz="12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Broken Builds on Mainline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446" name="Google Shape;446;p57"/>
          <p:cNvCxnSpPr/>
          <p:nvPr/>
        </p:nvCxnSpPr>
        <p:spPr>
          <a:xfrm flipH="1" rot="10800000">
            <a:off x="1515505" y="1093175"/>
            <a:ext cx="18300" cy="364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47" name="Google Shape;447;p57"/>
          <p:cNvSpPr txBox="1"/>
          <p:nvPr/>
        </p:nvSpPr>
        <p:spPr>
          <a:xfrm>
            <a:off x="1557880" y="990650"/>
            <a:ext cx="9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mainline (trunk)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8" name="Google Shape;448;p57"/>
          <p:cNvSpPr/>
          <p:nvPr/>
        </p:nvSpPr>
        <p:spPr>
          <a:xfrm>
            <a:off x="1435105" y="4206650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9" name="Google Shape;449;p57"/>
          <p:cNvSpPr/>
          <p:nvPr/>
        </p:nvSpPr>
        <p:spPr>
          <a:xfrm>
            <a:off x="2433830" y="26489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0" name="Google Shape;450;p57"/>
          <p:cNvSpPr/>
          <p:nvPr/>
        </p:nvSpPr>
        <p:spPr>
          <a:xfrm>
            <a:off x="1932130" y="341232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51" name="Google Shape;451;p57"/>
          <p:cNvCxnSpPr>
            <a:stCxn id="448" idx="6"/>
            <a:endCxn id="449" idx="4"/>
          </p:cNvCxnSpPr>
          <p:nvPr/>
        </p:nvCxnSpPr>
        <p:spPr>
          <a:xfrm flipH="1" rot="10800000">
            <a:off x="1614205" y="2809250"/>
            <a:ext cx="909300" cy="14775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7"/>
          <p:cNvCxnSpPr>
            <a:stCxn id="448" idx="6"/>
            <a:endCxn id="450" idx="4"/>
          </p:cNvCxnSpPr>
          <p:nvPr/>
        </p:nvCxnSpPr>
        <p:spPr>
          <a:xfrm flipH="1" rot="10800000">
            <a:off x="1614205" y="3572450"/>
            <a:ext cx="407400" cy="7143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3" name="Google Shape;453;p57"/>
          <p:cNvSpPr txBox="1"/>
          <p:nvPr/>
        </p:nvSpPr>
        <p:spPr>
          <a:xfrm>
            <a:off x="1189780" y="407746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4" name="Google Shape;454;p57"/>
          <p:cNvSpPr txBox="1"/>
          <p:nvPr/>
        </p:nvSpPr>
        <p:spPr>
          <a:xfrm>
            <a:off x="2190730" y="251979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5" name="Google Shape;455;p57"/>
          <p:cNvSpPr txBox="1"/>
          <p:nvPr/>
        </p:nvSpPr>
        <p:spPr>
          <a:xfrm>
            <a:off x="1699805" y="3270674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6" name="Google Shape;456;p57"/>
          <p:cNvSpPr/>
          <p:nvPr/>
        </p:nvSpPr>
        <p:spPr>
          <a:xfrm>
            <a:off x="1435105" y="27698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57" name="Google Shape;457;p57"/>
          <p:cNvCxnSpPr>
            <a:stCxn id="450" idx="0"/>
            <a:endCxn id="456" idx="6"/>
          </p:cNvCxnSpPr>
          <p:nvPr/>
        </p:nvCxnSpPr>
        <p:spPr>
          <a:xfrm flipH="1" rot="5400000">
            <a:off x="1536880" y="2927525"/>
            <a:ext cx="562200" cy="4074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57"/>
          <p:cNvSpPr txBox="1"/>
          <p:nvPr/>
        </p:nvSpPr>
        <p:spPr>
          <a:xfrm>
            <a:off x="1117705" y="2649879"/>
            <a:ext cx="3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b’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9" name="Google Shape;459;p57"/>
          <p:cNvSpPr txBox="1"/>
          <p:nvPr/>
        </p:nvSpPr>
        <p:spPr>
          <a:xfrm>
            <a:off x="4207480" y="376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PR1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60" name="Google Shape;460;p57"/>
          <p:cNvCxnSpPr>
            <a:stCxn id="450" idx="6"/>
            <a:endCxn id="459" idx="1"/>
          </p:cNvCxnSpPr>
          <p:nvPr/>
        </p:nvCxnSpPr>
        <p:spPr>
          <a:xfrm>
            <a:off x="2111230" y="3492425"/>
            <a:ext cx="2096100" cy="4725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1" name="Google Shape;461;p57"/>
          <p:cNvSpPr txBox="1"/>
          <p:nvPr/>
        </p:nvSpPr>
        <p:spPr>
          <a:xfrm>
            <a:off x="4207480" y="29243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PR2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62" name="Google Shape;462;p57"/>
          <p:cNvCxnSpPr>
            <a:stCxn id="449" idx="6"/>
            <a:endCxn id="461" idx="1"/>
          </p:cNvCxnSpPr>
          <p:nvPr/>
        </p:nvCxnSpPr>
        <p:spPr>
          <a:xfrm>
            <a:off x="2612930" y="2729075"/>
            <a:ext cx="1594500" cy="3954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63" name="Google Shape;46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218" y="3713132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7"/>
          <p:cNvSpPr txBox="1"/>
          <p:nvPr/>
        </p:nvSpPr>
        <p:spPr>
          <a:xfrm>
            <a:off x="4701218" y="4047050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1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pic>
        <p:nvPicPr>
          <p:cNvPr id="465" name="Google Shape;46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47" y="2877067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7"/>
          <p:cNvSpPr txBox="1"/>
          <p:nvPr/>
        </p:nvSpPr>
        <p:spPr>
          <a:xfrm>
            <a:off x="4699647" y="3217904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2 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sp>
        <p:nvSpPr>
          <p:cNvPr id="467" name="Google Shape;467;p57"/>
          <p:cNvSpPr txBox="1"/>
          <p:nvPr/>
        </p:nvSpPr>
        <p:spPr>
          <a:xfrm>
            <a:off x="1691021" y="2902763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merge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468" name="Google Shape;468;p57"/>
          <p:cNvSpPr/>
          <p:nvPr/>
        </p:nvSpPr>
        <p:spPr>
          <a:xfrm>
            <a:off x="5506775" y="1524000"/>
            <a:ext cx="3048000" cy="2095500"/>
          </a:xfrm>
          <a:prstGeom prst="roundRect">
            <a:avLst>
              <a:gd fmla="val 5454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7"/>
          <p:cNvSpPr txBox="1"/>
          <p:nvPr/>
        </p:nvSpPr>
        <p:spPr>
          <a:xfrm>
            <a:off x="5744900" y="179717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CAF5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</a:t>
            </a:r>
            <a:endParaRPr sz="2400">
              <a:solidFill>
                <a:srgbClr val="4CAF50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470" name="Google Shape;470;p57"/>
          <p:cNvSpPr txBox="1"/>
          <p:nvPr/>
        </p:nvSpPr>
        <p:spPr>
          <a:xfrm>
            <a:off x="6221149" y="1762125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PR1 Merges Green</a:t>
            </a:r>
            <a:endParaRPr b="1" i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7"/>
          <p:cNvSpPr txBox="1"/>
          <p:nvPr/>
        </p:nvSpPr>
        <p:spPr>
          <a:xfrm>
            <a:off x="5744899" y="2286000"/>
            <a:ext cx="25719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</a:t>
            </a:r>
            <a:r>
              <a:rPr b="1" i="0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Successful Merge:</a:t>
            </a: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PR1 integrates into mainline as commit </a:t>
            </a:r>
            <a:r>
              <a:rPr b="1" i="0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b’</a:t>
            </a: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11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• </a:t>
            </a:r>
            <a:r>
              <a:rPr b="1" i="0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Base Unchanged:</a:t>
            </a: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Build </a:t>
            </a:r>
            <a:r>
              <a:rPr b="1" i="0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b’</a:t>
            </a: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stays green because target state </a:t>
            </a:r>
            <a:r>
              <a:rPr b="1" i="0" lang="en" sz="1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</a:t>
            </a:r>
            <a:r>
              <a:rPr b="0" i="0" lang="en" sz="1100">
                <a:solidFill>
                  <a:srgbClr val="BCBCBC"/>
                </a:solidFill>
                <a:latin typeface="Barlow"/>
                <a:ea typeface="Barlow"/>
                <a:cs typeface="Barlow"/>
                <a:sym typeface="Barlow"/>
              </a:rPr>
              <a:t> did not change during testing.</a:t>
            </a:r>
            <a:endParaRPr b="0" i="0" sz="1100">
              <a:solidFill>
                <a:srgbClr val="BCBCBC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Broken Builds on Mainline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478" name="Google Shape;478;p58"/>
          <p:cNvCxnSpPr/>
          <p:nvPr/>
        </p:nvCxnSpPr>
        <p:spPr>
          <a:xfrm flipH="1" rot="10800000">
            <a:off x="1515505" y="1093175"/>
            <a:ext cx="18300" cy="364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79" name="Google Shape;479;p58"/>
          <p:cNvSpPr txBox="1"/>
          <p:nvPr/>
        </p:nvSpPr>
        <p:spPr>
          <a:xfrm>
            <a:off x="1557880" y="990650"/>
            <a:ext cx="9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mainline (trunk)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0" name="Google Shape;480;p58"/>
          <p:cNvSpPr/>
          <p:nvPr/>
        </p:nvSpPr>
        <p:spPr>
          <a:xfrm>
            <a:off x="1435105" y="4206650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1" name="Google Shape;481;p58"/>
          <p:cNvSpPr/>
          <p:nvPr/>
        </p:nvSpPr>
        <p:spPr>
          <a:xfrm>
            <a:off x="2433830" y="26489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2" name="Google Shape;482;p58"/>
          <p:cNvSpPr/>
          <p:nvPr/>
        </p:nvSpPr>
        <p:spPr>
          <a:xfrm>
            <a:off x="1932130" y="341232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83" name="Google Shape;483;p58"/>
          <p:cNvCxnSpPr>
            <a:stCxn id="480" idx="6"/>
            <a:endCxn id="481" idx="4"/>
          </p:cNvCxnSpPr>
          <p:nvPr/>
        </p:nvCxnSpPr>
        <p:spPr>
          <a:xfrm flipH="1" rot="10800000">
            <a:off x="1614205" y="2809250"/>
            <a:ext cx="909300" cy="14775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58"/>
          <p:cNvCxnSpPr>
            <a:stCxn id="480" idx="6"/>
            <a:endCxn id="482" idx="4"/>
          </p:cNvCxnSpPr>
          <p:nvPr/>
        </p:nvCxnSpPr>
        <p:spPr>
          <a:xfrm flipH="1" rot="10800000">
            <a:off x="1614205" y="3572450"/>
            <a:ext cx="407400" cy="7143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5" name="Google Shape;485;p58"/>
          <p:cNvSpPr txBox="1"/>
          <p:nvPr/>
        </p:nvSpPr>
        <p:spPr>
          <a:xfrm>
            <a:off x="1189780" y="407746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6" name="Google Shape;486;p58"/>
          <p:cNvSpPr txBox="1"/>
          <p:nvPr/>
        </p:nvSpPr>
        <p:spPr>
          <a:xfrm>
            <a:off x="2190730" y="2519795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7" name="Google Shape;487;p58"/>
          <p:cNvSpPr txBox="1"/>
          <p:nvPr/>
        </p:nvSpPr>
        <p:spPr>
          <a:xfrm>
            <a:off x="1699805" y="3270674"/>
            <a:ext cx="2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88" name="Google Shape;488;p58"/>
          <p:cNvSpPr/>
          <p:nvPr/>
        </p:nvSpPr>
        <p:spPr>
          <a:xfrm>
            <a:off x="1435105" y="2769875"/>
            <a:ext cx="179100" cy="160200"/>
          </a:xfrm>
          <a:prstGeom prst="ellipse">
            <a:avLst/>
          </a:prstGeom>
          <a:solidFill>
            <a:srgbClr val="4CAF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89" name="Google Shape;489;p58"/>
          <p:cNvCxnSpPr>
            <a:stCxn id="482" idx="0"/>
            <a:endCxn id="488" idx="6"/>
          </p:cNvCxnSpPr>
          <p:nvPr/>
        </p:nvCxnSpPr>
        <p:spPr>
          <a:xfrm flipH="1" rot="5400000">
            <a:off x="1536880" y="2927525"/>
            <a:ext cx="562200" cy="407400"/>
          </a:xfrm>
          <a:prstGeom prst="curvedConnector2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" name="Google Shape;490;p58"/>
          <p:cNvSpPr/>
          <p:nvPr/>
        </p:nvSpPr>
        <p:spPr>
          <a:xfrm>
            <a:off x="1435105" y="1706163"/>
            <a:ext cx="179100" cy="160200"/>
          </a:xfrm>
          <a:prstGeom prst="ellipse">
            <a:avLst/>
          </a:prstGeom>
          <a:solidFill>
            <a:srgbClr val="E119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91" name="Google Shape;491;p58"/>
          <p:cNvCxnSpPr>
            <a:stCxn id="481" idx="0"/>
            <a:endCxn id="490" idx="6"/>
          </p:cNvCxnSpPr>
          <p:nvPr/>
        </p:nvCxnSpPr>
        <p:spPr>
          <a:xfrm flipH="1" rot="5400000">
            <a:off x="1637330" y="1762925"/>
            <a:ext cx="862800" cy="909300"/>
          </a:xfrm>
          <a:prstGeom prst="curvedConnector2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58"/>
          <p:cNvSpPr txBox="1"/>
          <p:nvPr/>
        </p:nvSpPr>
        <p:spPr>
          <a:xfrm>
            <a:off x="1117705" y="2649879"/>
            <a:ext cx="3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b’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93" name="Google Shape;493;p58"/>
          <p:cNvSpPr txBox="1"/>
          <p:nvPr/>
        </p:nvSpPr>
        <p:spPr>
          <a:xfrm>
            <a:off x="1117830" y="1586179"/>
            <a:ext cx="31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c’</a:t>
            </a:r>
            <a:endParaRPr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94" name="Google Shape;494;p58"/>
          <p:cNvSpPr txBox="1"/>
          <p:nvPr/>
        </p:nvSpPr>
        <p:spPr>
          <a:xfrm>
            <a:off x="4207480" y="376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PR1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95" name="Google Shape;495;p58"/>
          <p:cNvCxnSpPr>
            <a:stCxn id="482" idx="6"/>
            <a:endCxn id="494" idx="1"/>
          </p:cNvCxnSpPr>
          <p:nvPr/>
        </p:nvCxnSpPr>
        <p:spPr>
          <a:xfrm>
            <a:off x="2111230" y="3492425"/>
            <a:ext cx="2096100" cy="4725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96" name="Google Shape;496;p58"/>
          <p:cNvSpPr txBox="1"/>
          <p:nvPr/>
        </p:nvSpPr>
        <p:spPr>
          <a:xfrm>
            <a:off x="4207480" y="29243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PR2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97" name="Google Shape;497;p58"/>
          <p:cNvCxnSpPr>
            <a:stCxn id="481" idx="6"/>
            <a:endCxn id="496" idx="1"/>
          </p:cNvCxnSpPr>
          <p:nvPr/>
        </p:nvCxnSpPr>
        <p:spPr>
          <a:xfrm>
            <a:off x="2612930" y="2729075"/>
            <a:ext cx="1594500" cy="3954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98" name="Google Shape;49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218" y="3713132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8"/>
          <p:cNvSpPr txBox="1"/>
          <p:nvPr/>
        </p:nvSpPr>
        <p:spPr>
          <a:xfrm>
            <a:off x="4701218" y="4047050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1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pic>
        <p:nvPicPr>
          <p:cNvPr id="500" name="Google Shape;50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9647" y="2877067"/>
            <a:ext cx="403321" cy="39008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/>
          <p:nvPr/>
        </p:nvSpPr>
        <p:spPr>
          <a:xfrm>
            <a:off x="4699647" y="3217904"/>
            <a:ext cx="4032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Uber Move Medium"/>
                <a:ea typeface="Uber Move Medium"/>
                <a:cs typeface="Uber Move Medium"/>
                <a:sym typeface="Uber Move Medium"/>
              </a:rPr>
              <a:t>User 2 </a:t>
            </a:r>
            <a:endParaRPr sz="1100">
              <a:solidFill>
                <a:schemeClr val="dk1"/>
              </a:solidFill>
              <a:latin typeface="Uber Move Medium"/>
              <a:ea typeface="Uber Move Medium"/>
              <a:cs typeface="Uber Move Medium"/>
              <a:sym typeface="Uber Move Medium"/>
            </a:endParaRPr>
          </a:p>
        </p:txBody>
      </p:sp>
      <p:grpSp>
        <p:nvGrpSpPr>
          <p:cNvPr id="502" name="Google Shape;502;p58"/>
          <p:cNvGrpSpPr/>
          <p:nvPr/>
        </p:nvGrpSpPr>
        <p:grpSpPr>
          <a:xfrm>
            <a:off x="5706125" y="1619175"/>
            <a:ext cx="2667150" cy="1905150"/>
            <a:chOff x="5715000" y="2095500"/>
            <a:chExt cx="2667150" cy="1905150"/>
          </a:xfrm>
        </p:grpSpPr>
        <p:sp>
          <p:nvSpPr>
            <p:cNvPr id="503" name="Google Shape;503;p58"/>
            <p:cNvSpPr txBox="1"/>
            <p:nvPr/>
          </p:nvSpPr>
          <p:spPr>
            <a:xfrm>
              <a:off x="6191250" y="20955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Integration Failure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8"/>
            <p:cNvSpPr txBox="1"/>
            <p:nvPr/>
          </p:nvSpPr>
          <p:spPr>
            <a:xfrm>
              <a:off x="5715000" y="257175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State Drift: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PR2 (</a:t>
              </a:r>
              <a:r>
                <a:rPr b="1" lang="en" sz="1110">
                  <a:solidFill>
                    <a:srgbClr val="BCBCBC"/>
                  </a:solidFill>
                </a:rPr>
                <a:t>c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) was tested against </a:t>
              </a:r>
              <a:r>
                <a:rPr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base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110">
                  <a:solidFill>
                    <a:srgbClr val="BCBCBC"/>
                  </a:solidFill>
                </a:rPr>
                <a:t>a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, but merged after PR1 (</a:t>
              </a:r>
              <a:r>
                <a:rPr b="1" lang="en" sz="1110">
                  <a:solidFill>
                    <a:srgbClr val="BCBCBC"/>
                  </a:solidFill>
                </a:rPr>
                <a:t>b'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111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False Confidence: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PR2 passed all tests in isolation.</a:t>
              </a:r>
              <a:endParaRPr b="0" sz="111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• </a:t>
              </a:r>
              <a:r>
                <a:rPr b="1" lang="en" sz="111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Result:</a:t>
              </a:r>
              <a:r>
                <a:rPr b="0" lang="en" sz="111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 Mainline is now broken for every other engineer.</a:t>
              </a:r>
              <a:endParaRPr b="0" sz="111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p58"/>
          <p:cNvSpPr txBox="1"/>
          <p:nvPr/>
        </p:nvSpPr>
        <p:spPr>
          <a:xfrm>
            <a:off x="5706125" y="165422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error_outline</a:t>
            </a:r>
            <a:endParaRPr sz="2400">
              <a:solidFill>
                <a:srgbClr val="FF413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06" name="Google Shape;506;p58"/>
          <p:cNvSpPr txBox="1"/>
          <p:nvPr/>
        </p:nvSpPr>
        <p:spPr>
          <a:xfrm>
            <a:off x="1735851" y="1730613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merge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07" name="Google Shape;507;p58"/>
          <p:cNvSpPr txBox="1"/>
          <p:nvPr/>
        </p:nvSpPr>
        <p:spPr>
          <a:xfrm>
            <a:off x="1691021" y="2901350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merge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9"/>
          <p:cNvSpPr txBox="1"/>
          <p:nvPr/>
        </p:nvSpPr>
        <p:spPr>
          <a:xfrm>
            <a:off x="571500" y="9048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At scale, small problems don’t stay small</a:t>
            </a:r>
            <a:endParaRPr sz="16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12" name="Google Shape;51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85" y="4752975"/>
            <a:ext cx="405000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5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Imagine Thousands of Engineers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14" name="Google Shape;51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59"/>
          <p:cNvGrpSpPr/>
          <p:nvPr/>
        </p:nvGrpSpPr>
        <p:grpSpPr>
          <a:xfrm>
            <a:off x="476250" y="1714500"/>
            <a:ext cx="8191500" cy="1905000"/>
            <a:chOff x="476250" y="1714500"/>
            <a:chExt cx="8191500" cy="1905000"/>
          </a:xfrm>
        </p:grpSpPr>
        <p:sp>
          <p:nvSpPr>
            <p:cNvPr id="516" name="Google Shape;516;p59"/>
            <p:cNvSpPr/>
            <p:nvPr/>
          </p:nvSpPr>
          <p:spPr>
            <a:xfrm>
              <a:off x="476250" y="1714500"/>
              <a:ext cx="2667000" cy="1905000"/>
            </a:xfrm>
            <a:prstGeom prst="roundRect">
              <a:avLst>
                <a:gd fmla="val 4000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59"/>
            <p:cNvSpPr txBox="1"/>
            <p:nvPr/>
          </p:nvSpPr>
          <p:spPr>
            <a:xfrm>
              <a:off x="666750" y="19517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FF41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block</a:t>
              </a:r>
              <a:endParaRPr sz="296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8" name="Google Shape;518;p59"/>
            <p:cNvSpPr txBox="1"/>
            <p:nvPr/>
          </p:nvSpPr>
          <p:spPr>
            <a:xfrm>
              <a:off x="666750" y="2476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Blast Radius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A single broken merge doesn't just fail; it blocks thousands of engineers.</a:t>
              </a:r>
              <a:endParaRPr b="0" sz="110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9"/>
            <p:cNvSpPr/>
            <p:nvPr/>
          </p:nvSpPr>
          <p:spPr>
            <a:xfrm>
              <a:off x="3238500" y="1714500"/>
              <a:ext cx="2667000" cy="1905000"/>
            </a:xfrm>
            <a:prstGeom prst="roundRect">
              <a:avLst>
                <a:gd fmla="val 4000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59"/>
            <p:cNvSpPr txBox="1"/>
            <p:nvPr/>
          </p:nvSpPr>
          <p:spPr>
            <a:xfrm>
              <a:off x="3429000" y="19517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FF41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receipt_long</a:t>
              </a:r>
              <a:endParaRPr sz="296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1" name="Google Shape;521;p59"/>
            <p:cNvSpPr txBox="1"/>
            <p:nvPr/>
          </p:nvSpPr>
          <p:spPr>
            <a:xfrm>
              <a:off x="3429000" y="2476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Org-Wide </a:t>
              </a: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Burden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Debugging becomes a shared, collective burden across the entire organization.</a:t>
              </a:r>
              <a:endParaRPr b="0" sz="110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9"/>
            <p:cNvSpPr/>
            <p:nvPr/>
          </p:nvSpPr>
          <p:spPr>
            <a:xfrm>
              <a:off x="6000750" y="1714500"/>
              <a:ext cx="2667000" cy="1905000"/>
            </a:xfrm>
            <a:prstGeom prst="roundRect">
              <a:avLst>
                <a:gd fmla="val 4000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9"/>
            <p:cNvSpPr txBox="1"/>
            <p:nvPr/>
          </p:nvSpPr>
          <p:spPr>
            <a:xfrm>
              <a:off x="6191250" y="195173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FF41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960">
                <a:solidFill>
                  <a:srgbClr val="FF41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4" name="Google Shape;524;p59"/>
            <p:cNvSpPr txBox="1"/>
            <p:nvPr/>
          </p:nvSpPr>
          <p:spPr>
            <a:xfrm>
              <a:off x="6191250" y="24765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Productivity</a:t>
              </a: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Loss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CBCBC"/>
                  </a:solidFill>
                  <a:latin typeface="Arial"/>
                  <a:ea typeface="Arial"/>
                  <a:cs typeface="Arial"/>
                  <a:sym typeface="Arial"/>
                </a:rPr>
                <a:t>Productivity stalls as integration friction outweighs individual progress.</a:t>
              </a:r>
              <a:endParaRPr b="0" sz="1100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59"/>
          <p:cNvSpPr/>
          <p:nvPr/>
        </p:nvSpPr>
        <p:spPr>
          <a:xfrm>
            <a:off x="2233800" y="4174450"/>
            <a:ext cx="42861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do we keep mainline green at scale?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SubmitQueue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31" name="Google Shape;531;p60"/>
          <p:cNvSpPr txBox="1"/>
          <p:nvPr/>
        </p:nvSpPr>
        <p:spPr>
          <a:xfrm>
            <a:off x="1243500" y="2716575"/>
            <a:ext cx="66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Think of this as an intelligent merge queue that ensures mainline stays green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32" name="Google Shape;53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SubmitQueue: Uber’s Merge Queue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38" name="Google Shape;538;p61"/>
          <p:cNvSpPr txBox="1"/>
          <p:nvPr/>
        </p:nvSpPr>
        <p:spPr>
          <a:xfrm>
            <a:off x="551850" y="1124875"/>
            <a:ext cx="7788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er Move"/>
              <a:buChar char="●"/>
            </a:pPr>
            <a:r>
              <a:rPr lang="en" sz="2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 speculative merge queue that validates future mainline states before merging</a:t>
            </a:r>
            <a:endParaRPr sz="2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er Move"/>
              <a:buChar char="●"/>
            </a:pPr>
            <a:r>
              <a:rPr lang="en" sz="2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Ensures a consistently green mainline without sacrificing velocity</a:t>
            </a:r>
            <a:endParaRPr sz="2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39" name="Google Shape;53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1"/>
          <p:cNvSpPr/>
          <p:nvPr/>
        </p:nvSpPr>
        <p:spPr>
          <a:xfrm>
            <a:off x="1041300" y="3210275"/>
            <a:ext cx="7061400" cy="819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This isn’t just a queue — it’s a system that predicts the future of your mainline before changes merge.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990725"/>
            <a:ext cx="72009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62"/>
          <p:cNvGrpSpPr/>
          <p:nvPr/>
        </p:nvGrpSpPr>
        <p:grpSpPr>
          <a:xfrm>
            <a:off x="571500" y="1524000"/>
            <a:ext cx="1524000" cy="2286000"/>
            <a:chOff x="571500" y="1524000"/>
            <a:chExt cx="1524000" cy="2286000"/>
          </a:xfrm>
        </p:grpSpPr>
        <p:sp>
          <p:nvSpPr>
            <p:cNvPr id="546" name="Google Shape;546;p62"/>
            <p:cNvSpPr/>
            <p:nvPr/>
          </p:nvSpPr>
          <p:spPr>
            <a:xfrm>
              <a:off x="57150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2"/>
            <p:cNvSpPr/>
            <p:nvPr/>
          </p:nvSpPr>
          <p:spPr>
            <a:xfrm>
              <a:off x="57150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05A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2"/>
            <p:cNvSpPr txBox="1"/>
            <p:nvPr/>
          </p:nvSpPr>
          <p:spPr>
            <a:xfrm>
              <a:off x="71437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Validate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49" name="Google Shape;549;p62"/>
            <p:cNvSpPr txBox="1"/>
            <p:nvPr/>
          </p:nvSpPr>
          <p:spPr>
            <a:xfrm>
              <a:off x="71437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Duplicate Requests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Git Merge Conflicts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50" name="Google Shape;550;p62"/>
          <p:cNvGrpSpPr/>
          <p:nvPr/>
        </p:nvGrpSpPr>
        <p:grpSpPr>
          <a:xfrm>
            <a:off x="2238375" y="1524000"/>
            <a:ext cx="1524000" cy="2286000"/>
            <a:chOff x="2238375" y="1524000"/>
            <a:chExt cx="1524000" cy="2286000"/>
          </a:xfrm>
        </p:grpSpPr>
        <p:sp>
          <p:nvSpPr>
            <p:cNvPr id="551" name="Google Shape;551;p62"/>
            <p:cNvSpPr/>
            <p:nvPr/>
          </p:nvSpPr>
          <p:spPr>
            <a:xfrm>
              <a:off x="2238375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2"/>
            <p:cNvSpPr/>
            <p:nvPr/>
          </p:nvSpPr>
          <p:spPr>
            <a:xfrm>
              <a:off x="2238375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276E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2"/>
            <p:cNvSpPr txBox="1"/>
            <p:nvPr/>
          </p:nvSpPr>
          <p:spPr>
            <a:xfrm>
              <a:off x="2381250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Speculate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54" name="Google Shape;554;p62"/>
            <p:cNvSpPr txBox="1"/>
            <p:nvPr/>
          </p:nvSpPr>
          <p:spPr>
            <a:xfrm>
              <a:off x="2381250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Predict Futures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Speculation Tree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55" name="Google Shape;555;p62"/>
          <p:cNvGrpSpPr/>
          <p:nvPr/>
        </p:nvGrpSpPr>
        <p:grpSpPr>
          <a:xfrm>
            <a:off x="3905250" y="1524000"/>
            <a:ext cx="1524000" cy="2286000"/>
            <a:chOff x="3905250" y="1524000"/>
            <a:chExt cx="1524000" cy="2286000"/>
          </a:xfrm>
        </p:grpSpPr>
        <p:sp>
          <p:nvSpPr>
            <p:cNvPr id="556" name="Google Shape;556;p62"/>
            <p:cNvSpPr/>
            <p:nvPr/>
          </p:nvSpPr>
          <p:spPr>
            <a:xfrm>
              <a:off x="390525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2"/>
            <p:cNvSpPr/>
            <p:nvPr/>
          </p:nvSpPr>
          <p:spPr>
            <a:xfrm>
              <a:off x="390525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FFC0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2"/>
            <p:cNvSpPr txBox="1"/>
            <p:nvPr/>
          </p:nvSpPr>
          <p:spPr>
            <a:xfrm>
              <a:off x="404812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Build &amp; Test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59" name="Google Shape;559;p62"/>
            <p:cNvSpPr txBox="1"/>
            <p:nvPr/>
          </p:nvSpPr>
          <p:spPr>
            <a:xfrm>
              <a:off x="404812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Test Futures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Parallel Testing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60" name="Google Shape;560;p62"/>
          <p:cNvGrpSpPr/>
          <p:nvPr/>
        </p:nvGrpSpPr>
        <p:grpSpPr>
          <a:xfrm>
            <a:off x="5572125" y="1524000"/>
            <a:ext cx="1524000" cy="2286000"/>
            <a:chOff x="5572125" y="1524000"/>
            <a:chExt cx="1524000" cy="2286000"/>
          </a:xfrm>
        </p:grpSpPr>
        <p:sp>
          <p:nvSpPr>
            <p:cNvPr id="561" name="Google Shape;561;p62"/>
            <p:cNvSpPr/>
            <p:nvPr/>
          </p:nvSpPr>
          <p:spPr>
            <a:xfrm>
              <a:off x="5572125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2"/>
            <p:cNvSpPr/>
            <p:nvPr/>
          </p:nvSpPr>
          <p:spPr>
            <a:xfrm>
              <a:off x="5572125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E11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2"/>
            <p:cNvSpPr txBox="1"/>
            <p:nvPr/>
          </p:nvSpPr>
          <p:spPr>
            <a:xfrm>
              <a:off x="5714925" y="2619525"/>
              <a:ext cx="1238400" cy="6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Result Validation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Decision Logic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564" name="Google Shape;564;p62"/>
          <p:cNvGrpSpPr/>
          <p:nvPr/>
        </p:nvGrpSpPr>
        <p:grpSpPr>
          <a:xfrm>
            <a:off x="7239000" y="1524000"/>
            <a:ext cx="1524000" cy="2286000"/>
            <a:chOff x="7239000" y="1524000"/>
            <a:chExt cx="1524000" cy="2286000"/>
          </a:xfrm>
        </p:grpSpPr>
        <p:sp>
          <p:nvSpPr>
            <p:cNvPr id="565" name="Google Shape;565;p62"/>
            <p:cNvSpPr/>
            <p:nvPr/>
          </p:nvSpPr>
          <p:spPr>
            <a:xfrm>
              <a:off x="7239000" y="1524000"/>
              <a:ext cx="1524000" cy="2286000"/>
            </a:xfrm>
            <a:prstGeom prst="roundRect">
              <a:avLst>
                <a:gd fmla="val 5000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2"/>
            <p:cNvSpPr/>
            <p:nvPr/>
          </p:nvSpPr>
          <p:spPr>
            <a:xfrm>
              <a:off x="7239000" y="152400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735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2"/>
            <p:cNvSpPr txBox="1"/>
            <p:nvPr/>
          </p:nvSpPr>
          <p:spPr>
            <a:xfrm>
              <a:off x="7381875" y="2143125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Merge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568" name="Google Shape;568;p62"/>
            <p:cNvSpPr txBox="1"/>
            <p:nvPr/>
          </p:nvSpPr>
          <p:spPr>
            <a:xfrm>
              <a:off x="7381875" y="2476500"/>
              <a:ext cx="1238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Final Commit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AAAAA"/>
                  </a:solidFill>
                  <a:latin typeface="Uber Move"/>
                  <a:ea typeface="Uber Move"/>
                  <a:cs typeface="Uber Move"/>
                  <a:sym typeface="Uber Move"/>
                </a:rPr>
                <a:t>• User Notification</a:t>
              </a:r>
              <a:endParaRPr sz="1100">
                <a:solidFill>
                  <a:srgbClr val="AAAAAA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cxnSp>
        <p:nvCxnSpPr>
          <p:cNvPr id="569" name="Google Shape;569;p62"/>
          <p:cNvCxnSpPr>
            <a:stCxn id="561" idx="2"/>
            <a:endCxn id="551" idx="2"/>
          </p:cNvCxnSpPr>
          <p:nvPr/>
        </p:nvCxnSpPr>
        <p:spPr>
          <a:xfrm rot="5400000">
            <a:off x="4667025" y="2143500"/>
            <a:ext cx="600" cy="3333600"/>
          </a:xfrm>
          <a:prstGeom prst="curvedConnector3">
            <a:avLst>
              <a:gd fmla="val 78170833" name="adj1"/>
            </a:avLst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70" name="Google Shape;570;p62"/>
          <p:cNvSpPr txBox="1"/>
          <p:nvPr/>
        </p:nvSpPr>
        <p:spPr>
          <a:xfrm>
            <a:off x="4243511" y="3977209"/>
            <a:ext cx="8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speculate</a:t>
            </a:r>
            <a:endParaRPr sz="1200"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71" name="Google Shape;571;p62"/>
          <p:cNvSpPr txBox="1"/>
          <p:nvPr/>
        </p:nvSpPr>
        <p:spPr>
          <a:xfrm>
            <a:off x="551850" y="116775"/>
            <a:ext cx="765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Request Journey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72" name="Google Shape;572;p62"/>
          <p:cNvSpPr txBox="1"/>
          <p:nvPr/>
        </p:nvSpPr>
        <p:spPr>
          <a:xfrm>
            <a:off x="571500" y="880175"/>
            <a:ext cx="813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Every request is tested against future mainline states before it lands (aka merges)</a:t>
            </a:r>
            <a:endParaRPr sz="16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73" name="Google Shape;573;p62"/>
          <p:cNvSpPr txBox="1"/>
          <p:nvPr/>
        </p:nvSpPr>
        <p:spPr>
          <a:xfrm>
            <a:off x="5714925" y="2158988"/>
            <a:ext cx="1238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Decide</a:t>
            </a:r>
            <a:endParaRPr b="1" sz="14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74" name="Google Shape;57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3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The Messy Middle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580" name="Google Shape;580;p63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Core concepts behind large-scale merging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81" name="Google Shape;58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(C1)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87" name="Google Shape;58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4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C1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589" name="Google Shape;589;p64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590" name="Google Shape;590;p64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591" name="Google Shape;591;p64"/>
          <p:cNvSpPr/>
          <p:nvPr/>
        </p:nvSpPr>
        <p:spPr>
          <a:xfrm>
            <a:off x="1362750" y="2417175"/>
            <a:ext cx="6418500" cy="83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Assumption: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Each new change is assumed to depend on all earlier changes still in the queue.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597" name="Google Shape;59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5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00" name="Google Shape;600;p65"/>
          <p:cNvCxnSpPr>
            <a:stCxn id="598" idx="3"/>
            <a:endCxn id="59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1" name="Google Shape;601;p65"/>
          <p:cNvSpPr txBox="1"/>
          <p:nvPr/>
        </p:nvSpPr>
        <p:spPr>
          <a:xfrm>
            <a:off x="371850" y="2442975"/>
            <a:ext cx="224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02" name="Google Shape;602;p65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B1 fails -&gt;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03" name="Google Shape;603;p65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04" name="Google Shape;604;p65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05" name="Google Shape;605;p65"/>
          <p:cNvCxnSpPr>
            <a:stCxn id="603" idx="0"/>
            <a:endCxn id="604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06" name="Google Shape;606;p65"/>
          <p:cNvSpPr/>
          <p:nvPr/>
        </p:nvSpPr>
        <p:spPr>
          <a:xfrm>
            <a:off x="1167600" y="3492925"/>
            <a:ext cx="6418500" cy="83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Futures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: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Each speculative Build (B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n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represents a projected future state based on assumed outcomes of preceding changes.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12" name="Google Shape;6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6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14" name="Google Shape;614;p66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15" name="Google Shape;615;p66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16" name="Google Shape;616;p66"/>
          <p:cNvCxnSpPr>
            <a:stCxn id="613" idx="3"/>
            <a:endCxn id="614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66"/>
          <p:cNvCxnSpPr>
            <a:stCxn id="613" idx="5"/>
            <a:endCxn id="615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66"/>
          <p:cNvSpPr txBox="1"/>
          <p:nvPr/>
        </p:nvSpPr>
        <p:spPr>
          <a:xfrm>
            <a:off x="6171825" y="2442975"/>
            <a:ext cx="272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C2 applied on mainline + C1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19" name="Google Shape;619;p66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B1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20" name="Google Shape;620;p66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B1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21" name="Google Shape;621;p66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22" name="Google Shape;622;p66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23" name="Google Shape;623;p66"/>
          <p:cNvCxnSpPr>
            <a:stCxn id="621" idx="0"/>
            <a:endCxn id="622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24" name="Google Shape;624;p66"/>
          <p:cNvSpPr/>
          <p:nvPr/>
        </p:nvSpPr>
        <p:spPr>
          <a:xfrm>
            <a:off x="1167600" y="3492925"/>
            <a:ext cx="6418500" cy="1022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Merge Order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: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C2 cannot merge until C1’s build (B1) finishes. That result decides which outcome to use for C2: 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 on current main, without C1) or 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 stacked on C1)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30" name="Google Shape;63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7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32" name="Google Shape;632;p67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33" name="Google Shape;633;p67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34" name="Google Shape;634;p67"/>
          <p:cNvCxnSpPr>
            <a:stCxn id="631" idx="3"/>
            <a:endCxn id="632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67"/>
          <p:cNvCxnSpPr>
            <a:stCxn id="631" idx="5"/>
            <a:endCxn id="633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67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37" name="Google Shape;637;p67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38" name="Google Shape;638;p67"/>
          <p:cNvCxnSpPr>
            <a:stCxn id="639" idx="0"/>
            <a:endCxn id="640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41" name="Google Shape;641;p67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42" name="Google Shape;642;p67"/>
          <p:cNvCxnSpPr>
            <a:stCxn id="632" idx="3"/>
            <a:endCxn id="641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67"/>
          <p:cNvCxnSpPr>
            <a:stCxn id="640" idx="0"/>
            <a:endCxn id="644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45" name="Google Shape;645;p67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46" name="Google Shape;646;p67"/>
          <p:cNvCxnSpPr>
            <a:stCxn id="639" idx="3"/>
            <a:endCxn id="644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39" name="Google Shape;639;p67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40" name="Google Shape;640;p67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44" name="Google Shape;644;p67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47" name="Google Shape;647;p67"/>
          <p:cNvSpPr txBox="1"/>
          <p:nvPr/>
        </p:nvSpPr>
        <p:spPr>
          <a:xfrm>
            <a:off x="1537250" y="4494750"/>
            <a:ext cx="224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53" name="Google Shape;65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8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C1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55" name="Google Shape;655;p68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56" name="Google Shape;656;p68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57" name="Google Shape;657;p68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58" name="Google Shape;658;p68"/>
          <p:cNvCxnSpPr>
            <a:stCxn id="655" idx="3"/>
            <a:endCxn id="656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68"/>
          <p:cNvCxnSpPr>
            <a:stCxn id="655" idx="5"/>
            <a:endCxn id="657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0" name="Google Shape;660;p68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61" name="Google Shape;661;p68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62" name="Google Shape;662;p68"/>
          <p:cNvCxnSpPr>
            <a:stCxn id="663" idx="0"/>
            <a:endCxn id="664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65" name="Google Shape;665;p68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66" name="Google Shape;666;p68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67" name="Google Shape;667;p68"/>
          <p:cNvCxnSpPr>
            <a:stCxn id="656" idx="3"/>
            <a:endCxn id="665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68"/>
          <p:cNvCxnSpPr>
            <a:stCxn id="656" idx="5"/>
            <a:endCxn id="666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p68"/>
          <p:cNvCxnSpPr>
            <a:stCxn id="664" idx="0"/>
            <a:endCxn id="670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71" name="Google Shape;671;p68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72" name="Google Shape;672;p68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73" name="Google Shape;673;p68"/>
          <p:cNvCxnSpPr>
            <a:stCxn id="663" idx="3"/>
            <a:endCxn id="670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63" name="Google Shape;663;p68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64" name="Google Shape;664;p68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70" name="Google Shape;670;p68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74" name="Google Shape;674;p68"/>
          <p:cNvSpPr txBox="1"/>
          <p:nvPr/>
        </p:nvSpPr>
        <p:spPr>
          <a:xfrm>
            <a:off x="3802550" y="4527150"/>
            <a:ext cx="304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 + C2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680" name="Google Shape;68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69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C1 applied on mainline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82" name="Google Shape;682;p69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83" name="Google Shape;683;p69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84" name="Google Shape;684;p69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85" name="Google Shape;685;p69"/>
          <p:cNvCxnSpPr>
            <a:stCxn id="682" idx="3"/>
            <a:endCxn id="683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69"/>
          <p:cNvCxnSpPr>
            <a:stCxn id="682" idx="5"/>
            <a:endCxn id="684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69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688" name="Google Shape;688;p69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689" name="Google Shape;689;p69"/>
          <p:cNvCxnSpPr>
            <a:stCxn id="690" idx="0"/>
            <a:endCxn id="691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92" name="Google Shape;692;p69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93" name="Google Shape;693;p69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94" name="Google Shape;694;p69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695" name="Google Shape;695;p69"/>
          <p:cNvCxnSpPr>
            <a:stCxn id="683" idx="3"/>
            <a:endCxn id="692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69"/>
          <p:cNvCxnSpPr>
            <a:stCxn id="683" idx="5"/>
            <a:endCxn id="693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69"/>
          <p:cNvCxnSpPr>
            <a:stCxn id="684" idx="3"/>
            <a:endCxn id="694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8" name="Google Shape;698;p69"/>
          <p:cNvCxnSpPr>
            <a:stCxn id="691" idx="0"/>
            <a:endCxn id="699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00" name="Google Shape;700;p69"/>
          <p:cNvSpPr txBox="1"/>
          <p:nvPr/>
        </p:nvSpPr>
        <p:spPr>
          <a:xfrm>
            <a:off x="4475875" y="2993525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01" name="Google Shape;701;p69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02" name="Google Shape;702;p69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03" name="Google Shape;703;p69"/>
          <p:cNvCxnSpPr>
            <a:stCxn id="690" idx="3"/>
            <a:endCxn id="699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90" name="Google Shape;690;p69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91" name="Google Shape;691;p69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699" name="Google Shape;699;p69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04" name="Google Shape;704;p69"/>
          <p:cNvSpPr txBox="1"/>
          <p:nvPr/>
        </p:nvSpPr>
        <p:spPr>
          <a:xfrm>
            <a:off x="4681900" y="4538175"/>
            <a:ext cx="276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 + C1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710" name="Google Shape;71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70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12" name="Google Shape;712;p70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13" name="Google Shape;713;p70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14" name="Google Shape;714;p70"/>
          <p:cNvCxnSpPr>
            <a:stCxn id="711" idx="3"/>
            <a:endCxn id="712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5" name="Google Shape;715;p70"/>
          <p:cNvCxnSpPr>
            <a:stCxn id="711" idx="5"/>
            <a:endCxn id="713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6" name="Google Shape;716;p70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17" name="Google Shape;717;p70"/>
          <p:cNvSpPr txBox="1"/>
          <p:nvPr/>
        </p:nvSpPr>
        <p:spPr>
          <a:xfrm>
            <a:off x="2866175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18" name="Google Shape;718;p70"/>
          <p:cNvCxnSpPr>
            <a:stCxn id="719" idx="0"/>
            <a:endCxn id="720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21" name="Google Shape;721;p70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22" name="Google Shape;722;p70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23" name="Google Shape;723;p70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24" name="Google Shape;724;p70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25" name="Google Shape;725;p70"/>
          <p:cNvCxnSpPr>
            <a:stCxn id="712" idx="3"/>
            <a:endCxn id="721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6" name="Google Shape;726;p70"/>
          <p:cNvCxnSpPr>
            <a:stCxn id="712" idx="5"/>
            <a:endCxn id="722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7" name="Google Shape;727;p70"/>
          <p:cNvCxnSpPr>
            <a:stCxn id="713" idx="3"/>
            <a:endCxn id="723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8" name="Google Shape;728;p70"/>
          <p:cNvCxnSpPr>
            <a:stCxn id="713" idx="5"/>
            <a:endCxn id="724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9" name="Google Shape;729;p70"/>
          <p:cNvCxnSpPr>
            <a:stCxn id="720" idx="0"/>
            <a:endCxn id="730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1" name="Google Shape;731;p70"/>
          <p:cNvSpPr txBox="1"/>
          <p:nvPr/>
        </p:nvSpPr>
        <p:spPr>
          <a:xfrm>
            <a:off x="6112250" y="3162875"/>
            <a:ext cx="18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32" name="Google Shape;732;p70"/>
          <p:cNvSpPr txBox="1"/>
          <p:nvPr/>
        </p:nvSpPr>
        <p:spPr>
          <a:xfrm>
            <a:off x="4475875" y="2993525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33" name="Google Shape;733;p70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34" name="Google Shape;734;p70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35" name="Google Shape;735;p70"/>
          <p:cNvCxnSpPr>
            <a:stCxn id="719" idx="3"/>
            <a:endCxn id="730" idx="3"/>
          </p:cNvCxnSpPr>
          <p:nvPr/>
        </p:nvCxnSpPr>
        <p:spPr>
          <a:xfrm flipH="1" rot="-5400000">
            <a:off x="1860200" y="153750"/>
            <a:ext cx="600" cy="19233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19" name="Google Shape;719;p70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20" name="Google Shape;720;p70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30" name="Google Shape;730;p70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36" name="Google Shape;736;p70"/>
          <p:cNvSpPr txBox="1"/>
          <p:nvPr/>
        </p:nvSpPr>
        <p:spPr>
          <a:xfrm>
            <a:off x="5775375" y="4467050"/>
            <a:ext cx="31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: C3 applied on mainline + C1 + C2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742" name="Google Shape;742;p71"/>
          <p:cNvCxnSpPr>
            <a:stCxn id="743" idx="0"/>
            <a:endCxn id="744" idx="2"/>
          </p:cNvCxnSpPr>
          <p:nvPr/>
        </p:nvCxnSpPr>
        <p:spPr>
          <a:xfrm>
            <a:off x="853050" y="1484888"/>
            <a:ext cx="184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5" name="Google Shape;745;p71"/>
          <p:cNvCxnSpPr>
            <a:stCxn id="744" idx="0"/>
            <a:endCxn id="746" idx="2"/>
          </p:cNvCxnSpPr>
          <p:nvPr/>
        </p:nvCxnSpPr>
        <p:spPr>
          <a:xfrm>
            <a:off x="3182250" y="1484888"/>
            <a:ext cx="323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7" name="Google Shape;747;p71"/>
          <p:cNvCxnSpPr>
            <a:stCxn id="743" idx="3"/>
            <a:endCxn id="746" idx="3"/>
          </p:cNvCxnSpPr>
          <p:nvPr/>
        </p:nvCxnSpPr>
        <p:spPr>
          <a:xfrm flipH="1" rot="-5400000">
            <a:off x="3635850" y="-1739362"/>
            <a:ext cx="600" cy="6055200"/>
          </a:xfrm>
          <a:prstGeom prst="curvedConnector3">
            <a:avLst>
              <a:gd fmla="val -396875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43" name="Google Shape;743;p71"/>
          <p:cNvSpPr/>
          <p:nvPr/>
        </p:nvSpPr>
        <p:spPr>
          <a:xfrm>
            <a:off x="364050" y="1287938"/>
            <a:ext cx="489000" cy="3939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0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0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4" name="Google Shape;744;p71"/>
          <p:cNvSpPr/>
          <p:nvPr/>
        </p:nvSpPr>
        <p:spPr>
          <a:xfrm>
            <a:off x="2693250" y="1287938"/>
            <a:ext cx="489000" cy="3939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05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05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6" name="Google Shape;746;p71"/>
          <p:cNvSpPr/>
          <p:nvPr/>
        </p:nvSpPr>
        <p:spPr>
          <a:xfrm>
            <a:off x="6419275" y="1287938"/>
            <a:ext cx="489000" cy="3939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05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05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8" name="Google Shape;748;p71"/>
          <p:cNvSpPr/>
          <p:nvPr/>
        </p:nvSpPr>
        <p:spPr>
          <a:xfrm>
            <a:off x="6405024" y="2051787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49" name="Google Shape;749;p71"/>
          <p:cNvSpPr/>
          <p:nvPr/>
        </p:nvSpPr>
        <p:spPr>
          <a:xfrm>
            <a:off x="5377983" y="2947074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50" name="Google Shape;750;p71"/>
          <p:cNvSpPr/>
          <p:nvPr/>
        </p:nvSpPr>
        <p:spPr>
          <a:xfrm>
            <a:off x="7415010" y="2947074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51" name="Google Shape;751;p71"/>
          <p:cNvCxnSpPr>
            <a:stCxn id="748" idx="3"/>
            <a:endCxn id="749" idx="7"/>
          </p:cNvCxnSpPr>
          <p:nvPr/>
        </p:nvCxnSpPr>
        <p:spPr>
          <a:xfrm flipH="1">
            <a:off x="5819610" y="2448433"/>
            <a:ext cx="661200" cy="5667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71"/>
          <p:cNvCxnSpPr>
            <a:stCxn id="748" idx="5"/>
            <a:endCxn id="750" idx="1"/>
          </p:cNvCxnSpPr>
          <p:nvPr/>
        </p:nvCxnSpPr>
        <p:spPr>
          <a:xfrm>
            <a:off x="6846738" y="2448433"/>
            <a:ext cx="644100" cy="566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3" name="Google Shape;753;p71"/>
          <p:cNvSpPr/>
          <p:nvPr/>
        </p:nvSpPr>
        <p:spPr>
          <a:xfrm>
            <a:off x="4578200" y="3932166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54" name="Google Shape;754;p71"/>
          <p:cNvSpPr/>
          <p:nvPr/>
        </p:nvSpPr>
        <p:spPr>
          <a:xfrm>
            <a:off x="6118421" y="3958532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55" name="Google Shape;755;p71"/>
          <p:cNvSpPr/>
          <p:nvPr/>
        </p:nvSpPr>
        <p:spPr>
          <a:xfrm>
            <a:off x="6743028" y="3958532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56" name="Google Shape;756;p71"/>
          <p:cNvSpPr/>
          <p:nvPr/>
        </p:nvSpPr>
        <p:spPr>
          <a:xfrm>
            <a:off x="8276689" y="3958532"/>
            <a:ext cx="517500" cy="4647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57" name="Google Shape;757;p71"/>
          <p:cNvCxnSpPr>
            <a:stCxn id="749" idx="3"/>
            <a:endCxn id="753" idx="0"/>
          </p:cNvCxnSpPr>
          <p:nvPr/>
        </p:nvCxnSpPr>
        <p:spPr>
          <a:xfrm flipH="1">
            <a:off x="4836969" y="3343720"/>
            <a:ext cx="616800" cy="5883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71"/>
          <p:cNvCxnSpPr>
            <a:stCxn id="749" idx="5"/>
            <a:endCxn id="754" idx="0"/>
          </p:cNvCxnSpPr>
          <p:nvPr/>
        </p:nvCxnSpPr>
        <p:spPr>
          <a:xfrm>
            <a:off x="5819697" y="3343720"/>
            <a:ext cx="557400" cy="614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71"/>
          <p:cNvCxnSpPr>
            <a:stCxn id="750" idx="3"/>
            <a:endCxn id="755" idx="0"/>
          </p:cNvCxnSpPr>
          <p:nvPr/>
        </p:nvCxnSpPr>
        <p:spPr>
          <a:xfrm flipH="1">
            <a:off x="7001796" y="3343720"/>
            <a:ext cx="489000" cy="6147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71"/>
          <p:cNvCxnSpPr>
            <a:stCxn id="750" idx="5"/>
            <a:endCxn id="756" idx="0"/>
          </p:cNvCxnSpPr>
          <p:nvPr/>
        </p:nvCxnSpPr>
        <p:spPr>
          <a:xfrm>
            <a:off x="7856724" y="3343720"/>
            <a:ext cx="678600" cy="614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71"/>
          <p:cNvSpPr/>
          <p:nvPr/>
        </p:nvSpPr>
        <p:spPr>
          <a:xfrm>
            <a:off x="2678999" y="2113837"/>
            <a:ext cx="517500" cy="4647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2" name="Google Shape;762;p71"/>
          <p:cNvSpPr/>
          <p:nvPr/>
        </p:nvSpPr>
        <p:spPr>
          <a:xfrm>
            <a:off x="1651958" y="3009124"/>
            <a:ext cx="517500" cy="4647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63" name="Google Shape;763;p71"/>
          <p:cNvSpPr/>
          <p:nvPr/>
        </p:nvSpPr>
        <p:spPr>
          <a:xfrm>
            <a:off x="3688985" y="3009124"/>
            <a:ext cx="517500" cy="4647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64" name="Google Shape;764;p71"/>
          <p:cNvCxnSpPr>
            <a:stCxn id="761" idx="3"/>
            <a:endCxn id="762" idx="7"/>
          </p:cNvCxnSpPr>
          <p:nvPr/>
        </p:nvCxnSpPr>
        <p:spPr>
          <a:xfrm flipH="1">
            <a:off x="2093585" y="2510483"/>
            <a:ext cx="661200" cy="566700"/>
          </a:xfrm>
          <a:prstGeom prst="straightConnector1">
            <a:avLst/>
          </a:prstGeom>
          <a:noFill/>
          <a:ln cap="flat" cmpd="sng" w="137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71"/>
          <p:cNvCxnSpPr>
            <a:stCxn id="761" idx="5"/>
            <a:endCxn id="763" idx="1"/>
          </p:cNvCxnSpPr>
          <p:nvPr/>
        </p:nvCxnSpPr>
        <p:spPr>
          <a:xfrm>
            <a:off x="3120713" y="2510483"/>
            <a:ext cx="644100" cy="566700"/>
          </a:xfrm>
          <a:prstGeom prst="straightConnector1">
            <a:avLst/>
          </a:prstGeom>
          <a:noFill/>
          <a:ln cap="flat" cmpd="sng" w="137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6" name="Google Shape;766;p71"/>
          <p:cNvSpPr/>
          <p:nvPr/>
        </p:nvSpPr>
        <p:spPr>
          <a:xfrm>
            <a:off x="349799" y="2113837"/>
            <a:ext cx="517500" cy="464700"/>
          </a:xfrm>
          <a:prstGeom prst="ellipse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8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078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078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767" name="Google Shape;767;p71"/>
          <p:cNvCxnSpPr>
            <a:stCxn id="743" idx="1"/>
            <a:endCxn id="766" idx="0"/>
          </p:cNvCxnSpPr>
          <p:nvPr/>
        </p:nvCxnSpPr>
        <p:spPr>
          <a:xfrm>
            <a:off x="608550" y="1681838"/>
            <a:ext cx="0" cy="4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71"/>
          <p:cNvCxnSpPr>
            <a:stCxn id="744" idx="1"/>
            <a:endCxn id="761" idx="0"/>
          </p:cNvCxnSpPr>
          <p:nvPr/>
        </p:nvCxnSpPr>
        <p:spPr>
          <a:xfrm>
            <a:off x="2937750" y="1681838"/>
            <a:ext cx="0" cy="4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71"/>
          <p:cNvCxnSpPr>
            <a:stCxn id="746" idx="1"/>
            <a:endCxn id="748" idx="0"/>
          </p:cNvCxnSpPr>
          <p:nvPr/>
        </p:nvCxnSpPr>
        <p:spPr>
          <a:xfrm>
            <a:off x="6663775" y="1681838"/>
            <a:ext cx="0" cy="3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70" name="Google Shape;770;p71"/>
          <p:cNvSpPr/>
          <p:nvPr/>
        </p:nvSpPr>
        <p:spPr>
          <a:xfrm>
            <a:off x="551850" y="3905800"/>
            <a:ext cx="34149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baseline="30000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n-1 </a:t>
            </a:r>
            <a:r>
              <a:rPr baseline="30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builds where 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n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= number of changes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771" name="Google Shape;7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72"/>
          <p:cNvGrpSpPr/>
          <p:nvPr/>
        </p:nvGrpSpPr>
        <p:grpSpPr>
          <a:xfrm>
            <a:off x="571500" y="1524000"/>
            <a:ext cx="2476500" cy="1714500"/>
            <a:chOff x="0" y="0"/>
            <a:chExt cx="2476500" cy="1714500"/>
          </a:xfrm>
        </p:grpSpPr>
        <p:sp>
          <p:nvSpPr>
            <p:cNvPr id="776" name="Google Shape;776;p72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72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78" name="Google Shape;778;p72"/>
            <p:cNvSpPr txBox="1"/>
            <p:nvPr/>
          </p:nvSpPr>
          <p:spPr>
            <a:xfrm>
              <a:off x="190500" y="666750"/>
              <a:ext cx="209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Complexity Wall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Testing every state requires </a:t>
              </a:r>
              <a:r>
                <a:rPr b="1" lang="en" sz="1530">
                  <a:solidFill>
                    <a:srgbClr val="F1C23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O(2ⁿ)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builds, making it </a:t>
              </a:r>
              <a:r>
                <a:rPr b="1" lang="en" sz="9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operationally infeasible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at Uber's scale.</a:t>
              </a:r>
              <a:endParaRPr b="0" sz="935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72"/>
          <p:cNvGrpSpPr/>
          <p:nvPr/>
        </p:nvGrpSpPr>
        <p:grpSpPr>
          <a:xfrm>
            <a:off x="3333750" y="1524000"/>
            <a:ext cx="2476500" cy="1714500"/>
            <a:chOff x="0" y="0"/>
            <a:chExt cx="2476500" cy="1714500"/>
          </a:xfrm>
        </p:grpSpPr>
        <p:sp>
          <p:nvSpPr>
            <p:cNvPr id="780" name="Google Shape;780;p72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72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money_off</a:t>
              </a:r>
              <a:endParaRPr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82" name="Google Shape;782;p72"/>
            <p:cNvSpPr txBox="1"/>
            <p:nvPr/>
          </p:nvSpPr>
          <p:spPr>
            <a:xfrm>
              <a:off x="190500" y="666750"/>
              <a:ext cx="209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Resource Waste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CI resources are limited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and expensive. Most speculative paths are discarded, wasting massive compute.</a:t>
              </a:r>
              <a:endParaRPr b="0" sz="935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p72"/>
          <p:cNvSpPr txBox="1"/>
          <p:nvPr/>
        </p:nvSpPr>
        <p:spPr>
          <a:xfrm>
            <a:off x="571500" y="940386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Speculative testing hits a wall as codebase complexity increases</a:t>
            </a:r>
            <a:endParaRPr sz="16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grpSp>
        <p:nvGrpSpPr>
          <p:cNvPr id="784" name="Google Shape;784;p72"/>
          <p:cNvGrpSpPr/>
          <p:nvPr/>
        </p:nvGrpSpPr>
        <p:grpSpPr>
          <a:xfrm>
            <a:off x="6096000" y="1524000"/>
            <a:ext cx="2476500" cy="1714500"/>
            <a:chOff x="0" y="0"/>
            <a:chExt cx="2476500" cy="1714500"/>
          </a:xfrm>
        </p:grpSpPr>
        <p:sp>
          <p:nvSpPr>
            <p:cNvPr id="785" name="Google Shape;785;p72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444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72"/>
            <p:cNvSpPr txBox="1"/>
            <p:nvPr/>
          </p:nvSpPr>
          <p:spPr>
            <a:xfrm>
              <a:off x="19050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timer_off</a:t>
              </a:r>
              <a:endParaRPr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87" name="Google Shape;787;p72"/>
            <p:cNvSpPr txBox="1"/>
            <p:nvPr/>
          </p:nvSpPr>
          <p:spPr>
            <a:xfrm>
              <a:off x="190500" y="666750"/>
              <a:ext cx="2095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Velocity Drag</a:t>
              </a:r>
              <a:endParaRPr b="1" sz="11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Current methods are </a:t>
              </a:r>
              <a:r>
                <a:rPr b="1" lang="en" sz="93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too slow</a:t>
              </a:r>
              <a:r>
                <a:rPr b="0" lang="en" sz="935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for large codebases with continuous, high-frequency changes.</a:t>
              </a:r>
              <a:endParaRPr b="0" sz="935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8" name="Google Shape;788;p7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Scale Challenge: Exponential Build Growth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789" name="Google Shape;789;p72"/>
          <p:cNvSpPr/>
          <p:nvPr/>
        </p:nvSpPr>
        <p:spPr>
          <a:xfrm>
            <a:off x="2860500" y="3855850"/>
            <a:ext cx="30327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How do we solve this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 problem</a:t>
            </a: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?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790" name="Google Shape;79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Optimization-1: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Pruning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796" name="Google Shape;7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73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98" name="Google Shape;798;p73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799" name="Google Shape;799;p73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00" name="Google Shape;800;p73"/>
          <p:cNvCxnSpPr>
            <a:stCxn id="797" idx="3"/>
            <a:endCxn id="798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73"/>
          <p:cNvCxnSpPr>
            <a:stCxn id="797" idx="5"/>
            <a:endCxn id="799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73"/>
          <p:cNvSpPr txBox="1"/>
          <p:nvPr/>
        </p:nvSpPr>
        <p:spPr>
          <a:xfrm>
            <a:off x="4490275" y="1858688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C1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803" name="Google Shape;803;p73"/>
          <p:cNvCxnSpPr>
            <a:stCxn id="804" idx="0"/>
            <a:endCxn id="805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06" name="Google Shape;806;p73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07" name="Google Shape;807;p73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08" name="Google Shape;808;p73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09" name="Google Shape;809;p73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10" name="Google Shape;810;p73"/>
          <p:cNvCxnSpPr>
            <a:stCxn id="798" idx="3"/>
            <a:endCxn id="806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73"/>
          <p:cNvCxnSpPr>
            <a:stCxn id="798" idx="5"/>
            <a:endCxn id="807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73"/>
          <p:cNvCxnSpPr>
            <a:stCxn id="799" idx="3"/>
            <a:endCxn id="808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73"/>
          <p:cNvCxnSpPr>
            <a:stCxn id="799" idx="5"/>
            <a:endCxn id="809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4" name="Google Shape;814;p73"/>
          <p:cNvCxnSpPr>
            <a:stCxn id="805" idx="0"/>
            <a:endCxn id="815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16" name="Google Shape;816;p73"/>
          <p:cNvSpPr txBox="1"/>
          <p:nvPr/>
        </p:nvSpPr>
        <p:spPr>
          <a:xfrm>
            <a:off x="6112250" y="3162875"/>
            <a:ext cx="18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17" name="Google Shape;817;p73"/>
          <p:cNvSpPr txBox="1"/>
          <p:nvPr/>
        </p:nvSpPr>
        <p:spPr>
          <a:xfrm>
            <a:off x="4475875" y="2993525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18" name="Google Shape;818;p73"/>
          <p:cNvSpPr/>
          <p:nvPr/>
        </p:nvSpPr>
        <p:spPr>
          <a:xfrm rot="-5400000">
            <a:off x="2851656" y="3003525"/>
            <a:ext cx="147000" cy="3003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19" name="Google Shape;819;p73"/>
          <p:cNvSpPr txBox="1"/>
          <p:nvPr/>
        </p:nvSpPr>
        <p:spPr>
          <a:xfrm>
            <a:off x="2496150" y="45758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Pruned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20" name="Google Shape;820;p73"/>
          <p:cNvCxnSpPr>
            <a:stCxn id="804" idx="1"/>
            <a:endCxn id="815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04" name="Google Shape;804;p73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05" name="Google Shape;805;p73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15" name="Google Shape;815;p73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21" name="Google Shape;821;p73"/>
          <p:cNvSpPr txBox="1"/>
          <p:nvPr/>
        </p:nvSpPr>
        <p:spPr>
          <a:xfrm>
            <a:off x="3179850" y="1858688"/>
            <a:ext cx="10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 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22" name="Google Shape;822;p73"/>
          <p:cNvSpPr txBox="1"/>
          <p:nvPr/>
        </p:nvSpPr>
        <p:spPr>
          <a:xfrm>
            <a:off x="3087063" y="3145250"/>
            <a:ext cx="10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2,3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23" name="Google Shape;823;p73"/>
          <p:cNvSpPr txBox="1"/>
          <p:nvPr/>
        </p:nvSpPr>
        <p:spPr>
          <a:xfrm>
            <a:off x="1739613" y="3166525"/>
            <a:ext cx="102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24" name="Google Shape;824;p73"/>
          <p:cNvSpPr/>
          <p:nvPr/>
        </p:nvSpPr>
        <p:spPr>
          <a:xfrm>
            <a:off x="5262200" y="1088400"/>
            <a:ext cx="3587700" cy="699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Why continue to build when certain futures can no longer be true?</a:t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Optimization-1: Pruning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30" name="Google Shape;83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4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32" name="Google Shape;832;p74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33" name="Google Shape;833;p74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34" name="Google Shape;834;p74"/>
          <p:cNvCxnSpPr>
            <a:stCxn id="831" idx="3"/>
            <a:endCxn id="832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E11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74"/>
          <p:cNvCxnSpPr>
            <a:stCxn id="831" idx="5"/>
            <a:endCxn id="833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74"/>
          <p:cNvSpPr txBox="1"/>
          <p:nvPr/>
        </p:nvSpPr>
        <p:spPr>
          <a:xfrm>
            <a:off x="4661500" y="1858675"/>
            <a:ext cx="17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cxnSp>
        <p:nvCxnSpPr>
          <p:cNvPr id="837" name="Google Shape;837;p74"/>
          <p:cNvCxnSpPr>
            <a:stCxn id="838" idx="0"/>
            <a:endCxn id="839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40" name="Google Shape;840;p74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41" name="Google Shape;841;p74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42" name="Google Shape;842;p74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43" name="Google Shape;843;p74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44" name="Google Shape;844;p74"/>
          <p:cNvCxnSpPr>
            <a:stCxn id="832" idx="3"/>
            <a:endCxn id="840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E11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5" name="Google Shape;845;p74"/>
          <p:cNvCxnSpPr>
            <a:stCxn id="832" idx="5"/>
            <a:endCxn id="841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6" name="Google Shape;846;p74"/>
          <p:cNvCxnSpPr>
            <a:stCxn id="833" idx="3"/>
            <a:endCxn id="842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p74"/>
          <p:cNvCxnSpPr>
            <a:stCxn id="833" idx="5"/>
            <a:endCxn id="843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74"/>
          <p:cNvCxnSpPr>
            <a:stCxn id="839" idx="0"/>
            <a:endCxn id="849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0" name="Google Shape;850;p74"/>
          <p:cNvSpPr txBox="1"/>
          <p:nvPr/>
        </p:nvSpPr>
        <p:spPr>
          <a:xfrm>
            <a:off x="6066800" y="3041075"/>
            <a:ext cx="18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1,2,3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51" name="Google Shape;851;p74"/>
          <p:cNvSpPr txBox="1"/>
          <p:nvPr/>
        </p:nvSpPr>
        <p:spPr>
          <a:xfrm>
            <a:off x="4661500" y="3104050"/>
            <a:ext cx="14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1,3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cancelled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52" name="Google Shape;852;p74"/>
          <p:cNvSpPr txBox="1"/>
          <p:nvPr/>
        </p:nvSpPr>
        <p:spPr>
          <a:xfrm>
            <a:off x="5590175" y="45758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Pruned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853" name="Google Shape;853;p74"/>
          <p:cNvCxnSpPr>
            <a:stCxn id="838" idx="1"/>
            <a:endCxn id="849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38" name="Google Shape;838;p74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39" name="Google Shape;839;p74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49" name="Google Shape;849;p74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854" name="Google Shape;854;p74"/>
          <p:cNvSpPr/>
          <p:nvPr/>
        </p:nvSpPr>
        <p:spPr>
          <a:xfrm rot="-5400000">
            <a:off x="5881244" y="3062025"/>
            <a:ext cx="147000" cy="2856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55" name="Google Shape;855;p74"/>
          <p:cNvSpPr txBox="1"/>
          <p:nvPr/>
        </p:nvSpPr>
        <p:spPr>
          <a:xfrm>
            <a:off x="2854432" y="1858688"/>
            <a:ext cx="14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1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C1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56" name="Google Shape;856;p74"/>
          <p:cNvSpPr txBox="1"/>
          <p:nvPr/>
        </p:nvSpPr>
        <p:spPr>
          <a:xfrm>
            <a:off x="2781150" y="3249550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857" name="Google Shape;857;p74"/>
          <p:cNvSpPr txBox="1"/>
          <p:nvPr/>
        </p:nvSpPr>
        <p:spPr>
          <a:xfrm>
            <a:off x="1360075" y="2993525"/>
            <a:ext cx="18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5"/>
          <p:cNvSpPr txBox="1"/>
          <p:nvPr/>
        </p:nvSpPr>
        <p:spPr>
          <a:xfrm>
            <a:off x="571500" y="9048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rPr>
              <a:t>Why assume every change depends on one another?</a:t>
            </a:r>
            <a:endParaRPr sz="1600">
              <a:solidFill>
                <a:srgbClr val="FFFFFF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62" name="Google Shape;86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14875"/>
            <a:ext cx="400200" cy="23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3" name="Google Shape;863;p75"/>
          <p:cNvGrpSpPr/>
          <p:nvPr/>
        </p:nvGrpSpPr>
        <p:grpSpPr>
          <a:xfrm>
            <a:off x="571500" y="1714500"/>
            <a:ext cx="8001000" cy="1333500"/>
            <a:chOff x="571500" y="1714500"/>
            <a:chExt cx="8001000" cy="1333500"/>
          </a:xfrm>
        </p:grpSpPr>
        <p:sp>
          <p:nvSpPr>
            <p:cNvPr id="864" name="Google Shape;864;p75"/>
            <p:cNvSpPr/>
            <p:nvPr/>
          </p:nvSpPr>
          <p:spPr>
            <a:xfrm>
              <a:off x="5715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75"/>
            <p:cNvSpPr txBox="1"/>
            <p:nvPr/>
          </p:nvSpPr>
          <p:spPr>
            <a:xfrm>
              <a:off x="7620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6" name="Google Shape;866;p75"/>
            <p:cNvSpPr txBox="1"/>
            <p:nvPr/>
          </p:nvSpPr>
          <p:spPr>
            <a:xfrm>
              <a:off x="7620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Change</a:t>
              </a: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 Identification</a:t>
              </a:r>
              <a:endParaRPr b="1" sz="1203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10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Isolate exactly which components are affected.</a:t>
              </a:r>
              <a:endParaRPr b="1" sz="1295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867" name="Google Shape;867;p75"/>
            <p:cNvSpPr/>
            <p:nvPr/>
          </p:nvSpPr>
          <p:spPr>
            <a:xfrm>
              <a:off x="333375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75"/>
            <p:cNvSpPr txBox="1"/>
            <p:nvPr/>
          </p:nvSpPr>
          <p:spPr>
            <a:xfrm>
              <a:off x="352425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9" name="Google Shape;869;p75"/>
            <p:cNvSpPr txBox="1"/>
            <p:nvPr/>
          </p:nvSpPr>
          <p:spPr>
            <a:xfrm>
              <a:off x="352425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Overlap Detection</a:t>
              </a:r>
              <a:endParaRPr b="1" sz="1203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10">
                  <a:solidFill>
                    <a:schemeClr val="dk1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Detect and manage simultaneous changes.</a:t>
              </a:r>
              <a:endParaRPr b="1" sz="1295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870" name="Google Shape;870;p75"/>
            <p:cNvSpPr/>
            <p:nvPr/>
          </p:nvSpPr>
          <p:spPr>
            <a:xfrm>
              <a:off x="60960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75"/>
            <p:cNvSpPr txBox="1"/>
            <p:nvPr/>
          </p:nvSpPr>
          <p:spPr>
            <a:xfrm>
              <a:off x="62865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auto_fix_high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72" name="Google Shape;872;p75"/>
            <p:cNvSpPr txBox="1"/>
            <p:nvPr/>
          </p:nvSpPr>
          <p:spPr>
            <a:xfrm>
              <a:off x="62865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b="1" lang="en" sz="1203">
                  <a:solidFill>
                    <a:schemeClr val="dk1"/>
                  </a:solidFill>
                  <a:latin typeface="Uber Move"/>
                  <a:ea typeface="Uber Move"/>
                  <a:cs typeface="Uber Move"/>
                  <a:sym typeface="Uber Move"/>
                </a:rPr>
                <a:t>Build Optimization</a:t>
              </a:r>
              <a:endParaRPr b="1" sz="1203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10">
                  <a:solidFill>
                    <a:schemeClr val="dk1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Avoid unnecessary work to save CI resources.</a:t>
              </a:r>
              <a:endParaRPr b="1" sz="1295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sp>
        <p:nvSpPr>
          <p:cNvPr id="873" name="Google Shape;873;p75"/>
          <p:cNvSpPr txBox="1"/>
          <p:nvPr/>
        </p:nvSpPr>
        <p:spPr>
          <a:xfrm>
            <a:off x="551850" y="116775"/>
            <a:ext cx="765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Optimization-2: 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874" name="Google Shape;87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5"/>
          <p:cNvSpPr/>
          <p:nvPr/>
        </p:nvSpPr>
        <p:spPr>
          <a:xfrm>
            <a:off x="2860500" y="3855850"/>
            <a:ext cx="30327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Let’s understand with examples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9" name="Google Shape;879;p76"/>
          <p:cNvGrpSpPr/>
          <p:nvPr/>
        </p:nvGrpSpPr>
        <p:grpSpPr>
          <a:xfrm>
            <a:off x="476250" y="1047750"/>
            <a:ext cx="3048000" cy="2952900"/>
            <a:chOff x="476250" y="1047750"/>
            <a:chExt cx="3048000" cy="2952900"/>
          </a:xfrm>
        </p:grpSpPr>
        <p:sp>
          <p:nvSpPr>
            <p:cNvPr id="880" name="Google Shape;880;p76"/>
            <p:cNvSpPr/>
            <p:nvPr/>
          </p:nvSpPr>
          <p:spPr>
            <a:xfrm>
              <a:off x="476250" y="1047750"/>
              <a:ext cx="571500" cy="228600"/>
            </a:xfrm>
            <a:prstGeom prst="roundRect">
              <a:avLst>
                <a:gd fmla="val 16666" name="adj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6"/>
            <p:cNvSpPr txBox="1"/>
            <p:nvPr/>
          </p:nvSpPr>
          <p:spPr>
            <a:xfrm>
              <a:off x="476250" y="1047750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REPO</a:t>
              </a:r>
              <a:endParaRPr b="1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2" name="Google Shape;882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2475" y="1276350"/>
              <a:ext cx="19200" cy="2724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3" name="Google Shape;883;p76"/>
            <p:cNvGrpSpPr/>
            <p:nvPr/>
          </p:nvGrpSpPr>
          <p:grpSpPr>
            <a:xfrm>
              <a:off x="762000" y="1695450"/>
              <a:ext cx="2762250" cy="238200"/>
              <a:chOff x="762000" y="1695450"/>
              <a:chExt cx="2762250" cy="238200"/>
            </a:xfrm>
          </p:grpSpPr>
          <p:pic>
            <p:nvPicPr>
              <p:cNvPr id="884" name="Google Shape;884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1800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5" name="Google Shape;885;p76"/>
              <p:cNvSpPr txBox="1"/>
              <p:nvPr/>
            </p:nvSpPr>
            <p:spPr>
              <a:xfrm>
                <a:off x="1238250" y="16954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src/org/group/service1/…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  <p:grpSp>
          <p:nvGrpSpPr>
            <p:cNvPr id="886" name="Google Shape;886;p76"/>
            <p:cNvGrpSpPr/>
            <p:nvPr/>
          </p:nvGrpSpPr>
          <p:grpSpPr>
            <a:xfrm>
              <a:off x="762000" y="2266950"/>
              <a:ext cx="2762250" cy="238200"/>
              <a:chOff x="762000" y="2266950"/>
              <a:chExt cx="2762250" cy="238200"/>
            </a:xfrm>
          </p:grpSpPr>
          <p:pic>
            <p:nvPicPr>
              <p:cNvPr id="887" name="Google Shape;887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23717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8" name="Google Shape;888;p76"/>
              <p:cNvSpPr txBox="1"/>
              <p:nvPr/>
            </p:nvSpPr>
            <p:spPr>
              <a:xfrm>
                <a:off x="1238250" y="22669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src/org/group/service2/…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  <p:grpSp>
          <p:nvGrpSpPr>
            <p:cNvPr id="889" name="Google Shape;889;p76"/>
            <p:cNvGrpSpPr/>
            <p:nvPr/>
          </p:nvGrpSpPr>
          <p:grpSpPr>
            <a:xfrm>
              <a:off x="762000" y="2838450"/>
              <a:ext cx="2762250" cy="238200"/>
              <a:chOff x="762000" y="2838450"/>
              <a:chExt cx="2762250" cy="238200"/>
            </a:xfrm>
          </p:grpSpPr>
          <p:pic>
            <p:nvPicPr>
              <p:cNvPr id="890" name="Google Shape;890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2943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1" name="Google Shape;891;p76"/>
              <p:cNvSpPr txBox="1"/>
              <p:nvPr/>
            </p:nvSpPr>
            <p:spPr>
              <a:xfrm>
                <a:off x="1238250" y="28384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src/org/group/common/lib/…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  <p:grpSp>
          <p:nvGrpSpPr>
            <p:cNvPr id="892" name="Google Shape;892;p76"/>
            <p:cNvGrpSpPr/>
            <p:nvPr/>
          </p:nvGrpSpPr>
          <p:grpSpPr>
            <a:xfrm>
              <a:off x="762000" y="3409950"/>
              <a:ext cx="2762250" cy="238200"/>
              <a:chOff x="762000" y="3409950"/>
              <a:chExt cx="2762250" cy="238200"/>
            </a:xfrm>
          </p:grpSpPr>
          <p:pic>
            <p:nvPicPr>
              <p:cNvPr id="893" name="Google Shape;893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0" y="35147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4" name="Google Shape;894;p76"/>
              <p:cNvSpPr txBox="1"/>
              <p:nvPr/>
            </p:nvSpPr>
            <p:spPr>
              <a:xfrm>
                <a:off x="1238250" y="3409950"/>
                <a:ext cx="2286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BBBBBB"/>
                    </a:solidFill>
                    <a:latin typeface="Barlow Light"/>
                    <a:ea typeface="Barlow Light"/>
                    <a:cs typeface="Barlow Light"/>
                    <a:sym typeface="Barlow Light"/>
                  </a:rPr>
                  <a:t>…</a:t>
                </a:r>
                <a:endParaRPr b="0" sz="1300">
                  <a:solidFill>
                    <a:srgbClr val="BBBBBB"/>
                  </a:solidFill>
                  <a:latin typeface="Barlow Light"/>
                  <a:ea typeface="Barlow Light"/>
                  <a:cs typeface="Barlow Light"/>
                  <a:sym typeface="Barlow Light"/>
                </a:endParaRPr>
              </a:p>
            </p:txBody>
          </p:sp>
        </p:grpSp>
      </p:grpSp>
      <p:grpSp>
        <p:nvGrpSpPr>
          <p:cNvPr id="895" name="Google Shape;895;p76"/>
          <p:cNvGrpSpPr/>
          <p:nvPr/>
        </p:nvGrpSpPr>
        <p:grpSpPr>
          <a:xfrm>
            <a:off x="4000500" y="1809750"/>
            <a:ext cx="4667400" cy="2667000"/>
            <a:chOff x="4000500" y="1809750"/>
            <a:chExt cx="4667400" cy="2667000"/>
          </a:xfrm>
        </p:grpSpPr>
        <p:sp>
          <p:nvSpPr>
            <p:cNvPr id="896" name="Google Shape;896;p76"/>
            <p:cNvSpPr/>
            <p:nvPr/>
          </p:nvSpPr>
          <p:spPr>
            <a:xfrm>
              <a:off x="4000500" y="1809750"/>
              <a:ext cx="4667400" cy="2667000"/>
            </a:xfrm>
            <a:prstGeom prst="roundRect">
              <a:avLst>
                <a:gd fmla="val 4285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76"/>
            <p:cNvSpPr txBox="1"/>
            <p:nvPr/>
          </p:nvSpPr>
          <p:spPr>
            <a:xfrm>
              <a:off x="4000500" y="19526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 </a:t>
              </a: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TARGET DEPENDENCY GRAPH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76"/>
            <p:cNvSpPr/>
            <p:nvPr/>
          </p:nvSpPr>
          <p:spPr>
            <a:xfrm>
              <a:off x="4381500" y="2809875"/>
              <a:ext cx="762000" cy="476400"/>
            </a:xfrm>
            <a:prstGeom prst="roundRect">
              <a:avLst>
                <a:gd fmla="val 8000" name="adj"/>
              </a:avLst>
            </a:prstGeom>
            <a:solidFill>
              <a:srgbClr val="FFECD1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76"/>
            <p:cNvSpPr txBox="1"/>
            <p:nvPr/>
          </p:nvSpPr>
          <p:spPr>
            <a:xfrm>
              <a:off x="4381500" y="2809875"/>
              <a:ext cx="76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lib</a:t>
              </a:r>
              <a:endPara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6"/>
            <p:cNvSpPr/>
            <p:nvPr/>
          </p:nvSpPr>
          <p:spPr>
            <a:xfrm>
              <a:off x="7048500" y="2381250"/>
              <a:ext cx="952500" cy="476400"/>
            </a:xfrm>
            <a:prstGeom prst="roundRect">
              <a:avLst>
                <a:gd fmla="val 8000" name="adj"/>
              </a:avLst>
            </a:prstGeom>
            <a:solidFill>
              <a:srgbClr val="FFECD1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6"/>
            <p:cNvSpPr txBox="1"/>
            <p:nvPr/>
          </p:nvSpPr>
          <p:spPr>
            <a:xfrm>
              <a:off x="7048500" y="2381250"/>
              <a:ext cx="95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service1</a:t>
              </a:r>
              <a:endPara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76"/>
            <p:cNvSpPr/>
            <p:nvPr/>
          </p:nvSpPr>
          <p:spPr>
            <a:xfrm>
              <a:off x="7048500" y="3238500"/>
              <a:ext cx="952500" cy="476400"/>
            </a:xfrm>
            <a:prstGeom prst="roundRect">
              <a:avLst>
                <a:gd fmla="val 8000" name="adj"/>
              </a:avLst>
            </a:prstGeom>
            <a:solidFill>
              <a:srgbClr val="FFECD1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76"/>
            <p:cNvSpPr txBox="1"/>
            <p:nvPr/>
          </p:nvSpPr>
          <p:spPr>
            <a:xfrm>
              <a:off x="7048500" y="3238500"/>
              <a:ext cx="95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service2</a:t>
              </a:r>
              <a:endPara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4" name="Google Shape;904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38738" y="2605088"/>
              <a:ext cx="1814400" cy="35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5" name="Google Shape;905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38738" y="3138488"/>
              <a:ext cx="1814400" cy="3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76"/>
            <p:cNvSpPr txBox="1"/>
            <p:nvPr/>
          </p:nvSpPr>
          <p:spPr>
            <a:xfrm>
              <a:off x="5334000" y="2428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999999"/>
                  </a:solidFill>
                  <a:latin typeface="Barlow"/>
                  <a:ea typeface="Barlow"/>
                  <a:cs typeface="Barlow"/>
                  <a:sym typeface="Barlow"/>
                </a:rPr>
                <a:t>Required by</a:t>
              </a:r>
              <a:endParaRPr sz="1000">
                <a:solidFill>
                  <a:srgbClr val="999999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907" name="Google Shape;907;p76"/>
          <p:cNvSpPr/>
          <p:nvPr/>
        </p:nvSpPr>
        <p:spPr>
          <a:xfrm>
            <a:off x="4111696" y="1140000"/>
            <a:ext cx="4512300" cy="486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Assumption </a:t>
            </a:r>
            <a:r>
              <a:rPr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≠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Every change depends on each other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08" name="Google Shape;908;p76"/>
          <p:cNvSpPr txBox="1"/>
          <p:nvPr/>
        </p:nvSpPr>
        <p:spPr>
          <a:xfrm>
            <a:off x="5357825" y="3343626"/>
            <a:ext cx="1428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9999"/>
                </a:solidFill>
                <a:latin typeface="Barlow"/>
                <a:ea typeface="Barlow"/>
                <a:cs typeface="Barlow"/>
                <a:sym typeface="Barlow"/>
              </a:rPr>
              <a:t>Required by</a:t>
            </a:r>
            <a:endParaRPr sz="1000">
              <a:solidFill>
                <a:srgbClr val="99999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909" name="Google Shape;909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6"/>
          <p:cNvSpPr txBox="1"/>
          <p:nvPr/>
        </p:nvSpPr>
        <p:spPr>
          <a:xfrm>
            <a:off x="551850" y="116775"/>
            <a:ext cx="765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Optimization-2: </a:t>
            </a: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7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Optimization-2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: </a:t>
            </a:r>
            <a:r>
              <a:rPr b="1" lang="en" sz="29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Dependency Mapping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16" name="Google Shape;91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7"/>
          <p:cNvSpPr/>
          <p:nvPr/>
        </p:nvSpPr>
        <p:spPr>
          <a:xfrm>
            <a:off x="1460500" y="12901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18" name="Google Shape;918;p77"/>
          <p:cNvSpPr/>
          <p:nvPr/>
        </p:nvSpPr>
        <p:spPr>
          <a:xfrm>
            <a:off x="1460500" y="23068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19" name="Google Shape;919;p77"/>
          <p:cNvSpPr/>
          <p:nvPr/>
        </p:nvSpPr>
        <p:spPr>
          <a:xfrm>
            <a:off x="1460500" y="3323572"/>
            <a:ext cx="646500" cy="646500"/>
          </a:xfrm>
          <a:prstGeom prst="snip1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20" name="Google Shape;920;p77"/>
          <p:cNvSpPr/>
          <p:nvPr/>
        </p:nvSpPr>
        <p:spPr>
          <a:xfrm>
            <a:off x="3694625" y="12901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a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21" name="Google Shape;921;p77"/>
          <p:cNvSpPr/>
          <p:nvPr/>
        </p:nvSpPr>
        <p:spPr>
          <a:xfrm>
            <a:off x="3694625" y="23068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22" name="Google Shape;922;p77"/>
          <p:cNvSpPr/>
          <p:nvPr/>
        </p:nvSpPr>
        <p:spPr>
          <a:xfrm>
            <a:off x="3694625" y="3323572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23" name="Google Shape;923;p77"/>
          <p:cNvCxnSpPr>
            <a:stCxn id="917" idx="0"/>
            <a:endCxn id="920" idx="2"/>
          </p:cNvCxnSpPr>
          <p:nvPr/>
        </p:nvCxnSpPr>
        <p:spPr>
          <a:xfrm>
            <a:off x="2107000" y="16134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77"/>
          <p:cNvCxnSpPr>
            <a:stCxn id="918" idx="0"/>
            <a:endCxn id="921" idx="2"/>
          </p:cNvCxnSpPr>
          <p:nvPr/>
        </p:nvCxnSpPr>
        <p:spPr>
          <a:xfrm>
            <a:off x="2107000" y="26301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77"/>
          <p:cNvCxnSpPr>
            <a:stCxn id="919" idx="0"/>
            <a:endCxn id="922" idx="2"/>
          </p:cNvCxnSpPr>
          <p:nvPr/>
        </p:nvCxnSpPr>
        <p:spPr>
          <a:xfrm>
            <a:off x="2107000" y="3646822"/>
            <a:ext cx="15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77"/>
          <p:cNvCxnSpPr>
            <a:stCxn id="919" idx="0"/>
            <a:endCxn id="921" idx="3"/>
          </p:cNvCxnSpPr>
          <p:nvPr/>
        </p:nvCxnSpPr>
        <p:spPr>
          <a:xfrm flipH="1" rot="10800000">
            <a:off x="2107000" y="2858722"/>
            <a:ext cx="1692900" cy="7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27" name="Google Shape;927;p77"/>
          <p:cNvSpPr txBox="1"/>
          <p:nvPr/>
        </p:nvSpPr>
        <p:spPr>
          <a:xfrm>
            <a:off x="2513325" y="12901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28" name="Google Shape;928;p77"/>
          <p:cNvSpPr txBox="1"/>
          <p:nvPr/>
        </p:nvSpPr>
        <p:spPr>
          <a:xfrm>
            <a:off x="2540963" y="23518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29" name="Google Shape;929;p77"/>
          <p:cNvSpPr txBox="1"/>
          <p:nvPr/>
        </p:nvSpPr>
        <p:spPr>
          <a:xfrm>
            <a:off x="2593588" y="3319572"/>
            <a:ext cx="71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modifies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930" name="Google Shape;930;p77"/>
          <p:cNvSpPr/>
          <p:nvPr/>
        </p:nvSpPr>
        <p:spPr>
          <a:xfrm>
            <a:off x="5487750" y="12901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1" name="Google Shape;931;p77"/>
          <p:cNvSpPr/>
          <p:nvPr/>
        </p:nvSpPr>
        <p:spPr>
          <a:xfrm>
            <a:off x="5487750" y="23068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2" name="Google Shape;932;p77"/>
          <p:cNvSpPr/>
          <p:nvPr/>
        </p:nvSpPr>
        <p:spPr>
          <a:xfrm>
            <a:off x="5487750" y="332357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3" name="Google Shape;933;p77"/>
          <p:cNvSpPr/>
          <p:nvPr/>
        </p:nvSpPr>
        <p:spPr>
          <a:xfrm>
            <a:off x="7013175" y="4056322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34" name="Google Shape;934;p77"/>
          <p:cNvSpPr/>
          <p:nvPr/>
        </p:nvSpPr>
        <p:spPr>
          <a:xfrm>
            <a:off x="7013175" y="2571747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35" name="Google Shape;935;p77"/>
          <p:cNvCxnSpPr>
            <a:stCxn id="932" idx="5"/>
            <a:endCxn id="933" idx="2"/>
          </p:cNvCxnSpPr>
          <p:nvPr/>
        </p:nvCxnSpPr>
        <p:spPr>
          <a:xfrm>
            <a:off x="6102052" y="3875395"/>
            <a:ext cx="911100" cy="50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77"/>
          <p:cNvCxnSpPr>
            <a:stCxn id="932" idx="7"/>
            <a:endCxn id="934" idx="2"/>
          </p:cNvCxnSpPr>
          <p:nvPr/>
        </p:nvCxnSpPr>
        <p:spPr>
          <a:xfrm flipH="1" rot="10800000">
            <a:off x="6102052" y="2895050"/>
            <a:ext cx="911100" cy="5232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77"/>
          <p:cNvCxnSpPr>
            <a:stCxn id="920" idx="6"/>
            <a:endCxn id="930" idx="2"/>
          </p:cNvCxnSpPr>
          <p:nvPr/>
        </p:nvCxnSpPr>
        <p:spPr>
          <a:xfrm>
            <a:off x="4414325" y="16134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77"/>
          <p:cNvCxnSpPr>
            <a:stCxn id="921" idx="6"/>
            <a:endCxn id="931" idx="2"/>
          </p:cNvCxnSpPr>
          <p:nvPr/>
        </p:nvCxnSpPr>
        <p:spPr>
          <a:xfrm>
            <a:off x="4414325" y="26301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39" name="Google Shape;939;p77"/>
          <p:cNvCxnSpPr>
            <a:stCxn id="922" idx="6"/>
            <a:endCxn id="932" idx="2"/>
          </p:cNvCxnSpPr>
          <p:nvPr/>
        </p:nvCxnSpPr>
        <p:spPr>
          <a:xfrm>
            <a:off x="4414325" y="3646822"/>
            <a:ext cx="107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40" name="Google Shape;940;p77"/>
          <p:cNvSpPr txBox="1"/>
          <p:nvPr/>
        </p:nvSpPr>
        <p:spPr>
          <a:xfrm>
            <a:off x="5910102" y="3101794"/>
            <a:ext cx="172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succeeds -&gt; C2 merges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41" name="Google Shape;941;p77"/>
          <p:cNvSpPr txBox="1"/>
          <p:nvPr/>
        </p:nvSpPr>
        <p:spPr>
          <a:xfrm>
            <a:off x="6046941" y="3781914"/>
            <a:ext cx="14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B</a:t>
            </a:r>
            <a:r>
              <a:rPr b="1" baseline="-25000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2</a:t>
            </a:r>
            <a:r>
              <a:rPr b="1" lang="en" sz="1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fails -&gt; C2 rejected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42" name="Google Shape;942;p77"/>
          <p:cNvSpPr txBox="1"/>
          <p:nvPr/>
        </p:nvSpPr>
        <p:spPr>
          <a:xfrm>
            <a:off x="1154350" y="938910"/>
            <a:ext cx="124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Changes/Commits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43" name="Google Shape;943;p77"/>
          <p:cNvSpPr txBox="1"/>
          <p:nvPr/>
        </p:nvSpPr>
        <p:spPr>
          <a:xfrm>
            <a:off x="3584525" y="985660"/>
            <a:ext cx="93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Build Targets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44" name="Google Shape;944;p77"/>
          <p:cNvSpPr txBox="1"/>
          <p:nvPr/>
        </p:nvSpPr>
        <p:spPr>
          <a:xfrm>
            <a:off x="5280000" y="974335"/>
            <a:ext cx="11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Speculation Tree</a:t>
            </a:r>
            <a:endParaRPr b="1" sz="10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8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Optimization-3: Probabilistic Speculation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50" name="Google Shape;95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8"/>
          <p:cNvSpPr txBox="1"/>
          <p:nvPr/>
        </p:nvSpPr>
        <p:spPr>
          <a:xfrm>
            <a:off x="571500" y="10380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Bet CI resources on builds most likely to succeed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grpSp>
        <p:nvGrpSpPr>
          <p:cNvPr id="952" name="Google Shape;952;p78"/>
          <p:cNvGrpSpPr/>
          <p:nvPr/>
        </p:nvGrpSpPr>
        <p:grpSpPr>
          <a:xfrm>
            <a:off x="571500" y="1714500"/>
            <a:ext cx="8001000" cy="1333500"/>
            <a:chOff x="571500" y="1714500"/>
            <a:chExt cx="8001000" cy="1333500"/>
          </a:xfrm>
        </p:grpSpPr>
        <p:sp>
          <p:nvSpPr>
            <p:cNvPr id="953" name="Google Shape;953;p78"/>
            <p:cNvSpPr/>
            <p:nvPr/>
          </p:nvSpPr>
          <p:spPr>
            <a:xfrm>
              <a:off x="5715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8"/>
            <p:cNvSpPr txBox="1"/>
            <p:nvPr/>
          </p:nvSpPr>
          <p:spPr>
            <a:xfrm>
              <a:off x="7620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55" name="Google Shape;955;p78"/>
            <p:cNvSpPr txBox="1"/>
            <p:nvPr/>
          </p:nvSpPr>
          <p:spPr>
            <a:xfrm>
              <a:off x="7620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Predict Probability</a:t>
              </a:r>
              <a:endParaRPr b="1" sz="1295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"/>
                  <a:ea typeface="Uber Move"/>
                  <a:cs typeface="Uber Move"/>
                  <a:sym typeface="Uber Move"/>
                </a:rPr>
                <a:t>Quantify success likelihood for every potential build state.</a:t>
              </a:r>
              <a:endParaRPr sz="1018">
                <a:solidFill>
                  <a:srgbClr val="CCCCCC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956" name="Google Shape;956;p78"/>
            <p:cNvSpPr/>
            <p:nvPr/>
          </p:nvSpPr>
          <p:spPr>
            <a:xfrm>
              <a:off x="333375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78"/>
            <p:cNvSpPr txBox="1"/>
            <p:nvPr/>
          </p:nvSpPr>
          <p:spPr>
            <a:xfrm>
              <a:off x="352425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58" name="Google Shape;958;p78"/>
            <p:cNvSpPr txBox="1"/>
            <p:nvPr/>
          </p:nvSpPr>
          <p:spPr>
            <a:xfrm>
              <a:off x="352425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Prioritize Outcomes</a:t>
              </a:r>
              <a:endParaRPr b="1" sz="1295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"/>
                  <a:ea typeface="Uber Move"/>
                  <a:cs typeface="Uber Move"/>
                  <a:sym typeface="Uber Move"/>
                </a:rPr>
                <a:t>Focus resources on branches most likely to reach the mainline.</a:t>
              </a:r>
              <a:endParaRPr sz="1018">
                <a:solidFill>
                  <a:srgbClr val="CCCCCC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959" name="Google Shape;959;p78"/>
            <p:cNvSpPr/>
            <p:nvPr/>
          </p:nvSpPr>
          <p:spPr>
            <a:xfrm>
              <a:off x="6096000" y="1714500"/>
              <a:ext cx="2476500" cy="1333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8"/>
            <p:cNvSpPr txBox="1"/>
            <p:nvPr/>
          </p:nvSpPr>
          <p:spPr>
            <a:xfrm>
              <a:off x="6286500" y="1940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shutter_speed</a:t>
              </a:r>
              <a:endParaRPr sz="2400">
                <a:solidFill>
                  <a:srgbClr val="3D85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1" name="Google Shape;961;p78"/>
            <p:cNvSpPr txBox="1"/>
            <p:nvPr/>
          </p:nvSpPr>
          <p:spPr>
            <a:xfrm>
              <a:off x="6286500" y="2333625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Reduce Wasted Builds</a:t>
              </a:r>
              <a:endParaRPr b="1" sz="1295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"/>
                  <a:ea typeface="Uber Move"/>
                  <a:cs typeface="Uber Move"/>
                  <a:sym typeface="Uber Move"/>
                </a:rPr>
                <a:t>Spawn builds for futures that are most needed.</a:t>
              </a:r>
              <a:endParaRPr sz="1018">
                <a:solidFill>
                  <a:srgbClr val="CCCCCC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sp>
        <p:nvSpPr>
          <p:cNvPr id="962" name="Google Shape;962;p78"/>
          <p:cNvSpPr/>
          <p:nvPr/>
        </p:nvSpPr>
        <p:spPr>
          <a:xfrm>
            <a:off x="2509950" y="3701425"/>
            <a:ext cx="41241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Uber Move"/>
                <a:ea typeface="Uber Move"/>
                <a:cs typeface="Uber Move"/>
                <a:sym typeface="Uber Move"/>
              </a:rPr>
              <a:t>Let's look at an example to understand?</a:t>
            </a:r>
            <a:endParaRPr b="1" sz="1500"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9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(C1)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68" name="Google Shape;96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9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mportance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0" name="Google Shape;970;p79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1" name="Google Shape;971;p79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3141850" y="1988175"/>
            <a:ext cx="2985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uccess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 = 1 -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ailure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ailure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   = 1 -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i="1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uccess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b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</a:b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0     ≤    </a:t>
            </a:r>
            <a:r>
              <a:rPr b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mportance(B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  ≤  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73" name="Google Shape;973;p79"/>
          <p:cNvSpPr txBox="1"/>
          <p:nvPr/>
        </p:nvSpPr>
        <p:spPr>
          <a:xfrm>
            <a:off x="489800" y="771625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79" name="Google Shape;9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0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1" name="Google Shape;981;p80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82" name="Google Shape;982;p80"/>
          <p:cNvCxnSpPr>
            <a:stCxn id="980" idx="3"/>
            <a:endCxn id="981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3" name="Google Shape;983;p80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4" name="Google Shape;984;p80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985" name="Google Shape;985;p80"/>
          <p:cNvCxnSpPr>
            <a:stCxn id="983" idx="0"/>
            <a:endCxn id="984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86" name="Google Shape;986;p80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3158542" y="1696553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988" name="Google Shape;988;p80"/>
          <p:cNvSpPr txBox="1"/>
          <p:nvPr/>
        </p:nvSpPr>
        <p:spPr>
          <a:xfrm>
            <a:off x="1230854" y="2442975"/>
            <a:ext cx="155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89" name="Google Shape;989;p80"/>
          <p:cNvSpPr txBox="1"/>
          <p:nvPr/>
        </p:nvSpPr>
        <p:spPr>
          <a:xfrm>
            <a:off x="146355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990" name="Google Shape;990;p80"/>
          <p:cNvSpPr txBox="1"/>
          <p:nvPr/>
        </p:nvSpPr>
        <p:spPr>
          <a:xfrm>
            <a:off x="48980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(C2)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996" name="Google Shape;99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1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98" name="Google Shape;998;p81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999" name="Google Shape;999;p81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00" name="Google Shape;1000;p81"/>
          <p:cNvCxnSpPr>
            <a:stCxn id="997" idx="3"/>
            <a:endCxn id="998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81"/>
          <p:cNvCxnSpPr>
            <a:stCxn id="997" idx="5"/>
            <a:endCxn id="999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2" name="Google Shape;1002;p81"/>
          <p:cNvSpPr txBox="1"/>
          <p:nvPr/>
        </p:nvSpPr>
        <p:spPr>
          <a:xfrm>
            <a:off x="5006653" y="1696550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03" name="Google Shape;1003;p81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04" name="Google Shape;1004;p81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05" name="Google Shape;1005;p81"/>
          <p:cNvCxnSpPr>
            <a:stCxn id="1003" idx="0"/>
            <a:endCxn id="1004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6" name="Google Shape;1006;p81"/>
          <p:cNvSpPr txBox="1"/>
          <p:nvPr/>
        </p:nvSpPr>
        <p:spPr>
          <a:xfrm>
            <a:off x="4766900" y="1205250"/>
            <a:ext cx="298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1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07" name="Google Shape;1007;p81"/>
          <p:cNvSpPr txBox="1"/>
          <p:nvPr/>
        </p:nvSpPr>
        <p:spPr>
          <a:xfrm>
            <a:off x="6171825" y="2442975"/>
            <a:ext cx="235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08" name="Google Shape;1008;p81"/>
          <p:cNvSpPr txBox="1"/>
          <p:nvPr/>
        </p:nvSpPr>
        <p:spPr>
          <a:xfrm>
            <a:off x="3158542" y="1696553"/>
            <a:ext cx="75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09" name="Google Shape;1009;p81"/>
          <p:cNvSpPr txBox="1"/>
          <p:nvPr/>
        </p:nvSpPr>
        <p:spPr>
          <a:xfrm>
            <a:off x="1230854" y="2442975"/>
            <a:ext cx="155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10" name="Google Shape;1010;p81"/>
          <p:cNvSpPr txBox="1"/>
          <p:nvPr/>
        </p:nvSpPr>
        <p:spPr>
          <a:xfrm>
            <a:off x="146355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011" name="Google Shape;1011;p81"/>
          <p:cNvSpPr txBox="1"/>
          <p:nvPr/>
        </p:nvSpPr>
        <p:spPr>
          <a:xfrm>
            <a:off x="489800" y="771613"/>
            <a:ext cx="115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 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(C1)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17" name="Google Shape;101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2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21" name="Google Shape;1021;p82"/>
          <p:cNvCxnSpPr>
            <a:stCxn id="1018" idx="3"/>
            <a:endCxn id="101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82"/>
          <p:cNvCxnSpPr>
            <a:stCxn id="1018" idx="5"/>
            <a:endCxn id="1020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82"/>
          <p:cNvCxnSpPr>
            <a:stCxn id="1024" idx="0"/>
            <a:endCxn id="1025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6" name="Google Shape;1026;p82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27" name="Google Shape;1027;p82"/>
          <p:cNvCxnSpPr>
            <a:stCxn id="1019" idx="3"/>
            <a:endCxn id="1026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82"/>
          <p:cNvCxnSpPr>
            <a:stCxn id="1025" idx="0"/>
            <a:endCxn id="1029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24" name="Google Shape;1024;p82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5" name="Google Shape;1025;p82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29" name="Google Shape;1029;p82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30" name="Google Shape;1030;p82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31" name="Google Shape;1031;p82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32" name="Google Shape;1032;p82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33" name="Google Shape;1033;p82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34" name="Google Shape;1034;p82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035" name="Google Shape;1035;p82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036" name="Google Shape;1036;p82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037" name="Google Shape;1037;p82"/>
          <p:cNvCxnSpPr>
            <a:stCxn id="1024" idx="1"/>
            <a:endCxn id="1029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3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43" name="Google Shape;104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3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45" name="Google Shape;1045;p83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46" name="Google Shape;1046;p83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47" name="Google Shape;1047;p83"/>
          <p:cNvCxnSpPr>
            <a:stCxn id="1044" idx="3"/>
            <a:endCxn id="1045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8" name="Google Shape;1048;p83"/>
          <p:cNvCxnSpPr>
            <a:stCxn id="1044" idx="5"/>
            <a:endCxn id="1046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83"/>
          <p:cNvCxnSpPr>
            <a:stCxn id="1050" idx="0"/>
            <a:endCxn id="1051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2" name="Google Shape;1052;p83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3" name="Google Shape;1053;p83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54" name="Google Shape;1054;p83"/>
          <p:cNvCxnSpPr>
            <a:stCxn id="1045" idx="3"/>
            <a:endCxn id="1052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83"/>
          <p:cNvCxnSpPr>
            <a:stCxn id="1045" idx="5"/>
            <a:endCxn id="1053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83"/>
          <p:cNvCxnSpPr>
            <a:stCxn id="1051" idx="0"/>
            <a:endCxn id="1057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0" name="Google Shape;1050;p83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1" name="Google Shape;1051;p83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7" name="Google Shape;1057;p83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58" name="Google Shape;1058;p83"/>
          <p:cNvSpPr txBox="1"/>
          <p:nvPr/>
        </p:nvSpPr>
        <p:spPr>
          <a:xfrm>
            <a:off x="3464723" y="2927375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59" name="Google Shape;1059;p83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60" name="Google Shape;1060;p83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61" name="Google Shape;1061;p83"/>
          <p:cNvSpPr txBox="1"/>
          <p:nvPr/>
        </p:nvSpPr>
        <p:spPr>
          <a:xfrm>
            <a:off x="2466263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63" name="Google Shape;1063;p83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64" name="Google Shape;1064;p83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065" name="Google Shape;1065;p83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066" name="Google Shape;1066;p83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067" name="Google Shape;1067;p83"/>
          <p:cNvCxnSpPr>
            <a:stCxn id="1050" idx="1"/>
            <a:endCxn id="1057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073" name="Google Shape;107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4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75" name="Google Shape;1075;p84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76" name="Google Shape;1076;p84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77" name="Google Shape;1077;p84"/>
          <p:cNvCxnSpPr>
            <a:stCxn id="1074" idx="3"/>
            <a:endCxn id="1075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84"/>
          <p:cNvCxnSpPr>
            <a:stCxn id="1074" idx="5"/>
            <a:endCxn id="1076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84"/>
          <p:cNvCxnSpPr>
            <a:stCxn id="1080" idx="0"/>
            <a:endCxn id="1081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82" name="Google Shape;1082;p84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83" name="Google Shape;1083;p84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84" name="Google Shape;1084;p84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085" name="Google Shape;1085;p84"/>
          <p:cNvCxnSpPr>
            <a:stCxn id="1075" idx="3"/>
            <a:endCxn id="1082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6" name="Google Shape;1086;p84"/>
          <p:cNvCxnSpPr>
            <a:stCxn id="1075" idx="5"/>
            <a:endCxn id="1083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7" name="Google Shape;1087;p84"/>
          <p:cNvCxnSpPr>
            <a:stCxn id="1076" idx="3"/>
            <a:endCxn id="1084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8" name="Google Shape;1088;p84"/>
          <p:cNvCxnSpPr>
            <a:stCxn id="1081" idx="0"/>
            <a:endCxn id="1089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80" name="Google Shape;1080;p84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81" name="Google Shape;1081;p84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89" name="Google Shape;1089;p84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90" name="Google Shape;1090;p84"/>
          <p:cNvSpPr txBox="1"/>
          <p:nvPr/>
        </p:nvSpPr>
        <p:spPr>
          <a:xfrm>
            <a:off x="4625775" y="2927375"/>
            <a:ext cx="82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91" name="Google Shape;1091;p84"/>
          <p:cNvSpPr txBox="1"/>
          <p:nvPr/>
        </p:nvSpPr>
        <p:spPr>
          <a:xfrm>
            <a:off x="3464723" y="2927375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92" name="Google Shape;1092;p84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93" name="Google Shape;1093;p84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94" name="Google Shape;1094;p84"/>
          <p:cNvSpPr txBox="1"/>
          <p:nvPr/>
        </p:nvSpPr>
        <p:spPr>
          <a:xfrm>
            <a:off x="2466263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95" name="Google Shape;1095;p84"/>
          <p:cNvSpPr txBox="1"/>
          <p:nvPr/>
        </p:nvSpPr>
        <p:spPr>
          <a:xfrm>
            <a:off x="4630100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096" name="Google Shape;1096;p84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97" name="Google Shape;1097;p84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098" name="Google Shape;1098;p84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099" name="Google Shape;1099;p84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100" name="Google Shape;1100;p84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101" name="Google Shape;1101;p84"/>
          <p:cNvCxnSpPr>
            <a:stCxn id="1080" idx="1"/>
            <a:endCxn id="1089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Probabilistic Speculation Tree (C3)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07" name="Google Shape;110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5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09" name="Google Shape;1109;p85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0" name="Google Shape;1110;p85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11" name="Google Shape;1111;p85"/>
          <p:cNvCxnSpPr>
            <a:stCxn id="1108" idx="3"/>
            <a:endCxn id="1109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85"/>
          <p:cNvCxnSpPr>
            <a:stCxn id="1108" idx="5"/>
            <a:endCxn id="1110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85"/>
          <p:cNvCxnSpPr>
            <a:stCxn id="1114" idx="0"/>
            <a:endCxn id="1115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6" name="Google Shape;1116;p85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7" name="Google Shape;1117;p85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8" name="Google Shape;1118;p85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9" name="Google Shape;1119;p85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20" name="Google Shape;1120;p85"/>
          <p:cNvCxnSpPr>
            <a:stCxn id="1109" idx="3"/>
            <a:endCxn id="1116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85"/>
          <p:cNvCxnSpPr>
            <a:stCxn id="1109" idx="5"/>
            <a:endCxn id="1117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85"/>
          <p:cNvCxnSpPr>
            <a:stCxn id="1110" idx="3"/>
            <a:endCxn id="1118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85"/>
          <p:cNvCxnSpPr>
            <a:stCxn id="1110" idx="5"/>
            <a:endCxn id="1119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85"/>
          <p:cNvCxnSpPr>
            <a:stCxn id="1115" idx="0"/>
            <a:endCxn id="1125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4" name="Google Shape;1114;p85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15" name="Google Shape;1115;p85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25" name="Google Shape;1125;p85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26" name="Google Shape;1126;p85"/>
          <p:cNvSpPr txBox="1"/>
          <p:nvPr/>
        </p:nvSpPr>
        <p:spPr>
          <a:xfrm>
            <a:off x="6382122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27" name="Google Shape;1127;p85"/>
          <p:cNvSpPr txBox="1"/>
          <p:nvPr/>
        </p:nvSpPr>
        <p:spPr>
          <a:xfrm>
            <a:off x="4625775" y="2927375"/>
            <a:ext cx="82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28" name="Google Shape;1128;p85"/>
          <p:cNvSpPr txBox="1"/>
          <p:nvPr/>
        </p:nvSpPr>
        <p:spPr>
          <a:xfrm>
            <a:off x="3464723" y="2927375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29" name="Google Shape;1129;p85"/>
          <p:cNvSpPr txBox="1"/>
          <p:nvPr/>
        </p:nvSpPr>
        <p:spPr>
          <a:xfrm>
            <a:off x="1729580" y="2927365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30" name="Google Shape;1130;p85"/>
          <p:cNvSpPr txBox="1"/>
          <p:nvPr/>
        </p:nvSpPr>
        <p:spPr>
          <a:xfrm>
            <a:off x="268850" y="4344275"/>
            <a:ext cx="187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i="1"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31" name="Google Shape;1131;p85"/>
          <p:cNvSpPr txBox="1"/>
          <p:nvPr/>
        </p:nvSpPr>
        <p:spPr>
          <a:xfrm>
            <a:off x="2466263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4630100" y="4344275"/>
            <a:ext cx="192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sz="1500">
              <a:solidFill>
                <a:schemeClr val="dk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33" name="Google Shape;1133;p85"/>
          <p:cNvSpPr txBox="1"/>
          <p:nvPr/>
        </p:nvSpPr>
        <p:spPr>
          <a:xfrm>
            <a:off x="6793925" y="4344275"/>
            <a:ext cx="197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I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(B</a:t>
            </a:r>
            <a:r>
              <a:rPr baseline="-25000"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) = 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(C1)*</a:t>
            </a: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34" name="Google Shape;1134;p85"/>
          <p:cNvSpPr txBox="1"/>
          <p:nvPr/>
        </p:nvSpPr>
        <p:spPr>
          <a:xfrm>
            <a:off x="4960797" y="1672914"/>
            <a:ext cx="77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35" name="Google Shape;1135;p85"/>
          <p:cNvSpPr txBox="1"/>
          <p:nvPr/>
        </p:nvSpPr>
        <p:spPr>
          <a:xfrm>
            <a:off x="3212415" y="1659058"/>
            <a:ext cx="71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F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 b="1" sz="1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36" name="Google Shape;1136;p85"/>
          <p:cNvSpPr txBox="1"/>
          <p:nvPr/>
        </p:nvSpPr>
        <p:spPr>
          <a:xfrm>
            <a:off x="4652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(C1)</a:t>
            </a:r>
            <a:endParaRPr/>
          </a:p>
        </p:txBody>
      </p:sp>
      <p:sp>
        <p:nvSpPr>
          <p:cNvPr id="1137" name="Google Shape;1137;p85"/>
          <p:cNvSpPr txBox="1"/>
          <p:nvPr/>
        </p:nvSpPr>
        <p:spPr>
          <a:xfrm>
            <a:off x="1439000" y="761150"/>
            <a:ext cx="94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(C2)</a:t>
            </a:r>
            <a:endParaRPr/>
          </a:p>
        </p:txBody>
      </p:sp>
      <p:sp>
        <p:nvSpPr>
          <p:cNvPr id="1138" name="Google Shape;1138;p85"/>
          <p:cNvSpPr txBox="1"/>
          <p:nvPr/>
        </p:nvSpPr>
        <p:spPr>
          <a:xfrm>
            <a:off x="2397800" y="761150"/>
            <a:ext cx="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</a:t>
            </a:r>
            <a:r>
              <a:rPr lang="en" sz="1500">
                <a:solidFill>
                  <a:schemeClr val="dk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(C3)</a:t>
            </a:r>
            <a:endParaRPr/>
          </a:p>
        </p:txBody>
      </p:sp>
      <p:cxnSp>
        <p:nvCxnSpPr>
          <p:cNvPr id="1139" name="Google Shape;1139;p85"/>
          <p:cNvCxnSpPr>
            <a:stCxn id="1114" idx="1"/>
            <a:endCxn id="1125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6"/>
          <p:cNvSpPr txBox="1"/>
          <p:nvPr/>
        </p:nvSpPr>
        <p:spPr>
          <a:xfrm>
            <a:off x="571500" y="1000125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Optimizing throughput by allowing changes that successfully built all the future to bypass the changes ahead of it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grpSp>
        <p:nvGrpSpPr>
          <p:cNvPr id="1144" name="Google Shape;1144;p86"/>
          <p:cNvGrpSpPr/>
          <p:nvPr/>
        </p:nvGrpSpPr>
        <p:grpSpPr>
          <a:xfrm>
            <a:off x="571500" y="1714500"/>
            <a:ext cx="2476500" cy="1714500"/>
            <a:chOff x="0" y="0"/>
            <a:chExt cx="2476500" cy="1714500"/>
          </a:xfrm>
        </p:grpSpPr>
        <p:sp>
          <p:nvSpPr>
            <p:cNvPr id="1145" name="Google Shape;1145;p86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86"/>
            <p:cNvSpPr txBox="1"/>
            <p:nvPr/>
          </p:nvSpPr>
          <p:spPr>
            <a:xfrm>
              <a:off x="238125" y="284861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96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47" name="Google Shape;1147;p86"/>
            <p:cNvSpPr txBox="1"/>
            <p:nvPr/>
          </p:nvSpPr>
          <p:spPr>
            <a:xfrm>
              <a:off x="238125" y="762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Dynamic Flow</a:t>
              </a:r>
              <a:endParaRPr b="1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148" name="Google Shape;1148;p86"/>
            <p:cNvSpPr txBox="1"/>
            <p:nvPr/>
          </p:nvSpPr>
          <p:spPr>
            <a:xfrm>
              <a:off x="238125" y="109537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Departure from strict FIFO constraints to prevent pipeline stalls.</a:t>
              </a:r>
              <a:endParaRPr sz="1018">
                <a:solidFill>
                  <a:srgbClr val="CCCCCC"/>
                </a:solidFill>
                <a:latin typeface="Uber Move Light"/>
                <a:ea typeface="Uber Move Light"/>
                <a:cs typeface="Uber Move Light"/>
                <a:sym typeface="Uber Move Light"/>
              </a:endParaRPr>
            </a:p>
          </p:txBody>
        </p:sp>
      </p:grpSp>
      <p:grpSp>
        <p:nvGrpSpPr>
          <p:cNvPr id="1149" name="Google Shape;1149;p86"/>
          <p:cNvGrpSpPr/>
          <p:nvPr/>
        </p:nvGrpSpPr>
        <p:grpSpPr>
          <a:xfrm>
            <a:off x="3333750" y="1714500"/>
            <a:ext cx="2476500" cy="1714500"/>
            <a:chOff x="0" y="0"/>
            <a:chExt cx="2476500" cy="1714500"/>
          </a:xfrm>
        </p:grpSpPr>
        <p:sp>
          <p:nvSpPr>
            <p:cNvPr id="1150" name="Google Shape;1150;p86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86"/>
            <p:cNvSpPr txBox="1"/>
            <p:nvPr/>
          </p:nvSpPr>
          <p:spPr>
            <a:xfrm>
              <a:off x="238125" y="284861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low_priority</a:t>
              </a:r>
              <a:endParaRPr sz="296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2" name="Google Shape;1152;p86"/>
            <p:cNvSpPr txBox="1"/>
            <p:nvPr/>
          </p:nvSpPr>
          <p:spPr>
            <a:xfrm>
              <a:off x="238125" y="762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Out-of-Order</a:t>
              </a:r>
              <a:endParaRPr b="1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153" name="Google Shape;1153;p86"/>
            <p:cNvSpPr txBox="1"/>
            <p:nvPr/>
          </p:nvSpPr>
          <p:spPr>
            <a:xfrm>
              <a:off x="238125" y="109537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Small, fast changes leapfrog larger, time-intensive changes.</a:t>
              </a:r>
              <a:endParaRPr sz="1018">
                <a:solidFill>
                  <a:srgbClr val="CCCCCC"/>
                </a:solidFill>
                <a:latin typeface="Uber Move Light"/>
                <a:ea typeface="Uber Move Light"/>
                <a:cs typeface="Uber Move Light"/>
                <a:sym typeface="Uber Move Light"/>
              </a:endParaRPr>
            </a:p>
          </p:txBody>
        </p:sp>
      </p:grpSp>
      <p:grpSp>
        <p:nvGrpSpPr>
          <p:cNvPr id="1154" name="Google Shape;1154;p86"/>
          <p:cNvGrpSpPr/>
          <p:nvPr/>
        </p:nvGrpSpPr>
        <p:grpSpPr>
          <a:xfrm>
            <a:off x="6096000" y="1714500"/>
            <a:ext cx="2476500" cy="1714500"/>
            <a:chOff x="0" y="0"/>
            <a:chExt cx="2476500" cy="1714500"/>
          </a:xfrm>
        </p:grpSpPr>
        <p:sp>
          <p:nvSpPr>
            <p:cNvPr id="1155" name="Google Shape;1155;p86"/>
            <p:cNvSpPr/>
            <p:nvPr/>
          </p:nvSpPr>
          <p:spPr>
            <a:xfrm>
              <a:off x="0" y="0"/>
              <a:ext cx="2476500" cy="1714500"/>
            </a:xfrm>
            <a:prstGeom prst="roundRect">
              <a:avLst>
                <a:gd fmla="val 6666" name="adj"/>
              </a:avLst>
            </a:prstGeom>
            <a:solidFill>
              <a:srgbClr val="1A1A1A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86"/>
            <p:cNvSpPr txBox="1"/>
            <p:nvPr/>
          </p:nvSpPr>
          <p:spPr>
            <a:xfrm>
              <a:off x="238125" y="284861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96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57" name="Google Shape;1157;p86"/>
            <p:cNvSpPr txBox="1"/>
            <p:nvPr/>
          </p:nvSpPr>
          <p:spPr>
            <a:xfrm>
              <a:off x="238125" y="762000"/>
              <a:ext cx="2000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Safe Acceleration</a:t>
              </a:r>
              <a:endParaRPr b="1" sz="16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158" name="Google Shape;1158;p86"/>
            <p:cNvSpPr txBox="1"/>
            <p:nvPr/>
          </p:nvSpPr>
          <p:spPr>
            <a:xfrm>
              <a:off x="238125" y="1095375"/>
              <a:ext cx="2000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CCCCCC"/>
                  </a:solidFill>
                  <a:latin typeface="Uber Move Light"/>
                  <a:ea typeface="Uber Move Light"/>
                  <a:cs typeface="Uber Move Light"/>
                  <a:sym typeface="Uber Move Light"/>
                </a:rPr>
                <a:t>Maximizes throughput without compromising safety protocols.</a:t>
              </a:r>
              <a:endParaRPr sz="1018">
                <a:solidFill>
                  <a:srgbClr val="CCCCCC"/>
                </a:solidFill>
                <a:latin typeface="Uber Move Light"/>
                <a:ea typeface="Uber Move Light"/>
                <a:cs typeface="Uber Move Light"/>
                <a:sym typeface="Uber Move Light"/>
              </a:endParaRPr>
            </a:p>
          </p:txBody>
        </p:sp>
      </p:grpSp>
      <p:pic>
        <p:nvPicPr>
          <p:cNvPr id="1159" name="Google Shape;115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62500"/>
            <a:ext cx="4002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6"/>
          <p:cNvSpPr/>
          <p:nvPr/>
        </p:nvSpPr>
        <p:spPr>
          <a:xfrm>
            <a:off x="2509950" y="3857475"/>
            <a:ext cx="4124100" cy="450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Uber Move"/>
                <a:ea typeface="Uber Move"/>
                <a:cs typeface="Uber Move"/>
                <a:sym typeface="Uber Move"/>
              </a:rPr>
              <a:t>Let's look at an example to understand?</a:t>
            </a:r>
            <a:endParaRPr b="1" sz="1500"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161" name="Google Shape;1161;p86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Optimization-4: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Out of Order Merges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62" name="Google Shape;116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7"/>
          <p:cNvSpPr/>
          <p:nvPr/>
        </p:nvSpPr>
        <p:spPr>
          <a:xfrm>
            <a:off x="2374125" y="2163625"/>
            <a:ext cx="4072200" cy="111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168" name="Google Shape;1168;p87"/>
          <p:cNvSpPr txBox="1"/>
          <p:nvPr/>
        </p:nvSpPr>
        <p:spPr>
          <a:xfrm>
            <a:off x="551850" y="116775"/>
            <a:ext cx="76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Optimization-4: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Out of Order Merges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69" name="Google Shape;116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87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1" name="Google Shape;1171;p87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2" name="Google Shape;1172;p87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73" name="Google Shape;1173;p87"/>
          <p:cNvCxnSpPr>
            <a:stCxn id="1170" idx="3"/>
            <a:endCxn id="1171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87"/>
          <p:cNvCxnSpPr>
            <a:stCxn id="1170" idx="5"/>
            <a:endCxn id="1172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87"/>
          <p:cNvCxnSpPr>
            <a:stCxn id="1176" idx="0"/>
            <a:endCxn id="1177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78" name="Google Shape;1178;p87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9" name="Google Shape;1179;p87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80" name="Google Shape;1180;p87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81" name="Google Shape;1181;p87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82" name="Google Shape;1182;p87"/>
          <p:cNvCxnSpPr>
            <a:stCxn id="1171" idx="3"/>
            <a:endCxn id="1178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3" name="Google Shape;1183;p87"/>
          <p:cNvCxnSpPr>
            <a:stCxn id="1171" idx="5"/>
            <a:endCxn id="1179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4" name="Google Shape;1184;p87"/>
          <p:cNvCxnSpPr>
            <a:stCxn id="1172" idx="3"/>
            <a:endCxn id="1180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5" name="Google Shape;1185;p87"/>
          <p:cNvCxnSpPr>
            <a:stCxn id="1172" idx="5"/>
            <a:endCxn id="1181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6" name="Google Shape;1186;p87"/>
          <p:cNvCxnSpPr>
            <a:stCxn id="1177" idx="0"/>
            <a:endCxn id="1187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76" name="Google Shape;1176;p87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77" name="Google Shape;1177;p87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87" name="Google Shape;1187;p87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188" name="Google Shape;1188;p87"/>
          <p:cNvCxnSpPr>
            <a:stCxn id="1176" idx="1"/>
            <a:endCxn id="1187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89" name="Google Shape;1189;p87"/>
          <p:cNvSpPr/>
          <p:nvPr/>
        </p:nvSpPr>
        <p:spPr>
          <a:xfrm>
            <a:off x="5900750" y="1082100"/>
            <a:ext cx="2725800" cy="855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Uber Move"/>
                <a:ea typeface="Uber Move"/>
                <a:cs typeface="Uber Move"/>
                <a:sym typeface="Uber Move"/>
              </a:rPr>
              <a:t>Q: 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Can C2 merge before C1?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88"/>
          <p:cNvSpPr/>
          <p:nvPr/>
        </p:nvSpPr>
        <p:spPr>
          <a:xfrm>
            <a:off x="2374125" y="2161241"/>
            <a:ext cx="4066500" cy="111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195" name="Google Shape;1195;p88"/>
          <p:cNvSpPr txBox="1"/>
          <p:nvPr/>
        </p:nvSpPr>
        <p:spPr>
          <a:xfrm>
            <a:off x="551850" y="116775"/>
            <a:ext cx="76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Optimization-4: </a:t>
            </a: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Out of Order Merges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196" name="Google Shape;119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88"/>
          <p:cNvSpPr/>
          <p:nvPr/>
        </p:nvSpPr>
        <p:spPr>
          <a:xfrm>
            <a:off x="4047200" y="1082100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98" name="Google Shape;1198;p88"/>
          <p:cNvSpPr/>
          <p:nvPr/>
        </p:nvSpPr>
        <p:spPr>
          <a:xfrm>
            <a:off x="2618550" y="2327475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199" name="Google Shape;1199;p88"/>
          <p:cNvSpPr/>
          <p:nvPr/>
        </p:nvSpPr>
        <p:spPr>
          <a:xfrm>
            <a:off x="5452125" y="2327475"/>
            <a:ext cx="719700" cy="6465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00" name="Google Shape;1200;p88"/>
          <p:cNvCxnSpPr>
            <a:stCxn id="1197" idx="3"/>
            <a:endCxn id="1198" idx="7"/>
          </p:cNvCxnSpPr>
          <p:nvPr/>
        </p:nvCxnSpPr>
        <p:spPr>
          <a:xfrm flipH="1">
            <a:off x="3232798" y="1633922"/>
            <a:ext cx="919800" cy="78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88"/>
          <p:cNvCxnSpPr>
            <a:stCxn id="1197" idx="5"/>
            <a:endCxn id="1199" idx="1"/>
          </p:cNvCxnSpPr>
          <p:nvPr/>
        </p:nvCxnSpPr>
        <p:spPr>
          <a:xfrm>
            <a:off x="4661502" y="1633922"/>
            <a:ext cx="896100" cy="788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88"/>
          <p:cNvCxnSpPr>
            <a:stCxn id="1203" idx="0"/>
            <a:endCxn id="1204" idx="2"/>
          </p:cNvCxnSpPr>
          <p:nvPr/>
        </p:nvCxnSpPr>
        <p:spPr>
          <a:xfrm>
            <a:off x="122210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5" name="Google Shape;1205;p88"/>
          <p:cNvSpPr/>
          <p:nvPr/>
        </p:nvSpPr>
        <p:spPr>
          <a:xfrm>
            <a:off x="1506025" y="3697773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6" name="Google Shape;1206;p88"/>
          <p:cNvSpPr/>
          <p:nvPr/>
        </p:nvSpPr>
        <p:spPr>
          <a:xfrm>
            <a:off x="364852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7" name="Google Shape;1207;p88"/>
          <p:cNvSpPr/>
          <p:nvPr/>
        </p:nvSpPr>
        <p:spPr>
          <a:xfrm>
            <a:off x="4517375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8" name="Google Shape;1208;p88"/>
          <p:cNvSpPr/>
          <p:nvPr/>
        </p:nvSpPr>
        <p:spPr>
          <a:xfrm>
            <a:off x="6650750" y="3734448"/>
            <a:ext cx="719700" cy="6465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1,2,3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09" name="Google Shape;1209;p88"/>
          <p:cNvCxnSpPr>
            <a:stCxn id="1198" idx="3"/>
            <a:endCxn id="1205" idx="0"/>
          </p:cNvCxnSpPr>
          <p:nvPr/>
        </p:nvCxnSpPr>
        <p:spPr>
          <a:xfrm flipH="1">
            <a:off x="1865948" y="2879297"/>
            <a:ext cx="858000" cy="81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88"/>
          <p:cNvCxnSpPr>
            <a:stCxn id="1198" idx="5"/>
            <a:endCxn id="1206" idx="0"/>
          </p:cNvCxnSpPr>
          <p:nvPr/>
        </p:nvCxnSpPr>
        <p:spPr>
          <a:xfrm>
            <a:off x="3232852" y="2879297"/>
            <a:ext cx="7755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88"/>
          <p:cNvCxnSpPr>
            <a:stCxn id="1199" idx="3"/>
            <a:endCxn id="1207" idx="0"/>
          </p:cNvCxnSpPr>
          <p:nvPr/>
        </p:nvCxnSpPr>
        <p:spPr>
          <a:xfrm flipH="1">
            <a:off x="4877123" y="2879297"/>
            <a:ext cx="680400" cy="85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88"/>
          <p:cNvCxnSpPr>
            <a:stCxn id="1199" idx="5"/>
            <a:endCxn id="1208" idx="0"/>
          </p:cNvCxnSpPr>
          <p:nvPr/>
        </p:nvCxnSpPr>
        <p:spPr>
          <a:xfrm>
            <a:off x="6066427" y="2879297"/>
            <a:ext cx="944100" cy="855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3" name="Google Shape;1213;p88"/>
          <p:cNvCxnSpPr>
            <a:stCxn id="1204" idx="0"/>
            <a:endCxn id="1214" idx="2"/>
          </p:cNvCxnSpPr>
          <p:nvPr/>
        </p:nvCxnSpPr>
        <p:spPr>
          <a:xfrm>
            <a:off x="2183750" y="1438350"/>
            <a:ext cx="31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03" name="Google Shape;1203;p88"/>
          <p:cNvSpPr/>
          <p:nvPr/>
        </p:nvSpPr>
        <p:spPr>
          <a:xfrm>
            <a:off x="5756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C1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T1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04" name="Google Shape;1204;p88"/>
          <p:cNvSpPr/>
          <p:nvPr/>
        </p:nvSpPr>
        <p:spPr>
          <a:xfrm>
            <a:off x="153725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C2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T2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sp>
        <p:nvSpPr>
          <p:cNvPr id="1214" name="Google Shape;1214;p88"/>
          <p:cNvSpPr/>
          <p:nvPr/>
        </p:nvSpPr>
        <p:spPr>
          <a:xfrm>
            <a:off x="2498900" y="1115100"/>
            <a:ext cx="646500" cy="646500"/>
          </a:xfrm>
          <a:prstGeom prst="snip1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Uber Move Light"/>
                <a:ea typeface="Uber Move Light"/>
                <a:cs typeface="Uber Move Light"/>
                <a:sym typeface="Uber Move Light"/>
              </a:rPr>
              <a:t>C3</a:t>
            </a:r>
            <a:r>
              <a:rPr baseline="-25000" lang="en" sz="1500">
                <a:latin typeface="Uber Move Light"/>
                <a:ea typeface="Uber Move Light"/>
                <a:cs typeface="Uber Move Light"/>
                <a:sym typeface="Uber Move Light"/>
              </a:rPr>
              <a:t>T3</a:t>
            </a:r>
            <a:endParaRPr baseline="-25000" sz="1500"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  <p:cxnSp>
        <p:nvCxnSpPr>
          <p:cNvPr id="1215" name="Google Shape;1215;p88"/>
          <p:cNvCxnSpPr>
            <a:stCxn id="1203" idx="1"/>
            <a:endCxn id="1214" idx="1"/>
          </p:cNvCxnSpPr>
          <p:nvPr/>
        </p:nvCxnSpPr>
        <p:spPr>
          <a:xfrm flipH="1" rot="-5400000">
            <a:off x="1860200" y="800250"/>
            <a:ext cx="600" cy="1923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16" name="Google Shape;1216;p88"/>
          <p:cNvSpPr/>
          <p:nvPr/>
        </p:nvSpPr>
        <p:spPr>
          <a:xfrm>
            <a:off x="5900750" y="1082100"/>
            <a:ext cx="2725800" cy="855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2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and B</a:t>
            </a:r>
            <a:r>
              <a:rPr baseline="-25000"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1,2</a:t>
            </a:r>
            <a:r>
              <a:rPr lang="en" sz="1500">
                <a:solidFill>
                  <a:schemeClr val="lt1"/>
                </a:solidFill>
                <a:latin typeface="Uber Move Light"/>
                <a:ea typeface="Uber Move Light"/>
                <a:cs typeface="Uber Move Light"/>
                <a:sym typeface="Uber Move Light"/>
              </a:rPr>
              <a:t> both must pass for C1 to be bypassed by C2</a:t>
            </a:r>
            <a:endParaRPr sz="1500">
              <a:solidFill>
                <a:schemeClr val="lt1"/>
              </a:solidFill>
              <a:latin typeface="Uber Move Light"/>
              <a:ea typeface="Uber Move Light"/>
              <a:cs typeface="Uber Move Light"/>
              <a:sym typeface="Uber Move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9"/>
          <p:cNvSpPr txBox="1"/>
          <p:nvPr/>
        </p:nvSpPr>
        <p:spPr>
          <a:xfrm>
            <a:off x="809350" y="200422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Architecture, Limitations &amp; Future Plan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222" name="Google Shape;1222;p89"/>
          <p:cNvSpPr txBox="1"/>
          <p:nvPr/>
        </p:nvSpPr>
        <p:spPr>
          <a:xfrm>
            <a:off x="2057950" y="2716575"/>
            <a:ext cx="515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Design, </a:t>
            </a:r>
            <a:r>
              <a:rPr lang="en" sz="15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scale, and what lies ahead</a:t>
            </a:r>
            <a:endParaRPr sz="15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223" name="Google Shape;122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90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SubmitQueue Architecture</a:t>
            </a:r>
            <a:endParaRPr b="1" sz="32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228" name="Google Shape;122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459" y="1106950"/>
            <a:ext cx="76866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0934" y="1097425"/>
            <a:ext cx="7686600" cy="23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90"/>
          <p:cNvSpPr/>
          <p:nvPr/>
        </p:nvSpPr>
        <p:spPr>
          <a:xfrm>
            <a:off x="265134" y="1599257"/>
            <a:ext cx="1002000" cy="9843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Gateway</a:t>
            </a:r>
            <a:endParaRPr b="1" sz="14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0A5FA"/>
                </a:solidFill>
                <a:latin typeface="Barlow Medium"/>
                <a:ea typeface="Barlow Medium"/>
                <a:cs typeface="Barlow Medium"/>
                <a:sym typeface="Barlow Medium"/>
              </a:rPr>
              <a:t>(Entry)</a:t>
            </a:r>
            <a:endParaRPr b="1" sz="10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32" name="Google Shape;1232;p90"/>
          <p:cNvSpPr/>
          <p:nvPr/>
        </p:nvSpPr>
        <p:spPr>
          <a:xfrm>
            <a:off x="1593826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Start</a:t>
            </a:r>
            <a:endParaRPr b="0" sz="1100">
              <a:solidFill>
                <a:srgbClr val="FFFFF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233" name="Google Shape;1233;p90"/>
          <p:cNvCxnSpPr>
            <a:stCxn id="1231" idx="3"/>
            <a:endCxn id="1232" idx="1"/>
          </p:cNvCxnSpPr>
          <p:nvPr/>
        </p:nvCxnSpPr>
        <p:spPr>
          <a:xfrm>
            <a:off x="1267134" y="2091407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34" name="Google Shape;1234;p90"/>
          <p:cNvSpPr/>
          <p:nvPr/>
        </p:nvSpPr>
        <p:spPr>
          <a:xfrm>
            <a:off x="2840925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8FAFC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Validate</a:t>
            </a:r>
            <a:endParaRPr b="0" sz="1100">
              <a:solidFill>
                <a:srgbClr val="F8FAFC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235" name="Google Shape;1235;p90"/>
          <p:cNvCxnSpPr>
            <a:stCxn id="1232" idx="3"/>
            <a:endCxn id="1234" idx="1"/>
          </p:cNvCxnSpPr>
          <p:nvPr/>
        </p:nvCxnSpPr>
        <p:spPr>
          <a:xfrm>
            <a:off x="2595826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90"/>
          <p:cNvCxnSpPr>
            <a:stCxn id="1234" idx="3"/>
            <a:endCxn id="1237" idx="1"/>
          </p:cNvCxnSpPr>
          <p:nvPr/>
        </p:nvCxnSpPr>
        <p:spPr>
          <a:xfrm>
            <a:off x="3842925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37" name="Google Shape;1237;p90"/>
          <p:cNvSpPr/>
          <p:nvPr/>
        </p:nvSpPr>
        <p:spPr>
          <a:xfrm>
            <a:off x="4088023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F8FAFC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Batch</a:t>
            </a:r>
            <a:endParaRPr b="0" sz="1110">
              <a:solidFill>
                <a:srgbClr val="F8FAFC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238" name="Google Shape;1238;p90"/>
          <p:cNvSpPr/>
          <p:nvPr/>
        </p:nvSpPr>
        <p:spPr>
          <a:xfrm>
            <a:off x="6582230" y="1829962"/>
            <a:ext cx="1002000" cy="522900"/>
          </a:xfrm>
          <a:prstGeom prst="rect">
            <a:avLst/>
          </a:prstGeom>
          <a:solidFill>
            <a:srgbClr val="2E1065">
              <a:alpha val="60000"/>
            </a:srgbClr>
          </a:solidFill>
          <a:ln cap="flat" cmpd="sng" w="143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DD6FE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Speculate</a:t>
            </a:r>
            <a:endParaRPr b="0" sz="1100">
              <a:solidFill>
                <a:srgbClr val="DDD6FE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239" name="Google Shape;1239;p90"/>
          <p:cNvSpPr/>
          <p:nvPr/>
        </p:nvSpPr>
        <p:spPr>
          <a:xfrm>
            <a:off x="7829339" y="1829962"/>
            <a:ext cx="1002000" cy="522900"/>
          </a:xfrm>
          <a:prstGeom prst="rect">
            <a:avLst/>
          </a:prstGeom>
          <a:solidFill>
            <a:srgbClr val="064E3B">
              <a:alpha val="60000"/>
            </a:srgbClr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4D399"/>
                </a:solidFill>
                <a:latin typeface="Barlow"/>
                <a:ea typeface="Barlow"/>
                <a:cs typeface="Barlow"/>
                <a:sym typeface="Barlow"/>
              </a:rPr>
              <a:t>Land</a:t>
            </a:r>
            <a:endParaRPr b="1" sz="1100">
              <a:solidFill>
                <a:srgbClr val="34D39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40" name="Google Shape;1240;p90"/>
          <p:cNvCxnSpPr>
            <a:stCxn id="1238" idx="3"/>
            <a:endCxn id="1239" idx="1"/>
          </p:cNvCxnSpPr>
          <p:nvPr/>
        </p:nvCxnSpPr>
        <p:spPr>
          <a:xfrm>
            <a:off x="7584230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41" name="Google Shape;1241;p90"/>
          <p:cNvSpPr/>
          <p:nvPr/>
        </p:nvSpPr>
        <p:spPr>
          <a:xfrm>
            <a:off x="7829339" y="3815658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Runway</a:t>
            </a:r>
            <a:endParaRPr b="1" sz="12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(Merge System)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42" name="Google Shape;1242;p90"/>
          <p:cNvSpPr/>
          <p:nvPr/>
        </p:nvSpPr>
        <p:spPr>
          <a:xfrm>
            <a:off x="6582230" y="3816953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Buildkite</a:t>
            </a:r>
            <a:endParaRPr b="1" sz="13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(Build System)</a:t>
            </a:r>
            <a:endParaRPr b="1" sz="9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43" name="Google Shape;1243;p90"/>
          <p:cNvSpPr/>
          <p:nvPr/>
        </p:nvSpPr>
        <p:spPr>
          <a:xfrm>
            <a:off x="6582230" y="2692737"/>
            <a:ext cx="1002000" cy="522900"/>
          </a:xfrm>
          <a:prstGeom prst="rect">
            <a:avLst/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CBD5E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Build</a:t>
            </a:r>
            <a:endParaRPr b="0" sz="1100">
              <a:solidFill>
                <a:srgbClr val="CBD5E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244" name="Google Shape;1244;p90"/>
          <p:cNvCxnSpPr>
            <a:stCxn id="1238" idx="2"/>
            <a:endCxn id="1243" idx="0"/>
          </p:cNvCxnSpPr>
          <p:nvPr/>
        </p:nvCxnSpPr>
        <p:spPr>
          <a:xfrm>
            <a:off x="7083230" y="2352862"/>
            <a:ext cx="0" cy="33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90"/>
          <p:cNvCxnSpPr>
            <a:stCxn id="1243" idx="2"/>
            <a:endCxn id="1242" idx="0"/>
          </p:cNvCxnSpPr>
          <p:nvPr/>
        </p:nvCxnSpPr>
        <p:spPr>
          <a:xfrm>
            <a:off x="7083230" y="3215637"/>
            <a:ext cx="0" cy="6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6" name="Google Shape;1246;p90"/>
          <p:cNvSpPr/>
          <p:nvPr/>
        </p:nvSpPr>
        <p:spPr>
          <a:xfrm>
            <a:off x="5350581" y="2692737"/>
            <a:ext cx="1002000" cy="522900"/>
          </a:xfrm>
          <a:prstGeom prst="rect">
            <a:avLst/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Build Signal</a:t>
            </a:r>
            <a:endParaRPr b="0" sz="1100">
              <a:solidFill>
                <a:srgbClr val="94A3B8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247" name="Google Shape;1247;p90"/>
          <p:cNvCxnSpPr>
            <a:stCxn id="1242" idx="1"/>
            <a:endCxn id="1246" idx="2"/>
          </p:cNvCxnSpPr>
          <p:nvPr/>
        </p:nvCxnSpPr>
        <p:spPr>
          <a:xfrm rot="10800000">
            <a:off x="5851730" y="3215603"/>
            <a:ext cx="730500" cy="924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90"/>
          <p:cNvCxnSpPr>
            <a:stCxn id="1246" idx="0"/>
          </p:cNvCxnSpPr>
          <p:nvPr/>
        </p:nvCxnSpPr>
        <p:spPr>
          <a:xfrm flipH="1" rot="10800000">
            <a:off x="5851581" y="2363637"/>
            <a:ext cx="73080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49" name="Google Shape;1249;p90"/>
          <p:cNvSpPr/>
          <p:nvPr/>
        </p:nvSpPr>
        <p:spPr>
          <a:xfrm>
            <a:off x="5335122" y="1829962"/>
            <a:ext cx="1002000" cy="5229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8FAFC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Dependency Analysis</a:t>
            </a:r>
            <a:endParaRPr b="0" sz="1100">
              <a:solidFill>
                <a:srgbClr val="F8FAFC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250" name="Google Shape;1250;p90"/>
          <p:cNvSpPr/>
          <p:nvPr/>
        </p:nvSpPr>
        <p:spPr>
          <a:xfrm>
            <a:off x="7829339" y="2695556"/>
            <a:ext cx="1002000" cy="522900"/>
          </a:xfrm>
          <a:prstGeom prst="rect">
            <a:avLst/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Land Signal</a:t>
            </a:r>
            <a:endParaRPr b="0" sz="1100">
              <a:solidFill>
                <a:srgbClr val="94A3B8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cxnSp>
        <p:nvCxnSpPr>
          <p:cNvPr id="1251" name="Google Shape;1251;p90"/>
          <p:cNvCxnSpPr>
            <a:stCxn id="1250" idx="0"/>
          </p:cNvCxnSpPr>
          <p:nvPr/>
        </p:nvCxnSpPr>
        <p:spPr>
          <a:xfrm rot="10800000">
            <a:off x="7571339" y="2358656"/>
            <a:ext cx="759000" cy="33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90"/>
          <p:cNvCxnSpPr>
            <a:stCxn id="1241" idx="0"/>
            <a:endCxn id="1250" idx="2"/>
          </p:cNvCxnSpPr>
          <p:nvPr/>
        </p:nvCxnSpPr>
        <p:spPr>
          <a:xfrm rot="10800000">
            <a:off x="8330339" y="3218358"/>
            <a:ext cx="0" cy="5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53" name="Google Shape;1253;p90"/>
          <p:cNvSpPr/>
          <p:nvPr/>
        </p:nvSpPr>
        <p:spPr>
          <a:xfrm>
            <a:off x="2840934" y="3816953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Git/VCS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(Change System)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54" name="Google Shape;1254;p90"/>
          <p:cNvCxnSpPr>
            <a:stCxn id="1234" idx="2"/>
            <a:endCxn id="1253" idx="0"/>
          </p:cNvCxnSpPr>
          <p:nvPr/>
        </p:nvCxnSpPr>
        <p:spPr>
          <a:xfrm>
            <a:off x="3341925" y="2352862"/>
            <a:ext cx="0" cy="146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5" name="Google Shape;1255;p90"/>
          <p:cNvSpPr/>
          <p:nvPr/>
        </p:nvSpPr>
        <p:spPr>
          <a:xfrm>
            <a:off x="336672" y="2931204"/>
            <a:ext cx="858927" cy="572618"/>
          </a:xfrm>
          <a:prstGeom prst="flowChartMagneticDisk">
            <a:avLst/>
          </a:prstGeom>
          <a:solidFill>
            <a:srgbClr val="0F172A"/>
          </a:solidFill>
          <a:ln cap="flat" cmpd="sng" w="143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latin typeface="Barlow"/>
                <a:ea typeface="Barlow"/>
                <a:cs typeface="Barlow"/>
                <a:sym typeface="Barlow"/>
              </a:rPr>
              <a:t>DB</a:t>
            </a:r>
            <a:endParaRPr b="1" i="0" sz="1200" u="none" strike="noStrike">
              <a:solidFill>
                <a:srgbClr val="38BDF8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56" name="Google Shape;1256;p90"/>
          <p:cNvCxnSpPr>
            <a:stCxn id="1231" idx="2"/>
            <a:endCxn id="1255" idx="1"/>
          </p:cNvCxnSpPr>
          <p:nvPr/>
        </p:nvCxnSpPr>
        <p:spPr>
          <a:xfrm>
            <a:off x="766134" y="2583557"/>
            <a:ext cx="0" cy="3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7" name="Google Shape;1257;p90"/>
          <p:cNvSpPr/>
          <p:nvPr/>
        </p:nvSpPr>
        <p:spPr>
          <a:xfrm>
            <a:off x="1643918" y="3861444"/>
            <a:ext cx="858927" cy="572618"/>
          </a:xfrm>
          <a:prstGeom prst="flowChartMagneticDisk">
            <a:avLst/>
          </a:prstGeom>
          <a:solidFill>
            <a:srgbClr val="0F172A"/>
          </a:solidFill>
          <a:ln cap="flat" cmpd="sng" w="143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BDF8"/>
                </a:solidFill>
                <a:latin typeface="Barlow"/>
                <a:ea typeface="Barlow"/>
                <a:cs typeface="Barlow"/>
                <a:sym typeface="Barlow"/>
              </a:rPr>
              <a:t>DB</a:t>
            </a:r>
            <a:endParaRPr b="1" i="0" sz="1200" u="none" strike="noStrike">
              <a:solidFill>
                <a:srgbClr val="38BDF8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58" name="Google Shape;1258;p90"/>
          <p:cNvCxnSpPr>
            <a:endCxn id="1257" idx="1"/>
          </p:cNvCxnSpPr>
          <p:nvPr/>
        </p:nvCxnSpPr>
        <p:spPr>
          <a:xfrm flipH="1">
            <a:off x="2073382" y="3441144"/>
            <a:ext cx="4500" cy="4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90"/>
          <p:cNvSpPr txBox="1"/>
          <p:nvPr/>
        </p:nvSpPr>
        <p:spPr>
          <a:xfrm>
            <a:off x="1431834" y="1183757"/>
            <a:ext cx="24111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Orchestrator</a:t>
            </a:r>
            <a:r>
              <a:rPr b="0" lang="en" sz="1500">
                <a:solidFill>
                  <a:srgbClr val="60A5FA"/>
                </a:solidFill>
                <a:latin typeface="Barlow Medium"/>
                <a:ea typeface="Barlow Medium"/>
                <a:cs typeface="Barlow Medium"/>
                <a:sym typeface="Barlow Medium"/>
              </a:rPr>
              <a:t> (Engine)</a:t>
            </a:r>
            <a:endParaRPr b="1" sz="15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60" name="Google Shape;1260;p90"/>
          <p:cNvCxnSpPr>
            <a:stCxn id="1237" idx="3"/>
            <a:endCxn id="1249" idx="1"/>
          </p:cNvCxnSpPr>
          <p:nvPr/>
        </p:nvCxnSpPr>
        <p:spPr>
          <a:xfrm>
            <a:off x="5090023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90"/>
          <p:cNvCxnSpPr>
            <a:stCxn id="1249" idx="3"/>
            <a:endCxn id="1238" idx="1"/>
          </p:cNvCxnSpPr>
          <p:nvPr/>
        </p:nvCxnSpPr>
        <p:spPr>
          <a:xfrm>
            <a:off x="6337122" y="2091412"/>
            <a:ext cx="24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90"/>
          <p:cNvCxnSpPr>
            <a:stCxn id="1239" idx="3"/>
            <a:endCxn id="1241" idx="3"/>
          </p:cNvCxnSpPr>
          <p:nvPr/>
        </p:nvCxnSpPr>
        <p:spPr>
          <a:xfrm>
            <a:off x="8831339" y="2091412"/>
            <a:ext cx="600" cy="2047500"/>
          </a:xfrm>
          <a:prstGeom prst="bentConnector3">
            <a:avLst>
              <a:gd fmla="val 22940963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3" name="Google Shape;1263;p90"/>
          <p:cNvCxnSpPr>
            <a:stCxn id="1241" idx="2"/>
            <a:endCxn id="1253" idx="2"/>
          </p:cNvCxnSpPr>
          <p:nvPr/>
        </p:nvCxnSpPr>
        <p:spPr>
          <a:xfrm rot="5400000">
            <a:off x="5835539" y="1968558"/>
            <a:ext cx="1200" cy="4988400"/>
          </a:xfrm>
          <a:prstGeom prst="bentConnector3">
            <a:avLst>
              <a:gd fmla="val 199517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4" name="Google Shape;1264;p90"/>
          <p:cNvSpPr txBox="1"/>
          <p:nvPr/>
        </p:nvSpPr>
        <p:spPr>
          <a:xfrm>
            <a:off x="3811584" y="4663075"/>
            <a:ext cx="75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git push</a:t>
            </a:r>
            <a:endParaRPr sz="1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265" name="Google Shape;1265;p90"/>
          <p:cNvSpPr/>
          <p:nvPr/>
        </p:nvSpPr>
        <p:spPr>
          <a:xfrm>
            <a:off x="4181034" y="3824516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Tango</a:t>
            </a:r>
            <a:endParaRPr b="1" sz="12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(</a:t>
            </a:r>
            <a:r>
              <a:rPr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Target Analysis</a:t>
            </a:r>
            <a:r>
              <a:rPr b="0" lang="en" sz="850">
                <a:solidFill>
                  <a:srgbClr val="94A3B8"/>
                </a:solidFill>
                <a:latin typeface="Barlow Medium"/>
                <a:ea typeface="Barlow Medium"/>
                <a:cs typeface="Barlow Medium"/>
                <a:sym typeface="Barlow Medium"/>
              </a:rPr>
              <a:t>)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66" name="Google Shape;1266;p90"/>
          <p:cNvCxnSpPr>
            <a:endCxn id="1265" idx="0"/>
          </p:cNvCxnSpPr>
          <p:nvPr/>
        </p:nvCxnSpPr>
        <p:spPr>
          <a:xfrm flipH="1">
            <a:off x="4682034" y="2333216"/>
            <a:ext cx="663000" cy="14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7" name="Google Shape;1267;p90"/>
          <p:cNvSpPr/>
          <p:nvPr/>
        </p:nvSpPr>
        <p:spPr>
          <a:xfrm>
            <a:off x="265134" y="3736278"/>
            <a:ext cx="1002000" cy="646500"/>
          </a:xfrm>
          <a:prstGeom prst="rect">
            <a:avLst/>
          </a:prstGeom>
          <a:solidFill>
            <a:srgbClr val="1E293B"/>
          </a:solidFill>
          <a:ln cap="flat" cmpd="sng" w="143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Message</a:t>
            </a:r>
            <a:b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b="1" lang="en" sz="1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Queue System</a:t>
            </a:r>
            <a:endParaRPr b="1" sz="85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268" name="Google Shape;1268;p90"/>
          <p:cNvCxnSpPr/>
          <p:nvPr/>
        </p:nvCxnSpPr>
        <p:spPr>
          <a:xfrm flipH="1">
            <a:off x="1269934" y="3391500"/>
            <a:ext cx="13650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9" name="Google Shape;1269;p90"/>
          <p:cNvCxnSpPr>
            <a:stCxn id="1231" idx="1"/>
            <a:endCxn id="1267" idx="1"/>
          </p:cNvCxnSpPr>
          <p:nvPr/>
        </p:nvCxnSpPr>
        <p:spPr>
          <a:xfrm>
            <a:off x="265134" y="2091407"/>
            <a:ext cx="600" cy="1968000"/>
          </a:xfrm>
          <a:prstGeom prst="bentConnector3">
            <a:avLst>
              <a:gd fmla="val -28116628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91"/>
          <p:cNvGrpSpPr/>
          <p:nvPr/>
        </p:nvGrpSpPr>
        <p:grpSpPr>
          <a:xfrm>
            <a:off x="476250" y="1047750"/>
            <a:ext cx="3952800" cy="1143000"/>
            <a:chOff x="476250" y="1047750"/>
            <a:chExt cx="3952800" cy="1143000"/>
          </a:xfrm>
        </p:grpSpPr>
        <p:sp>
          <p:nvSpPr>
            <p:cNvPr id="1274" name="Google Shape;1274;p91"/>
            <p:cNvSpPr/>
            <p:nvPr/>
          </p:nvSpPr>
          <p:spPr>
            <a:xfrm>
              <a:off x="476250" y="1047750"/>
              <a:ext cx="3952800" cy="1143000"/>
            </a:xfrm>
            <a:prstGeom prst="roundRect">
              <a:avLst>
                <a:gd fmla="val 6666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91"/>
            <p:cNvSpPr txBox="1"/>
            <p:nvPr/>
          </p:nvSpPr>
          <p:spPr>
            <a:xfrm>
              <a:off x="476250" y="1047750"/>
              <a:ext cx="3952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276EF1"/>
                  </a:solidFill>
                  <a:latin typeface="Uber Move"/>
                  <a:ea typeface="Uber Move"/>
                  <a:cs typeface="Uber Move"/>
                  <a:sym typeface="Uber Move"/>
                </a:rPr>
                <a:t>~7K</a:t>
              </a:r>
              <a:endParaRPr b="1" sz="3600">
                <a:solidFill>
                  <a:srgbClr val="276EF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9999"/>
                  </a:solidFill>
                  <a:latin typeface="Uber Move"/>
                  <a:ea typeface="Uber Move"/>
                  <a:cs typeface="Uber Move"/>
                  <a:sym typeface="Uber Move"/>
                </a:rPr>
                <a:t>Daily Commits (Monorepos)</a:t>
              </a:r>
              <a:endParaRPr sz="1200">
                <a:solidFill>
                  <a:srgbClr val="999999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1276" name="Google Shape;1276;p91"/>
          <p:cNvGrpSpPr/>
          <p:nvPr/>
        </p:nvGrpSpPr>
        <p:grpSpPr>
          <a:xfrm>
            <a:off x="4714875" y="1047750"/>
            <a:ext cx="3952800" cy="1143000"/>
            <a:chOff x="4714875" y="1047750"/>
            <a:chExt cx="3952800" cy="1143000"/>
          </a:xfrm>
        </p:grpSpPr>
        <p:sp>
          <p:nvSpPr>
            <p:cNvPr id="1277" name="Google Shape;1277;p91"/>
            <p:cNvSpPr/>
            <p:nvPr/>
          </p:nvSpPr>
          <p:spPr>
            <a:xfrm>
              <a:off x="4714875" y="1047750"/>
              <a:ext cx="3952800" cy="1143000"/>
            </a:xfrm>
            <a:prstGeom prst="roundRect">
              <a:avLst>
                <a:gd fmla="val 6666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91"/>
            <p:cNvSpPr txBox="1"/>
            <p:nvPr/>
          </p:nvSpPr>
          <p:spPr>
            <a:xfrm>
              <a:off x="4714875" y="1047750"/>
              <a:ext cx="3952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276EF1"/>
                  </a:solidFill>
                  <a:latin typeface="Uber Move"/>
                  <a:ea typeface="Uber Move"/>
                  <a:cs typeface="Uber Move"/>
                  <a:sym typeface="Uber Move"/>
                </a:rPr>
                <a:t>~5K+</a:t>
              </a:r>
              <a:endParaRPr b="1" sz="3600">
                <a:solidFill>
                  <a:srgbClr val="276EF1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9999"/>
                  </a:solidFill>
                  <a:latin typeface="Uber Move"/>
                  <a:ea typeface="Uber Move"/>
                  <a:cs typeface="Uber Move"/>
                  <a:sym typeface="Uber Move"/>
                </a:rPr>
                <a:t>Active Daily Contributors</a:t>
              </a:r>
              <a:endParaRPr sz="1200">
                <a:solidFill>
                  <a:srgbClr val="999999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grpSp>
        <p:nvGrpSpPr>
          <p:cNvPr id="1279" name="Google Shape;1279;p91"/>
          <p:cNvGrpSpPr/>
          <p:nvPr/>
        </p:nvGrpSpPr>
        <p:grpSpPr>
          <a:xfrm>
            <a:off x="476250" y="2381250"/>
            <a:ext cx="8191500" cy="2190900"/>
            <a:chOff x="476250" y="2381250"/>
            <a:chExt cx="8191500" cy="2190900"/>
          </a:xfrm>
        </p:grpSpPr>
        <p:sp>
          <p:nvSpPr>
            <p:cNvPr id="1280" name="Google Shape;1280;p91"/>
            <p:cNvSpPr/>
            <p:nvPr/>
          </p:nvSpPr>
          <p:spPr>
            <a:xfrm>
              <a:off x="476250" y="2381250"/>
              <a:ext cx="8191500" cy="2190900"/>
            </a:xfrm>
            <a:prstGeom prst="roundRect">
              <a:avLst>
                <a:gd fmla="val 3478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91"/>
            <p:cNvSpPr txBox="1"/>
            <p:nvPr/>
          </p:nvSpPr>
          <p:spPr>
            <a:xfrm>
              <a:off x="714375" y="25717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Go</a:t>
              </a: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 Monorepo</a:t>
              </a: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: The </a:t>
              </a:r>
              <a:r>
                <a:rPr b="1" lang="en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Biggest</a:t>
              </a:r>
              <a:r>
                <a:rPr b="1" lang="en" sz="1400">
                  <a:solidFill>
                    <a:srgbClr val="FFFFFF"/>
                  </a:solidFill>
                  <a:latin typeface="Uber Move"/>
                  <a:ea typeface="Uber Move"/>
                  <a:cs typeface="Uber Move"/>
                  <a:sym typeface="Uber Move"/>
                </a:rPr>
                <a:t> </a:t>
              </a:r>
              <a:endParaRPr b="1" sz="1400">
                <a:solidFill>
                  <a:srgbClr val="FFFFFF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  <p:sp>
          <p:nvSpPr>
            <p:cNvPr id="1282" name="Google Shape;1282;p91"/>
            <p:cNvSpPr txBox="1"/>
            <p:nvPr/>
          </p:nvSpPr>
          <p:spPr>
            <a:xfrm>
              <a:off x="714375" y="2952750"/>
              <a:ext cx="3619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As Uber's largest monorepo, Go handles the bulk of high-velocity development.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DDDDDD"/>
                </a:buClr>
                <a:buSzPts val="1100"/>
                <a:buFont typeface="Uber Move"/>
                <a:buChar char="●"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3,000+ engineers contributing daily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DDDDD"/>
                </a:buClr>
                <a:buSzPts val="1100"/>
                <a:buFont typeface="Uber Move"/>
                <a:buChar char="●"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~4k commits merged per day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DDDDD"/>
                </a:buClr>
                <a:buSzPts val="1100"/>
                <a:buFont typeface="Uber Move"/>
                <a:buChar char="●"/>
              </a:pPr>
              <a:r>
                <a:rPr lang="en" sz="1100">
                  <a:solidFill>
                    <a:srgbClr val="DDDDDD"/>
                  </a:solidFill>
                  <a:latin typeface="Uber Move"/>
                  <a:ea typeface="Uber Move"/>
                  <a:cs typeface="Uber Move"/>
                  <a:sym typeface="Uber Move"/>
                </a:rPr>
                <a:t>~250 PRs  lands/hr (peak)</a:t>
              </a:r>
              <a:endParaRPr sz="1100">
                <a:solidFill>
                  <a:srgbClr val="DDDDDD"/>
                </a:solidFill>
                <a:latin typeface="Uber Move"/>
                <a:ea typeface="Uber Move"/>
                <a:cs typeface="Uber Move"/>
                <a:sym typeface="Uber Move"/>
              </a:endParaRPr>
            </a:p>
          </p:txBody>
        </p:sp>
      </p:grpSp>
      <p:pic>
        <p:nvPicPr>
          <p:cNvPr id="1283" name="Google Shape;128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62500"/>
            <a:ext cx="428700" cy="2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1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Scale &amp; Performance</a:t>
            </a:r>
            <a:endParaRPr b="1" sz="32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286" name="Google Shape;1286;p91" title="Screenshot 2026-09-15 at 9.39.2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875" y="2825837"/>
            <a:ext cx="3706726" cy="13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" name="Google Shape;1290;p92"/>
          <p:cNvGrpSpPr/>
          <p:nvPr/>
        </p:nvGrpSpPr>
        <p:grpSpPr>
          <a:xfrm>
            <a:off x="571500" y="1428750"/>
            <a:ext cx="3810000" cy="2667000"/>
            <a:chOff x="0" y="0"/>
            <a:chExt cx="3810000" cy="2667000"/>
          </a:xfrm>
        </p:grpSpPr>
        <p:sp>
          <p:nvSpPr>
            <p:cNvPr id="1291" name="Google Shape;1291;p92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285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92"/>
            <p:cNvSpPr txBox="1"/>
            <p:nvPr/>
          </p:nvSpPr>
          <p:spPr>
            <a:xfrm>
              <a:off x="238125" y="273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call_split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3" name="Google Shape;1293;p92"/>
            <p:cNvSpPr txBox="1"/>
            <p:nvPr/>
          </p:nvSpPr>
          <p:spPr>
            <a:xfrm>
              <a:off x="238125" y="714375"/>
              <a:ext cx="3333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Throughput &amp; Merge Efficiency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92"/>
            <p:cNvSpPr txBox="1"/>
            <p:nvPr/>
          </p:nvSpPr>
          <p:spPr>
            <a:xfrm>
              <a:off x="238125" y="1000125"/>
              <a:ext cx="333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 Conflicts &amp; Reduced Throughput</a:t>
              </a:r>
              <a:endParaRPr b="1" sz="13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92"/>
            <p:cNvSpPr txBox="1"/>
            <p:nvPr/>
          </p:nvSpPr>
          <p:spPr>
            <a:xfrm>
              <a:off x="238125" y="1524000"/>
              <a:ext cx="33339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High conflicts can lead to lower throughput </a:t>
              </a:r>
              <a:r>
                <a:rPr lang="en" sz="1200">
                  <a:solidFill>
                    <a:srgbClr val="DDDDDD"/>
                  </a:solidFill>
                </a:rPr>
                <a:t>-</a:t>
              </a:r>
              <a:r>
                <a:rPr b="0" lang="en" sz="12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 large pull requests and frequent overlapping changes significantly slow down queue processing.</a:t>
              </a:r>
              <a:endParaRPr b="0" sz="12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6" name="Google Shape;1296;p92"/>
          <p:cNvGrpSpPr/>
          <p:nvPr/>
        </p:nvGrpSpPr>
        <p:grpSpPr>
          <a:xfrm>
            <a:off x="4762500" y="1428750"/>
            <a:ext cx="3810000" cy="2667000"/>
            <a:chOff x="0" y="0"/>
            <a:chExt cx="3810000" cy="2667000"/>
          </a:xfrm>
        </p:grpSpPr>
        <p:sp>
          <p:nvSpPr>
            <p:cNvPr id="1297" name="Google Shape;1297;p92"/>
            <p:cNvSpPr/>
            <p:nvPr/>
          </p:nvSpPr>
          <p:spPr>
            <a:xfrm>
              <a:off x="0" y="0"/>
              <a:ext cx="3810000" cy="2667000"/>
            </a:xfrm>
            <a:prstGeom prst="roundRect">
              <a:avLst>
                <a:gd fmla="val 285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92"/>
            <p:cNvSpPr txBox="1"/>
            <p:nvPr/>
          </p:nvSpPr>
          <p:spPr>
            <a:xfrm>
              <a:off x="238125" y="273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99" name="Google Shape;1299;p92"/>
            <p:cNvSpPr txBox="1"/>
            <p:nvPr/>
          </p:nvSpPr>
          <p:spPr>
            <a:xfrm>
              <a:off x="238125" y="714375"/>
              <a:ext cx="3333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Incident Response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92"/>
            <p:cNvSpPr txBox="1"/>
            <p:nvPr/>
          </p:nvSpPr>
          <p:spPr>
            <a:xfrm>
              <a:off x="238125" y="1000125"/>
              <a:ext cx="333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 Fast Drain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92"/>
            <p:cNvSpPr txBox="1"/>
            <p:nvPr/>
          </p:nvSpPr>
          <p:spPr>
            <a:xfrm>
              <a:off x="238125" y="1524000"/>
              <a:ext cx="33339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Traffic spikes and incidents cause backlogs with no mechanism for rapid queue clearing.</a:t>
              </a:r>
              <a:endParaRPr b="0" sz="12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02" name="Google Shape;130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" y="4714875"/>
            <a:ext cx="404700" cy="2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92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Limitations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sp>
        <p:nvSpPr>
          <p:cNvPr id="1304" name="Google Shape;1304;p92"/>
          <p:cNvSpPr txBox="1"/>
          <p:nvPr/>
        </p:nvSpPr>
        <p:spPr>
          <a:xfrm>
            <a:off x="571500" y="807209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Where the system still falls short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305" name="Google Shape;130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3"/>
          <p:cNvSpPr txBox="1"/>
          <p:nvPr/>
        </p:nvSpPr>
        <p:spPr>
          <a:xfrm>
            <a:off x="642938" y="207645"/>
            <a:ext cx="7648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Plan</a:t>
            </a:r>
            <a:endParaRPr b="1"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93"/>
          <p:cNvSpPr txBox="1"/>
          <p:nvPr/>
        </p:nvSpPr>
        <p:spPr>
          <a:xfrm>
            <a:off x="571500" y="79819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How we’re addressing these challenges</a:t>
            </a:r>
            <a:endParaRPr b="0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2" name="Google Shape;1312;p93"/>
          <p:cNvGrpSpPr/>
          <p:nvPr/>
        </p:nvGrpSpPr>
        <p:grpSpPr>
          <a:xfrm>
            <a:off x="476250" y="1333500"/>
            <a:ext cx="2533800" cy="2667000"/>
            <a:chOff x="0" y="0"/>
            <a:chExt cx="2533800" cy="2667000"/>
          </a:xfrm>
        </p:grpSpPr>
        <p:sp>
          <p:nvSpPr>
            <p:cNvPr id="1313" name="Google Shape;1313;p93"/>
            <p:cNvSpPr/>
            <p:nvPr/>
          </p:nvSpPr>
          <p:spPr>
            <a:xfrm>
              <a:off x="0" y="0"/>
              <a:ext cx="2533800" cy="2667000"/>
            </a:xfrm>
            <a:prstGeom prst="roundRect">
              <a:avLst>
                <a:gd fmla="val 300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93"/>
            <p:cNvSpPr txBox="1"/>
            <p:nvPr/>
          </p:nvSpPr>
          <p:spPr>
            <a:xfrm>
              <a:off x="190500" y="25984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15" name="Google Shape;1315;p93"/>
            <p:cNvSpPr txBox="1"/>
            <p:nvPr/>
          </p:nvSpPr>
          <p:spPr>
            <a:xfrm>
              <a:off x="190500" y="66675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Parallelism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93"/>
            <p:cNvSpPr txBox="1"/>
            <p:nvPr/>
          </p:nvSpPr>
          <p:spPr>
            <a:xfrm>
              <a:off x="190500" y="95250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Conflict Relaxation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93"/>
            <p:cNvSpPr txBox="1"/>
            <p:nvPr/>
          </p:nvSpPr>
          <p:spPr>
            <a:xfrm>
              <a:off x="190500" y="1428750"/>
              <a:ext cx="2152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Increase speculation parallelism by dynamically relaxing conflict constraints.</a:t>
              </a:r>
              <a:endParaRPr b="0" sz="11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8" name="Google Shape;1318;p93"/>
          <p:cNvGrpSpPr/>
          <p:nvPr/>
        </p:nvGrpSpPr>
        <p:grpSpPr>
          <a:xfrm>
            <a:off x="3295650" y="1333500"/>
            <a:ext cx="2533800" cy="2667000"/>
            <a:chOff x="0" y="0"/>
            <a:chExt cx="2533800" cy="2667000"/>
          </a:xfrm>
        </p:grpSpPr>
        <p:sp>
          <p:nvSpPr>
            <p:cNvPr id="1319" name="Google Shape;1319;p93"/>
            <p:cNvSpPr/>
            <p:nvPr/>
          </p:nvSpPr>
          <p:spPr>
            <a:xfrm>
              <a:off x="0" y="0"/>
              <a:ext cx="2533800" cy="2667000"/>
            </a:xfrm>
            <a:prstGeom prst="roundRect">
              <a:avLst>
                <a:gd fmla="val 300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93"/>
            <p:cNvSpPr txBox="1"/>
            <p:nvPr/>
          </p:nvSpPr>
          <p:spPr>
            <a:xfrm>
              <a:off x="190500" y="25984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21" name="Google Shape;1321;p93"/>
            <p:cNvSpPr txBox="1"/>
            <p:nvPr/>
          </p:nvSpPr>
          <p:spPr>
            <a:xfrm>
              <a:off x="190500" y="66675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Reliability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93"/>
            <p:cNvSpPr txBox="1"/>
            <p:nvPr/>
          </p:nvSpPr>
          <p:spPr>
            <a:xfrm>
              <a:off x="190500" y="952500"/>
              <a:ext cx="23082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Trunk Validation</a:t>
              </a:r>
              <a:endParaRPr b="1" i="0" sz="1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93"/>
            <p:cNvSpPr txBox="1"/>
            <p:nvPr/>
          </p:nvSpPr>
          <p:spPr>
            <a:xfrm>
              <a:off x="190500" y="1428750"/>
              <a:ext cx="21528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strike="noStrike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Validate broken trunks post-merge using </a:t>
              </a:r>
              <a:r>
                <a:rPr b="1" i="1" lang="en" sz="1100" u="none" strike="noStrike">
                  <a:solidFill>
                    <a:srgbClr val="276EF1"/>
                  </a:solidFill>
                </a:rPr>
                <a:t>Stovepipe</a:t>
              </a:r>
              <a:r>
                <a:rPr b="0" i="0" lang="en" sz="1100" u="none" strike="noStrike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 as a side effect of conflict relaxation.</a:t>
              </a:r>
              <a:endParaRPr b="0" i="0" sz="1100" u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4" name="Google Shape;1324;p93"/>
          <p:cNvGrpSpPr/>
          <p:nvPr/>
        </p:nvGrpSpPr>
        <p:grpSpPr>
          <a:xfrm>
            <a:off x="6115050" y="1333500"/>
            <a:ext cx="2533800" cy="2667000"/>
            <a:chOff x="0" y="0"/>
            <a:chExt cx="2533800" cy="2667000"/>
          </a:xfrm>
        </p:grpSpPr>
        <p:sp>
          <p:nvSpPr>
            <p:cNvPr id="1325" name="Google Shape;1325;p93"/>
            <p:cNvSpPr/>
            <p:nvPr/>
          </p:nvSpPr>
          <p:spPr>
            <a:xfrm>
              <a:off x="0" y="0"/>
              <a:ext cx="2533800" cy="2667000"/>
            </a:xfrm>
            <a:prstGeom prst="roundRect">
              <a:avLst>
                <a:gd fmla="val 3007" name="adj"/>
              </a:avLst>
            </a:prstGeom>
            <a:solidFill>
              <a:srgbClr val="141414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93"/>
            <p:cNvSpPr txBox="1"/>
            <p:nvPr/>
          </p:nvSpPr>
          <p:spPr>
            <a:xfrm>
              <a:off x="190500" y="25984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24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27" name="Google Shape;1327;p93"/>
            <p:cNvSpPr txBox="1"/>
            <p:nvPr/>
          </p:nvSpPr>
          <p:spPr>
            <a:xfrm>
              <a:off x="190500" y="66675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Efficiency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93"/>
            <p:cNvSpPr txBox="1"/>
            <p:nvPr/>
          </p:nvSpPr>
          <p:spPr>
            <a:xfrm>
              <a:off x="190500" y="952500"/>
              <a:ext cx="21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Batching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93"/>
            <p:cNvSpPr txBox="1"/>
            <p:nvPr/>
          </p:nvSpPr>
          <p:spPr>
            <a:xfrm>
              <a:off x="190500" y="1428750"/>
              <a:ext cx="2152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DDDDD"/>
                  </a:solidFill>
                  <a:latin typeface="Arial"/>
                  <a:ea typeface="Arial"/>
                  <a:cs typeface="Arial"/>
                  <a:sym typeface="Arial"/>
                </a:rPr>
                <a:t>Reduce speculation search space through intelligent request batching.</a:t>
              </a:r>
              <a:endParaRPr b="0" sz="11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30" name="Google Shape;1330;p93"/>
          <p:cNvPicPr preferRelativeResize="0"/>
          <p:nvPr/>
        </p:nvPicPr>
        <p:blipFill rotWithShape="1">
          <a:blip r:embed="rId3">
            <a:alphaModFix/>
          </a:blip>
          <a:srcRect b="739" l="0" r="0" t="739"/>
          <a:stretch/>
        </p:blipFill>
        <p:spPr>
          <a:xfrm>
            <a:off x="146685" y="4752975"/>
            <a:ext cx="40500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94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b="1" i="0"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94"/>
          <p:cNvSpPr txBox="1"/>
          <p:nvPr/>
        </p:nvSpPr>
        <p:spPr>
          <a:xfrm>
            <a:off x="571500" y="798195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Explore the codebase and contribution guidelines</a:t>
            </a:r>
            <a:endParaRPr b="0" i="0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94"/>
          <p:cNvSpPr/>
          <p:nvPr/>
        </p:nvSpPr>
        <p:spPr>
          <a:xfrm>
            <a:off x="571500" y="1333500"/>
            <a:ext cx="3905400" cy="2762400"/>
          </a:xfrm>
          <a:prstGeom prst="roundRect">
            <a:avLst>
              <a:gd fmla="val 4137" name="adj"/>
            </a:avLst>
          </a:prstGeom>
          <a:solidFill>
            <a:srgbClr val="14141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94"/>
          <p:cNvSpPr/>
          <p:nvPr/>
        </p:nvSpPr>
        <p:spPr>
          <a:xfrm>
            <a:off x="4667250" y="1333500"/>
            <a:ext cx="3905400" cy="2762400"/>
          </a:xfrm>
          <a:prstGeom prst="roundRect">
            <a:avLst>
              <a:gd fmla="val 4137" name="adj"/>
            </a:avLst>
          </a:prstGeom>
          <a:solidFill>
            <a:srgbClr val="14141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9" name="Google Shape;1339;p94"/>
          <p:cNvGrpSpPr/>
          <p:nvPr/>
        </p:nvGrpSpPr>
        <p:grpSpPr>
          <a:xfrm>
            <a:off x="857250" y="1609598"/>
            <a:ext cx="3333900" cy="2286127"/>
            <a:chOff x="0" y="37973"/>
            <a:chExt cx="3333900" cy="2286127"/>
          </a:xfrm>
        </p:grpSpPr>
        <p:sp>
          <p:nvSpPr>
            <p:cNvPr id="1340" name="Google Shape;1340;p94"/>
            <p:cNvSpPr txBox="1"/>
            <p:nvPr/>
          </p:nvSpPr>
          <p:spPr>
            <a:xfrm>
              <a:off x="0" y="3797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276E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b="0" sz="2600">
                <a:solidFill>
                  <a:srgbClr val="276E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41" name="Google Shape;1341;p94"/>
            <p:cNvSpPr txBox="1"/>
            <p:nvPr/>
          </p:nvSpPr>
          <p:spPr>
            <a:xfrm>
              <a:off x="0" y="419100"/>
              <a:ext cx="3333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GITHUB REPOSITORY</a:t>
              </a:r>
              <a:endParaRPr b="1" sz="1000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Scan to view and explore</a:t>
              </a:r>
              <a:endPara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Access the codebase, review guidelines, and contribute directly on GitHub.</a:t>
              </a:r>
              <a:endParaRPr b="0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276EF1"/>
                  </a:solidFill>
                  <a:latin typeface="Arial"/>
                  <a:ea typeface="Arial"/>
                  <a:cs typeface="Arial"/>
                  <a:sym typeface="Arial"/>
                </a:rPr>
                <a:t>https://github.com/uber/submitqueue</a:t>
              </a:r>
              <a:endParaRPr b="1">
                <a:solidFill>
                  <a:srgbClr val="276E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2" name="Google Shape;1342;p94"/>
          <p:cNvSpPr/>
          <p:nvPr/>
        </p:nvSpPr>
        <p:spPr>
          <a:xfrm>
            <a:off x="5572125" y="1666875"/>
            <a:ext cx="2095500" cy="20955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3" name="Google Shape;134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375" y="176212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94"/>
          <p:cNvPicPr preferRelativeResize="0"/>
          <p:nvPr/>
        </p:nvPicPr>
        <p:blipFill rotWithShape="1">
          <a:blip r:embed="rId4">
            <a:alphaModFix/>
          </a:blip>
          <a:srcRect b="739" l="0" r="0" t="739"/>
          <a:stretch/>
        </p:blipFill>
        <p:spPr>
          <a:xfrm>
            <a:off x="146750" y="4753061"/>
            <a:ext cx="40500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95"/>
          <p:cNvSpPr txBox="1"/>
          <p:nvPr/>
        </p:nvSpPr>
        <p:spPr>
          <a:xfrm>
            <a:off x="551850" y="116775"/>
            <a:ext cx="765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  <a:latin typeface="Uber Move"/>
                <a:ea typeface="Uber Move"/>
                <a:cs typeface="Uber Move"/>
                <a:sym typeface="Uber Move"/>
              </a:rPr>
              <a:t>Questions &amp; Discussion</a:t>
            </a:r>
            <a:endParaRPr b="1" sz="3000">
              <a:solidFill>
                <a:schemeClr val="dk1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  <p:pic>
        <p:nvPicPr>
          <p:cNvPr id="1351" name="Google Shape;135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50" y="4753061"/>
            <a:ext cx="405100" cy="2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95"/>
          <p:cNvSpPr txBox="1"/>
          <p:nvPr/>
        </p:nvSpPr>
        <p:spPr>
          <a:xfrm>
            <a:off x="1164350" y="3632335"/>
            <a:ext cx="335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Preetam Dwivedi</a:t>
            </a:r>
            <a:b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@behinddwalls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1353" name="Google Shape;1353;p95" title="linkedin_q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4350" y="1286628"/>
            <a:ext cx="2244525" cy="22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95" title="manjari_linkedin_q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1100" y="1286624"/>
            <a:ext cx="2244525" cy="224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95"/>
          <p:cNvSpPr txBox="1"/>
          <p:nvPr/>
        </p:nvSpPr>
        <p:spPr>
          <a:xfrm>
            <a:off x="5001100" y="3632335"/>
            <a:ext cx="387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Manjari Akella</a:t>
            </a:r>
            <a:b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"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@manjari-akella</a:t>
            </a:r>
            <a:endParaRPr sz="12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356" name="Google Shape;1356;p95"/>
          <p:cNvSpPr txBox="1"/>
          <p:nvPr/>
        </p:nvSpPr>
        <p:spPr>
          <a:xfrm>
            <a:off x="571500" y="697148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EEEE"/>
                </a:solidFill>
                <a:latin typeface="Uber Move"/>
                <a:ea typeface="Uber Move"/>
                <a:cs typeface="Uber Move"/>
                <a:sym typeface="Uber Move"/>
              </a:rPr>
              <a:t>Scan to connect on LinkedIn — happy to continue the conversation</a:t>
            </a:r>
            <a:endParaRPr sz="1600">
              <a:solidFill>
                <a:srgbClr val="EEEEEE"/>
              </a:solidFill>
              <a:latin typeface="Uber Move"/>
              <a:ea typeface="Uber Move"/>
              <a:cs typeface="Uber Move"/>
              <a:sym typeface="Uber Mov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